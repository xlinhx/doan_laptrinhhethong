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30 giây.</a:t>
            </a:r>
          </a:p>
          <a:p>
            <a:r>
              <a:t>Giới thiệu ba điều cần chứng minh: hành vi đúng, hiểu giao diện hệ thống và kiểm soát tài nguyên. Hình bìa chỉ minh họa. 16 slide chính khoảng 18 phút gồm 3 phút demo; sáu slide sau là dự phòng. Metadata hiện ở chế độ draft. Chưa có danh sách nhóm thì không tự gán tên đại diện; phải bổ sung nhóm trước khi nộp.</a:t>
            </a:r>
          </a:p>
          <a:p>
            <a:r>
              <a:t>Nguồn: src/ và include/myls.h</a:t>
            </a:r>
          </a:p>
          <a:p>
            <a:r>
              <a:t>Minh họa imagegen (không phải bằng chứng): filesystem_atelier. Prompt gốc: docs/assets/illustrations/manifest.json.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40 giây.</a:t>
            </a:r>
          </a:p>
          <a:p>
            <a:r>
              <a:t>Giải thích theo quyết định. -a chọn tập entry; -R điều khiển đi xuống; -S đổi thứ tự; -l đổi dạng in. Không đồng nhất hiển thị tệp ẩn với duyệt đệ quy. Vì kết hợp được nên kiểm 16 tổ hợp.</a:t>
            </a:r>
          </a:p>
          <a:p>
            <a:r>
              <a:t>Nguồn: src/options.c; tests/run_tests.sh, Test 01–16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Chỉ vào .config_hidden, .env, . và .. ở cột phải. Nhắc rằng hiển thị và duyệt tiếp là hai quyết định. Đầu ra đọc trực tiếp từ JSON của lần chạy hiện tại, không gõ lại.</a:t>
            </a:r>
          </a:p>
          <a:p>
            <a:r>
              <a:t>Nguồn: evidence/demo_session_output.txt</a:t>
            </a:r>
          </a:p>
          <a:p>
            <a:r>
              <a:t>Minh họa imagegen (không phải bằng chứng): directory_discovery. Prompt gốc: docs/assets/illustrations/manifest.json.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60 giây.</a:t>
            </a:r>
          </a:p>
          <a:p>
            <a:r>
              <a:t>Hai tên cùng trỏ inode42 minh họa hard link. Inode42 không phải số đo thật. struct dirent không chứa quyền/size/owner. Phân biệt directory entry ở user space và dentry cache kernel. Không dựa riêng d_type vì có thể DT_UNKNOWN.</a:t>
            </a:r>
          </a:p>
          <a:p>
            <a:r>
              <a:t>Nguồn: src/directory.c; man readdir(3), stat(2)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60 giây.</a:t>
            </a:r>
          </a:p>
          <a:p>
            <a:r>
              <a:t>Theo dấu -alRS: getopt nhận flags; main phân loại operands; directory lọc mục/lấy metadata; sorting quyết định thứ tự; display đo cột rồi in. directory gọi lại cho thư mục con theo danh sách đã sort. Mũi tên vòng là lời gọi đệ quy, không phải vòng đọc readdir.</a:t>
            </a:r>
          </a:p>
          <a:p>
            <a:r>
              <a:t>Nguồn: src/ và include/myls.h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60 giây.</a:t>
            </a:r>
          </a:p>
          <a:p>
            <a:r>
              <a:t>Ba trường name/full_path/link_target thuộc một entry minh họa. link_target chỉ cấp phát khi symlink và cần -l. Dùng con trỏ tạm cho realloc, cleanup mọi cấp phát dở khi push thất bại. Không giữ con trỏ do readdir quản lý. Danh sách cha còn sống trong recursion, không khẳng định RAM chỉ O(depth).</a:t>
            </a:r>
          </a:p>
          <a:p>
            <a:r>
              <a:t>Nguồn: src/ và include/myls.h</a:t>
            </a:r>
          </a:p>
          <a:p>
            <a:r>
              <a:t>Minh họa imagegen (không phải bằng chứng): memory_ownership. Prompt gốc: docs/assets/illustrations/manifest.json.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Độ dài thanh tuyến tính theo byte; gốc chung, không ngắt trục. Symlink chỉ10byte vì chuỗi đích, không phải size thư mục đích. Hai tệp512byte dùng strcmp phá hòa. Giá trị đọc từ log, không giả định size thư mục4096 ở mọi máy.</a:t>
            </a:r>
          </a:p>
          <a:p>
            <a:r>
              <a:t>Nguồn: src/sorting.c; evidence/demo_session_output.txt</a:t>
            </a:r>
          </a:p>
          <a:p>
            <a:r>
              <a:t>Minh họa imagegen (không phải bằng chứng): size_ordering. Prompt gốc: docs/assets/illustrations/manifest.json.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60 giây.</a:t>
            </a:r>
          </a:p>
          <a:p>
            <a:r>
              <a:t>Dòng minh họa từng trường, không phải log thực nghiệm. Đọc từ trái qua phải: loại, quyền, hard links, owner/group, byte, mtime, tên. SUID chồng vị trí execute owner: s khi có x, S khi thiếu x. Không dùng size để tính total; total dựa st_blocks. Device dùng major/minor thay size. Phụ lục có chi tiết.</a:t>
            </a:r>
          </a:p>
          <a:p>
            <a:r>
              <a:t>Nguồn: src/display.c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60 giây.</a:t>
            </a:r>
          </a:p>
          <a:p>
            <a:r>
              <a:t>Hai ngữ cảnh khác nhau: symlink gặp trong thư mục không theo -R; symlink là operand CLI có ngoại lệ. Không -l: main dùng stat thử phân loại link tới thư mục. Có -l giữ lstat để in link. Dangling link vẫn lstat được. Không mở rộng kết luận sang -H/-L hay trailing slash.</a:t>
            </a:r>
          </a:p>
          <a:p>
            <a:r>
              <a:t>Nguồn: src/main.c; src/directory.c</a:t>
            </a:r>
          </a:p>
          <a:p>
            <a:r>
              <a:t>Minh họa imagegen (không phải bằng chứng): symbolic_link. Prompt gốc: docs/assets/illustrations/manifest.json.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65 giây.</a:t>
            </a:r>
          </a:p>
          <a:p>
            <a:r>
              <a:t>Thứ tự1/2/3 minh họa -aR theo tên. Khi có -S thứ tự con lấy theo size rồi tên. .config_hidden được thăm vì -a. loop_parent dừng vì lstat nhận là link. Không tuyên bố chặn mọi vòng lặp: bind mount chưa có kiểm tra cặp st_dev/st_ino.</a:t>
            </a:r>
          </a:p>
          <a:p>
            <a:r>
              <a:t>Nguồn: src/directory.c, process_directory()</a:t>
            </a:r>
          </a:p>
          <a:p>
            <a:r>
              <a:t>Minh họa imagegen (không phải bằng chứng): recursion_garden. Prompt gốc: docs/assets/illustrations/manifest.json.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Phân biệt descriptor kernel, stack lời gọi và heap dữ liệu. closedir sau thu thập, trước gọi con. Không có đồng thời một DIR mở cho mỗi tổ tiên, nhưng EntryList tổ tiên vẫn cần để tiếp tục duyệt anh em. Không khẳng định O(1) RAM hay độ sâu không giới hạn.</a:t>
            </a:r>
          </a:p>
          <a:p>
            <a:r>
              <a:t>Nguồn: src/ và include/myls.h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elevate_status dùng max nên không hạ lỗi trước đó. Khung minh chứng gộp hai luồng để đọc, chương trình thật tách stdout và stderr. Log thật có thể hiện stderr trước stdout do buffering. Không so nguyên chuỗi lỗi phụ thuộc locale, kiểm rc và sự hiện diện stderr.</a:t>
            </a:r>
          </a:p>
          <a:p>
            <a:r>
              <a:t>Nguồn: include/myls.h; evidence/demo_session_output.txt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60 giây.</a:t>
            </a:r>
          </a:p>
          <a:p>
            <a:r>
              <a:t>Không nói cả37ca đều diff GNU: 16tổ hợp+10ca biên differential;11ca gồm helper và lỗi giả lập. Source hash ràng buộc JSON với source/tests. Các ca lỗi gồm readdir/readlink/closedir/realloc và /dev/full. Không suy không còn bug từ suite hoặc sanitizer PASS.</a:t>
            </a:r>
          </a:p>
          <a:p>
            <a:r>
              <a:t>Nguồn: tests/run_tests.sh; tests/test_internals.c; tests/fault_inject.c; evidence/test_results.json</a:t>
            </a:r>
          </a:p>
          <a:p>
            <a:r>
              <a:t>Minh họa imagegen (không phải bằng chứng): testing_workbench. Prompt gốc: docs/assets/illustrations/manifest.json.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3 phút.</a:t>
            </a:r>
          </a:p>
          <a:p>
            <a:r>
              <a:t>Chuyển terminal chạy make demo. Fixture nằm trong /tmp để tách khỏi quyền của ổ Windows. Không đọc mọi dòng. Dừng ở SUID main.c và loop_parent để giải thích. Nếu terminal trục trặc dùng log evidence/demo_session_output.txt và nói rõ đó là log đã thu, không giả là đang chạy trực tiếp.</a:t>
            </a:r>
          </a:p>
          <a:p>
            <a:r>
              <a:t>Nguồn: tests/run_demo.sh</a:t>
            </a:r>
          </a:p>
          <a:p>
            <a:r>
              <a:t>Minh họa imagegen (không phải bằng chứng): live_terminal. Prompt gốc: docs/assets/illustrations/manifest.json.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Nêu giới hạn chủ động. Không nói tương đương toàn bộ GNU. DrvFs phụ thuộc cấu hình metadata, không phải WSL luôn0777. Chưa an toàn trước mọi thay đổi cây đồng thời. Ưu tiên nâng cấp cycle detection, họ hàm *at và hiển thị tên an toàn thay vì thêm cờ lạc đề.</a:t>
            </a:r>
          </a:p>
          <a:p>
            <a:r>
              <a:t>Nguồn: src/ và include/myls.h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30 giây.</a:t>
            </a:r>
          </a:p>
          <a:p>
            <a:r>
              <a:t>Kết bằng ba năng lực: tái hiện hành vi, lý giải cơ chế, đưa bằng chứng chạy lại được. Không thêm số đo hay tính năng mới ở trang kết. Dùng phụ lục đúng chủ đề khi có câu hỏi.</a:t>
            </a:r>
          </a:p>
          <a:p>
            <a:r>
              <a:t>Nguồn: src/ và include/myls.h</a:t>
            </a:r>
          </a:p>
          <a:p>
            <a:r>
              <a:t>Minh họa imagegen (không phải bằng chứng): closing_archive. Prompt gốc: docs/assets/illustrations/manifest.json.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Dự phòng.</a:t>
            </a:r>
          </a:p>
          <a:p>
            <a:r>
              <a:t>Sticky trên thư mục hạn chế xóa/đổi tên entry. SUID executable liên quan quyền thực thi, không phải quyền đọc. SGID thư mục thường cho entry mới kế thừa group. Chỉ format mask, không khẳng định filesystem nào cũng thực thi các bit.</a:t>
            </a:r>
          </a:p>
          <a:p>
            <a:r>
              <a:t>Nguồn: src/display.c, format_mode_string()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Dự phòng.</a:t>
            </a:r>
          </a:p>
          <a:p>
            <a:r>
              <a:t>total dùng phép chia nguyên làm tròn lên và các entry được chọn. Sparse file cho thấy st_size không phải allocated bytes. Device hiển thị major/minor. Mốc nửa năm theo code hiện tại, không hỗ trợ TIME_STYLE env.</a:t>
            </a:r>
          </a:p>
          <a:p>
            <a:r>
              <a:t>Nguồn: src/display.c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Dự phòng.</a:t>
            </a:r>
          </a:p>
          <a:p>
            <a:r>
              <a:t>Bảng giới hạn operand không trailing slash, bốn cờ hỗ trợ. -H/-L và các biến thể trailing slash nằm ngoài phạm vi kiểm chứng.</a:t>
            </a:r>
          </a:p>
          <a:p>
            <a:r>
              <a:t>Nguồn: src/main.c; tests/run_tests.sh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Dự phòng.</a:t>
            </a:r>
          </a:p>
          <a:p>
            <a:r>
              <a:t>Fault injection ép đường lỗi có điều kiện, không mô phỏng đầy đủ lỗi thiết bị vật lý. Test scan cả diagnostics trong stderr đã thu. Helper không thay source production.</a:t>
            </a:r>
          </a:p>
          <a:p>
            <a:r>
              <a:t>Nguồn: tests/fault_inject.c; tests/test_internals.c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Dự phòng.</a:t>
            </a:r>
          </a:p>
          <a:p>
            <a:r>
              <a:t>Không tự sửa wsl.conf. Dùng /tmp cho test quyền; ca skip phải được ghi rõ.</a:t>
            </a:r>
          </a:p>
          <a:p>
            <a:r>
              <a:t>Nguồn: https://learn.microsoft.com/en-us/windows/wsl/file-permissions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Dự phòng.</a:t>
            </a:r>
          </a:p>
          <a:p>
            <a:r>
              <a:t>Một thư mục: thu thập/đo cột O(N), sort thường O(N log N) với qsort đang sử dụng; chuẩn C không cam kết độ phức tạp qsort. Đệ quy giữ tổng EntryList trên nhánh cùng stack. Các URL sau xác minh semantics; repo xác định hành vi cài đặt.</a:t>
            </a:r>
          </a:p>
          <a:p>
            <a:r>
              <a:t>Nguồn: https://www.gnu.org/software/coreutils/manual/html_node/ls-invocation.html ; https://man7.org/linux/man-pages/man2/stat.2.html ; https://man7.org/linux/man-pages/man3/readdir.3.html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2EEE4"/>
        </a:solidFill>
        <a:effectLst/>
      </p:bgPr>
    </p:bg>
    <p:spTree>
      <p:nvGrpSpPr>
        <p:cNvPr id="1" name=""/>
        <p:cNvGrpSpPr/>
        <p:nvPr/>
      </p:nvGrpSpPr>
      <p:grpSpPr/>
      <p:cxnSp>
        <p:nvCxnSpPr>
          <p:cNvPr id="2" name="Connector 1"/>
          <p:cNvCxnSpPr/>
          <p:nvPr/>
        </p:nvCxnSpPr>
        <p:spPr>
          <a:xfrm>
            <a:off x="10762488" y="6537960"/>
            <a:ext cx="237744" cy="0"/>
          </a:xfrm>
          <a:prstGeom prst="line">
            <a:avLst/>
          </a:prstGeom>
          <a:ln w="12700">
            <a:solidFill>
              <a:srgbClr val="D3D7D2"/>
            </a:solidFill>
          </a:ln>
        </p:spPr>
      </p:cxnSp>
      <p:sp>
        <p:nvSpPr>
          <p:cNvPr id="3" name="TextBox 2"/>
          <p:cNvSpPr txBox="1"/>
          <p:nvPr/>
        </p:nvSpPr>
        <p:spPr>
          <a:xfrm>
            <a:off x="11082528" y="6419088"/>
            <a:ext cx="411480" cy="274320"/>
          </a:xfrm>
          <a:prstGeom prst="rect">
            <a:avLst/>
          </a:prstGeom>
          <a:noFill/>
        </p:spPr>
        <p:txBody>
          <a:bodyPr wrap="square" tIns="0" lIns="0" rIns="0" bIns="0">
            <a:spAutoFit/>
          </a:bodyPr>
          <a:lstStyle/>
          <a:p>
            <a:pPr algn="ctr">
              <a:lnSpc>
                <a:spcPct val="110000"/>
              </a:lnSpc>
              <a:spcAft>
                <a:spcPts val="0"/>
              </a:spcAft>
              <a:defRPr sz="1000" b="0">
                <a:solidFill>
                  <a:srgbClr val="5B6870"/>
                </a:solidFill>
                <a:latin typeface="Segoe UI"/>
              </a:defRPr>
            </a:pPr>
            <a:r>
              <a:t>01</a:t>
            </a:r>
          </a:p>
        </p:txBody>
      </p:sp>
      <p:sp>
        <p:nvSpPr>
          <p:cNvPr id="4" name="TextBox 3"/>
          <p:cNvSpPr txBox="1"/>
          <p:nvPr/>
        </p:nvSpPr>
        <p:spPr>
          <a:xfrm>
            <a:off x="777240" y="566928"/>
            <a:ext cx="5943600" cy="411480"/>
          </a:xfrm>
          <a:prstGeom prst="rect">
            <a:avLst/>
          </a:prstGeom>
          <a:noFill/>
        </p:spPr>
        <p:txBody>
          <a:bodyPr wrap="square" tIns="0" lIns="0" rIns="0" bIns="0">
            <a:spAutoFit/>
          </a:bodyPr>
          <a:lstStyle/>
          <a:p>
            <a:pPr>
              <a:lnSpc>
                <a:spcPct val="110000"/>
              </a:lnSpc>
              <a:spcAft>
                <a:spcPts val="0"/>
              </a:spcAft>
              <a:defRPr sz="1800" b="0">
                <a:solidFill>
                  <a:srgbClr val="5B6870"/>
                </a:solidFill>
                <a:latin typeface="Segoe UI"/>
              </a:defRPr>
            </a:pPr>
            <a:r>
              <a:t>VKU · Lập trình hệ thống</a:t>
            </a:r>
          </a:p>
        </p:txBody>
      </p:sp>
      <p:sp>
        <p:nvSpPr>
          <p:cNvPr id="5" name="TextBox 4"/>
          <p:cNvSpPr txBox="1"/>
          <p:nvPr/>
        </p:nvSpPr>
        <p:spPr>
          <a:xfrm>
            <a:off x="777240" y="1481328"/>
            <a:ext cx="3657600" cy="411480"/>
          </a:xfrm>
          <a:prstGeom prst="rect">
            <a:avLst/>
          </a:prstGeom>
          <a:noFill/>
        </p:spPr>
        <p:txBody>
          <a:bodyPr wrap="square" tIns="0" lIns="0" rIns="0" bIns="0">
            <a:spAutoFit/>
          </a:bodyPr>
          <a:lstStyle/>
          <a:p>
            <a:pPr>
              <a:lnSpc>
                <a:spcPct val="110000"/>
              </a:lnSpc>
              <a:spcAft>
                <a:spcPts val="0"/>
              </a:spcAft>
              <a:defRPr sz="2200" b="1">
                <a:solidFill>
                  <a:srgbClr val="9B624B"/>
                </a:solidFill>
                <a:latin typeface="Segoe UI"/>
              </a:defRPr>
            </a:pPr>
            <a:r>
              <a:t>Đề tài 17</a:t>
            </a:r>
          </a:p>
        </p:txBody>
      </p:sp>
      <p:sp>
        <p:nvSpPr>
          <p:cNvPr id="6" name="TextBox 5"/>
          <p:cNvSpPr txBox="1"/>
          <p:nvPr/>
        </p:nvSpPr>
        <p:spPr>
          <a:xfrm>
            <a:off x="713232" y="1947672"/>
            <a:ext cx="5394960" cy="1463040"/>
          </a:xfrm>
          <a:prstGeom prst="rect">
            <a:avLst/>
          </a:prstGeom>
          <a:noFill/>
        </p:spPr>
        <p:txBody>
          <a:bodyPr wrap="square" tIns="0" lIns="0" rIns="0" bIns="0">
            <a:spAutoFit/>
          </a:bodyPr>
          <a:lstStyle/>
          <a:p>
            <a:pPr>
              <a:lnSpc>
                <a:spcPct val="110000"/>
              </a:lnSpc>
              <a:spcAft>
                <a:spcPts val="0"/>
              </a:spcAft>
              <a:defRPr sz="8800" b="1">
                <a:solidFill>
                  <a:srgbClr val="364653"/>
                </a:solidFill>
                <a:latin typeface="Consolas"/>
              </a:defRPr>
            </a:pPr>
            <a:r>
              <a:t>myls</a:t>
            </a:r>
          </a:p>
        </p:txBody>
      </p:sp>
      <p:sp>
        <p:nvSpPr>
          <p:cNvPr id="7" name="TextBox 6"/>
          <p:cNvSpPr txBox="1"/>
          <p:nvPr/>
        </p:nvSpPr>
        <p:spPr>
          <a:xfrm>
            <a:off x="777240" y="3456432"/>
            <a:ext cx="5120640" cy="1143000"/>
          </a:xfrm>
          <a:prstGeom prst="rect">
            <a:avLst/>
          </a:prstGeom>
          <a:noFill/>
        </p:spPr>
        <p:txBody>
          <a:bodyPr wrap="square" tIns="0" lIns="0" rIns="0" bIns="0">
            <a:spAutoFit/>
          </a:bodyPr>
          <a:lstStyle/>
          <a:p>
            <a:pPr>
              <a:lnSpc>
                <a:spcPct val="110000"/>
              </a:lnSpc>
              <a:spcAft>
                <a:spcPts val="300"/>
              </a:spcAft>
              <a:defRPr sz="3200" b="0">
                <a:solidFill>
                  <a:srgbClr val="364653"/>
                </a:solidFill>
                <a:latin typeface="Segoe UI"/>
              </a:defRPr>
            </a:pPr>
            <a:r>
              <a:t>Cài đặt lệnh ls</a:t>
            </a:r>
          </a:p>
          <a:p>
            <a:pPr>
              <a:lnSpc>
                <a:spcPct val="110000"/>
              </a:lnSpc>
              <a:spcAft>
                <a:spcPts val="0"/>
              </a:spcAft>
              <a:defRPr sz="3200" b="0">
                <a:solidFill>
                  <a:srgbClr val="364653"/>
                </a:solidFill>
                <a:latin typeface="Segoe UI"/>
              </a:defRPr>
            </a:pPr>
            <a:r>
              <a:t>bằng C trên Linux</a:t>
            </a:r>
          </a:p>
        </p:txBody>
      </p:sp>
      <p:sp>
        <p:nvSpPr>
          <p:cNvPr id="8" name="TextBox 7"/>
          <p:cNvSpPr txBox="1"/>
          <p:nvPr/>
        </p:nvSpPr>
        <p:spPr>
          <a:xfrm>
            <a:off x="777240" y="5166360"/>
            <a:ext cx="914400" cy="594360"/>
          </a:xfrm>
          <a:prstGeom prst="rect">
            <a:avLst/>
          </a:prstGeom>
          <a:noFill/>
        </p:spPr>
        <p:txBody>
          <a:bodyPr wrap="square" tIns="0" lIns="0" rIns="0" bIns="0">
            <a:spAutoFit/>
          </a:bodyPr>
          <a:lstStyle/>
          <a:p>
            <a:pPr>
              <a:lnSpc>
                <a:spcPct val="110000"/>
              </a:lnSpc>
              <a:spcAft>
                <a:spcPts val="0"/>
              </a:spcAft>
              <a:defRPr sz="3200" b="1">
                <a:solidFill>
                  <a:srgbClr val="456B88"/>
                </a:solidFill>
                <a:latin typeface="Consolas"/>
              </a:defRPr>
            </a:pPr>
            <a:r>
              <a:t>-a</a:t>
            </a:r>
          </a:p>
        </p:txBody>
      </p:sp>
      <p:cxnSp>
        <p:nvCxnSpPr>
          <p:cNvPr id="9" name="Connector 8"/>
          <p:cNvCxnSpPr/>
          <p:nvPr/>
        </p:nvCxnSpPr>
        <p:spPr>
          <a:xfrm>
            <a:off x="777240" y="5852160"/>
            <a:ext cx="658367" cy="0"/>
          </a:xfrm>
          <a:prstGeom prst="line">
            <a:avLst/>
          </a:prstGeom>
          <a:ln w="25400">
            <a:solidFill>
              <a:srgbClr val="456B88"/>
            </a:solidFill>
          </a:ln>
        </p:spPr>
      </p:cxnSp>
      <p:sp>
        <p:nvSpPr>
          <p:cNvPr id="10" name="TextBox 9"/>
          <p:cNvSpPr txBox="1"/>
          <p:nvPr/>
        </p:nvSpPr>
        <p:spPr>
          <a:xfrm>
            <a:off x="1947672" y="5166360"/>
            <a:ext cx="914400" cy="594360"/>
          </a:xfrm>
          <a:prstGeom prst="rect">
            <a:avLst/>
          </a:prstGeom>
          <a:noFill/>
        </p:spPr>
        <p:txBody>
          <a:bodyPr wrap="square" tIns="0" lIns="0" rIns="0" bIns="0">
            <a:spAutoFit/>
          </a:bodyPr>
          <a:lstStyle/>
          <a:p>
            <a:pPr>
              <a:lnSpc>
                <a:spcPct val="110000"/>
              </a:lnSpc>
              <a:spcAft>
                <a:spcPts val="0"/>
              </a:spcAft>
              <a:defRPr sz="3200" b="1">
                <a:solidFill>
                  <a:srgbClr val="5C7359"/>
                </a:solidFill>
                <a:latin typeface="Consolas"/>
              </a:defRPr>
            </a:pPr>
            <a:r>
              <a:t>-l</a:t>
            </a:r>
          </a:p>
        </p:txBody>
      </p:sp>
      <p:cxnSp>
        <p:nvCxnSpPr>
          <p:cNvPr id="11" name="Connector 10"/>
          <p:cNvCxnSpPr/>
          <p:nvPr/>
        </p:nvCxnSpPr>
        <p:spPr>
          <a:xfrm>
            <a:off x="1947672" y="5852160"/>
            <a:ext cx="658367" cy="0"/>
          </a:xfrm>
          <a:prstGeom prst="line">
            <a:avLst/>
          </a:prstGeom>
          <a:ln w="25400">
            <a:solidFill>
              <a:srgbClr val="5C7359"/>
            </a:solidFill>
          </a:ln>
        </p:spPr>
      </p:cxnSp>
      <p:sp>
        <p:nvSpPr>
          <p:cNvPr id="12" name="TextBox 11"/>
          <p:cNvSpPr txBox="1"/>
          <p:nvPr/>
        </p:nvSpPr>
        <p:spPr>
          <a:xfrm>
            <a:off x="3118104" y="5166360"/>
            <a:ext cx="914400" cy="594360"/>
          </a:xfrm>
          <a:prstGeom prst="rect">
            <a:avLst/>
          </a:prstGeom>
          <a:noFill/>
        </p:spPr>
        <p:txBody>
          <a:bodyPr wrap="square" tIns="0" lIns="0" rIns="0" bIns="0">
            <a:spAutoFit/>
          </a:bodyPr>
          <a:lstStyle/>
          <a:p>
            <a:pPr>
              <a:lnSpc>
                <a:spcPct val="110000"/>
              </a:lnSpc>
              <a:spcAft>
                <a:spcPts val="0"/>
              </a:spcAft>
              <a:defRPr sz="3200" b="1">
                <a:solidFill>
                  <a:srgbClr val="9B624B"/>
                </a:solidFill>
                <a:latin typeface="Consolas"/>
              </a:defRPr>
            </a:pPr>
            <a:r>
              <a:t>-R</a:t>
            </a:r>
          </a:p>
        </p:txBody>
      </p:sp>
      <p:cxnSp>
        <p:nvCxnSpPr>
          <p:cNvPr id="13" name="Connector 12"/>
          <p:cNvCxnSpPr/>
          <p:nvPr/>
        </p:nvCxnSpPr>
        <p:spPr>
          <a:xfrm>
            <a:off x="3118104" y="5852160"/>
            <a:ext cx="658368" cy="0"/>
          </a:xfrm>
          <a:prstGeom prst="line">
            <a:avLst/>
          </a:prstGeom>
          <a:ln w="25400">
            <a:solidFill>
              <a:srgbClr val="9B624B"/>
            </a:solidFill>
          </a:ln>
        </p:spPr>
      </p:cxnSp>
      <p:sp>
        <p:nvSpPr>
          <p:cNvPr id="14" name="TextBox 13"/>
          <p:cNvSpPr txBox="1"/>
          <p:nvPr/>
        </p:nvSpPr>
        <p:spPr>
          <a:xfrm>
            <a:off x="4288536" y="5166360"/>
            <a:ext cx="914400" cy="594360"/>
          </a:xfrm>
          <a:prstGeom prst="rect">
            <a:avLst/>
          </a:prstGeom>
          <a:noFill/>
        </p:spPr>
        <p:txBody>
          <a:bodyPr wrap="square" tIns="0" lIns="0" rIns="0" bIns="0">
            <a:spAutoFit/>
          </a:bodyPr>
          <a:lstStyle/>
          <a:p>
            <a:pPr>
              <a:lnSpc>
                <a:spcPct val="110000"/>
              </a:lnSpc>
              <a:spcAft>
                <a:spcPts val="0"/>
              </a:spcAft>
              <a:defRPr sz="3200" b="1">
                <a:solidFill>
                  <a:srgbClr val="456B88"/>
                </a:solidFill>
                <a:latin typeface="Consolas"/>
              </a:defRPr>
            </a:pPr>
            <a:r>
              <a:t>-S</a:t>
            </a:r>
          </a:p>
        </p:txBody>
      </p:sp>
      <p:cxnSp>
        <p:nvCxnSpPr>
          <p:cNvPr id="15" name="Connector 14"/>
          <p:cNvCxnSpPr/>
          <p:nvPr/>
        </p:nvCxnSpPr>
        <p:spPr>
          <a:xfrm>
            <a:off x="4288536" y="5852160"/>
            <a:ext cx="658367" cy="0"/>
          </a:xfrm>
          <a:prstGeom prst="line">
            <a:avLst/>
          </a:prstGeom>
          <a:ln w="25400">
            <a:solidFill>
              <a:srgbClr val="456B88"/>
            </a:solidFill>
          </a:ln>
        </p:spPr>
      </p:cxnSp>
      <p:pic>
        <p:nvPicPr>
          <p:cNvPr id="16" name="Illustration: filesystem_atelier" descr="Minh họa tạo bằng imagegen: Không gian thư mục và các đường nối phân nhánh. Không phải ảnh chụp hay dữ liệu thực nghiệm."/>
          <p:cNvPicPr>
            <a:picLocks noChangeAspect="1"/>
          </p:cNvPicPr>
          <p:nvPr/>
        </p:nvPicPr>
        <p:blipFill>
          <a:blip r:embed="rId2"/>
          <a:stretch>
            <a:fillRect/>
          </a:stretch>
        </p:blipFill>
        <p:spPr>
          <a:xfrm>
            <a:off x="5559552" y="1320165"/>
            <a:ext cx="6172200" cy="462915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TextBox 1"/>
          <p:cNvSpPr txBox="1"/>
          <p:nvPr/>
        </p:nvSpPr>
        <p:spPr>
          <a:xfrm>
            <a:off x="749808" y="429768"/>
            <a:ext cx="10698480" cy="594360"/>
          </a:xfrm>
          <a:prstGeom prst="rect">
            <a:avLst/>
          </a:prstGeom>
          <a:noFill/>
        </p:spPr>
        <p:txBody>
          <a:bodyPr wrap="square" tIns="0" lIns="0" rIns="0" bIns="0">
            <a:spAutoFit/>
          </a:bodyPr>
          <a:lstStyle/>
          <a:p>
            <a:pPr>
              <a:lnSpc>
                <a:spcPct val="110000"/>
              </a:lnSpc>
              <a:spcAft>
                <a:spcPts val="0"/>
              </a:spcAft>
              <a:defRPr sz="3000" b="1">
                <a:solidFill>
                  <a:srgbClr val="364653"/>
                </a:solidFill>
                <a:latin typeface="Segoe UI"/>
              </a:defRPr>
            </a:pPr>
            <a:r>
              <a:t>Bốn cờ tác động lên bốn quyết định</a:t>
            </a:r>
          </a:p>
        </p:txBody>
      </p:sp>
      <p:sp>
        <p:nvSpPr>
          <p:cNvPr id="3" name="TextBox 2"/>
          <p:cNvSpPr txBox="1"/>
          <p:nvPr/>
        </p:nvSpPr>
        <p:spPr>
          <a:xfrm>
            <a:off x="777240" y="1133856"/>
            <a:ext cx="10607040" cy="502920"/>
          </a:xfrm>
          <a:prstGeom prst="rect">
            <a:avLst/>
          </a:prstGeom>
          <a:noFill/>
        </p:spPr>
        <p:txBody>
          <a:bodyPr wrap="square" tIns="0" lIns="0" rIns="0" bIns="0">
            <a:spAutoFit/>
          </a:bodyPr>
          <a:lstStyle/>
          <a:p>
            <a:pPr>
              <a:lnSpc>
                <a:spcPct val="110000"/>
              </a:lnSpc>
              <a:spcAft>
                <a:spcPts val="0"/>
              </a:spcAft>
              <a:defRPr sz="1800" b="0">
                <a:solidFill>
                  <a:srgbClr val="5B6870"/>
                </a:solidFill>
                <a:latin typeface="Segoe UI"/>
              </a:defRPr>
            </a:pPr>
            <a:r>
              <a:t>Có 2⁴ = 16 tổ hợp, bao gồm cả chế độ mặc định.</a:t>
            </a:r>
          </a:p>
        </p:txBody>
      </p:sp>
      <p:cxnSp>
        <p:nvCxnSpPr>
          <p:cNvPr id="4" name="Connector 3"/>
          <p:cNvCxnSpPr/>
          <p:nvPr/>
        </p:nvCxnSpPr>
        <p:spPr>
          <a:xfrm>
            <a:off x="10762488" y="6537960"/>
            <a:ext cx="237744" cy="0"/>
          </a:xfrm>
          <a:prstGeom prst="line">
            <a:avLst/>
          </a:prstGeom>
          <a:ln w="12700">
            <a:solidFill>
              <a:srgbClr val="D3D7D2"/>
            </a:solidFill>
          </a:ln>
        </p:spPr>
      </p:cxnSp>
      <p:sp>
        <p:nvSpPr>
          <p:cNvPr id="5" name="TextBox 4"/>
          <p:cNvSpPr txBox="1"/>
          <p:nvPr/>
        </p:nvSpPr>
        <p:spPr>
          <a:xfrm>
            <a:off x="11082528" y="6419088"/>
            <a:ext cx="411480" cy="274320"/>
          </a:xfrm>
          <a:prstGeom prst="rect">
            <a:avLst/>
          </a:prstGeom>
          <a:noFill/>
        </p:spPr>
        <p:txBody>
          <a:bodyPr wrap="square" tIns="0" lIns="0" rIns="0" bIns="0">
            <a:spAutoFit/>
          </a:bodyPr>
          <a:lstStyle/>
          <a:p>
            <a:pPr algn="ctr">
              <a:lnSpc>
                <a:spcPct val="110000"/>
              </a:lnSpc>
              <a:spcAft>
                <a:spcPts val="0"/>
              </a:spcAft>
              <a:defRPr sz="1000" b="0">
                <a:solidFill>
                  <a:srgbClr val="5B6870"/>
                </a:solidFill>
                <a:latin typeface="Segoe UI"/>
              </a:defRPr>
            </a:pPr>
            <a:r>
              <a:t>02</a:t>
            </a:r>
          </a:p>
        </p:txBody>
      </p:sp>
      <p:sp>
        <p:nvSpPr>
          <p:cNvPr id="6" name="TextBox 5"/>
          <p:cNvSpPr txBox="1"/>
          <p:nvPr/>
        </p:nvSpPr>
        <p:spPr>
          <a:xfrm>
            <a:off x="777240" y="1965960"/>
            <a:ext cx="1554480" cy="914400"/>
          </a:xfrm>
          <a:prstGeom prst="rect">
            <a:avLst/>
          </a:prstGeom>
          <a:noFill/>
        </p:spPr>
        <p:txBody>
          <a:bodyPr wrap="square" tIns="0" lIns="0" rIns="0" bIns="0">
            <a:spAutoFit/>
          </a:bodyPr>
          <a:lstStyle/>
          <a:p>
            <a:pPr>
              <a:lnSpc>
                <a:spcPct val="110000"/>
              </a:lnSpc>
              <a:spcAft>
                <a:spcPts val="0"/>
              </a:spcAft>
              <a:defRPr sz="5400" b="1">
                <a:solidFill>
                  <a:srgbClr val="456B88"/>
                </a:solidFill>
                <a:latin typeface="Consolas"/>
              </a:defRPr>
            </a:pPr>
            <a:r>
              <a:t>-a</a:t>
            </a:r>
          </a:p>
        </p:txBody>
      </p:sp>
      <p:cxnSp>
        <p:nvCxnSpPr>
          <p:cNvPr id="7" name="Connector 6"/>
          <p:cNvCxnSpPr/>
          <p:nvPr/>
        </p:nvCxnSpPr>
        <p:spPr>
          <a:xfrm>
            <a:off x="777240" y="2953512"/>
            <a:ext cx="2423160" cy="0"/>
          </a:xfrm>
          <a:prstGeom prst="line">
            <a:avLst/>
          </a:prstGeom>
          <a:ln w="25400">
            <a:solidFill>
              <a:srgbClr val="456B88"/>
            </a:solidFill>
          </a:ln>
        </p:spPr>
      </p:cxnSp>
      <p:sp>
        <p:nvSpPr>
          <p:cNvPr id="8" name="Rectangle 7"/>
          <p:cNvSpPr/>
          <p:nvPr/>
        </p:nvSpPr>
        <p:spPr>
          <a:xfrm>
            <a:off x="2514600" y="2011680"/>
            <a:ext cx="502920" cy="658368"/>
          </a:xfrm>
          <a:prstGeom prst="rect">
            <a:avLst/>
          </a:prstGeom>
          <a:solidFill>
            <a:srgbClr val="FFFDFA"/>
          </a:solidFill>
          <a:ln w="12700">
            <a:solidFill>
              <a:srgbClr val="456B88"/>
            </a:solidFill>
          </a:ln>
        </p:spPr>
        <p:txBody>
          <a:bodyPr rtlCol="0" anchor="ctr"/>
          <a:lstStyle/>
          <a:p>
            <a:pPr algn="ctr"/>
          </a:p>
        </p:txBody>
      </p:sp>
      <p:cxnSp>
        <p:nvCxnSpPr>
          <p:cNvPr id="9" name="Connector 8"/>
          <p:cNvCxnSpPr/>
          <p:nvPr/>
        </p:nvCxnSpPr>
        <p:spPr>
          <a:xfrm>
            <a:off x="2615184" y="2185416"/>
            <a:ext cx="292608" cy="0"/>
          </a:xfrm>
          <a:prstGeom prst="line">
            <a:avLst/>
          </a:prstGeom>
          <a:ln w="12700">
            <a:solidFill>
              <a:srgbClr val="456B88"/>
            </a:solidFill>
          </a:ln>
        </p:spPr>
      </p:cxnSp>
      <p:cxnSp>
        <p:nvCxnSpPr>
          <p:cNvPr id="10" name="Connector 9"/>
          <p:cNvCxnSpPr/>
          <p:nvPr/>
        </p:nvCxnSpPr>
        <p:spPr>
          <a:xfrm>
            <a:off x="2615184" y="2304288"/>
            <a:ext cx="292608" cy="0"/>
          </a:xfrm>
          <a:prstGeom prst="line">
            <a:avLst/>
          </a:prstGeom>
          <a:ln w="12700">
            <a:solidFill>
              <a:srgbClr val="456B88"/>
            </a:solidFill>
          </a:ln>
        </p:spPr>
      </p:cxnSp>
      <p:cxnSp>
        <p:nvCxnSpPr>
          <p:cNvPr id="11" name="Connector 10"/>
          <p:cNvCxnSpPr/>
          <p:nvPr/>
        </p:nvCxnSpPr>
        <p:spPr>
          <a:xfrm>
            <a:off x="2615184" y="2423160"/>
            <a:ext cx="292608" cy="0"/>
          </a:xfrm>
          <a:prstGeom prst="line">
            <a:avLst/>
          </a:prstGeom>
          <a:ln w="12700">
            <a:solidFill>
              <a:srgbClr val="456B88"/>
            </a:solidFill>
          </a:ln>
        </p:spPr>
      </p:cxnSp>
      <p:sp>
        <p:nvSpPr>
          <p:cNvPr id="12" name="Oval 11"/>
          <p:cNvSpPr/>
          <p:nvPr/>
        </p:nvSpPr>
        <p:spPr>
          <a:xfrm>
            <a:off x="2386584" y="1947672"/>
            <a:ext cx="164592" cy="164592"/>
          </a:xfrm>
          <a:prstGeom prst="ellipse">
            <a:avLst/>
          </a:prstGeom>
          <a:solidFill>
            <a:srgbClr val="9B624B"/>
          </a:solidFill>
          <a:ln>
            <a:noFill/>
          </a:ln>
        </p:spPr>
        <p:txBody>
          <a:bodyPr rtlCol="0" anchor="ctr"/>
          <a:lstStyle/>
          <a:p>
            <a:pPr algn="ctr"/>
          </a:p>
        </p:txBody>
      </p:sp>
      <p:sp>
        <p:nvSpPr>
          <p:cNvPr id="13" name="TextBox 12"/>
          <p:cNvSpPr txBox="1"/>
          <p:nvPr/>
        </p:nvSpPr>
        <p:spPr>
          <a:xfrm>
            <a:off x="777240" y="3227832"/>
            <a:ext cx="2468880" cy="548640"/>
          </a:xfrm>
          <a:prstGeom prst="rect">
            <a:avLst/>
          </a:prstGeom>
          <a:noFill/>
        </p:spPr>
        <p:txBody>
          <a:bodyPr wrap="square" tIns="0" lIns="0" rIns="0" bIns="0">
            <a:spAutoFit/>
          </a:bodyPr>
          <a:lstStyle/>
          <a:p>
            <a:pPr>
              <a:lnSpc>
                <a:spcPct val="110000"/>
              </a:lnSpc>
              <a:spcAft>
                <a:spcPts val="0"/>
              </a:spcAft>
              <a:defRPr sz="1900" b="1">
                <a:solidFill>
                  <a:srgbClr val="364653"/>
                </a:solidFill>
                <a:latin typeface="Segoe UI"/>
              </a:defRPr>
            </a:pPr>
            <a:r>
              <a:t>CHỌN MỤC</a:t>
            </a:r>
          </a:p>
        </p:txBody>
      </p:sp>
      <p:sp>
        <p:nvSpPr>
          <p:cNvPr id="14" name="TextBox 13"/>
          <p:cNvSpPr txBox="1"/>
          <p:nvPr/>
        </p:nvSpPr>
        <p:spPr>
          <a:xfrm>
            <a:off x="777240" y="3886200"/>
            <a:ext cx="2651760" cy="1143000"/>
          </a:xfrm>
          <a:prstGeom prst="rect">
            <a:avLst/>
          </a:prstGeom>
          <a:noFill/>
        </p:spPr>
        <p:txBody>
          <a:bodyPr wrap="square" tIns="0" lIns="0" rIns="0" bIns="0">
            <a:spAutoFit/>
          </a:bodyPr>
          <a:lstStyle/>
          <a:p>
            <a:pPr>
              <a:lnSpc>
                <a:spcPct val="110000"/>
              </a:lnSpc>
              <a:spcAft>
                <a:spcPts val="0"/>
              </a:spcAft>
              <a:defRPr sz="2200" b="0">
                <a:solidFill>
                  <a:srgbClr val="364653"/>
                </a:solidFill>
                <a:latin typeface="Segoe UI"/>
              </a:defRPr>
            </a:pPr>
            <a:r>
              <a:t>Thêm tên bắt đầu bằng dấu chấm</a:t>
            </a:r>
          </a:p>
        </p:txBody>
      </p:sp>
      <p:sp>
        <p:nvSpPr>
          <p:cNvPr id="15" name="TextBox 14"/>
          <p:cNvSpPr txBox="1"/>
          <p:nvPr/>
        </p:nvSpPr>
        <p:spPr>
          <a:xfrm>
            <a:off x="777240" y="5394960"/>
            <a:ext cx="2468880" cy="411480"/>
          </a:xfrm>
          <a:prstGeom prst="rect">
            <a:avLst/>
          </a:prstGeom>
          <a:noFill/>
        </p:spPr>
        <p:txBody>
          <a:bodyPr wrap="square" tIns="0" lIns="0" rIns="0" bIns="0">
            <a:spAutoFit/>
          </a:bodyPr>
          <a:lstStyle/>
          <a:p>
            <a:pPr>
              <a:lnSpc>
                <a:spcPct val="110000"/>
              </a:lnSpc>
              <a:spcAft>
                <a:spcPts val="0"/>
              </a:spcAft>
              <a:defRPr sz="1800" b="0">
                <a:solidFill>
                  <a:srgbClr val="5B6870"/>
                </a:solidFill>
                <a:latin typeface="Consolas"/>
              </a:defRPr>
            </a:pPr>
            <a:r>
              <a:t>name[0]</a:t>
            </a:r>
          </a:p>
        </p:txBody>
      </p:sp>
      <p:sp>
        <p:nvSpPr>
          <p:cNvPr id="16" name="TextBox 15"/>
          <p:cNvSpPr txBox="1"/>
          <p:nvPr/>
        </p:nvSpPr>
        <p:spPr>
          <a:xfrm>
            <a:off x="3639312" y="1965960"/>
            <a:ext cx="1554480" cy="914400"/>
          </a:xfrm>
          <a:prstGeom prst="rect">
            <a:avLst/>
          </a:prstGeom>
          <a:noFill/>
        </p:spPr>
        <p:txBody>
          <a:bodyPr wrap="square" tIns="0" lIns="0" rIns="0" bIns="0">
            <a:spAutoFit/>
          </a:bodyPr>
          <a:lstStyle/>
          <a:p>
            <a:pPr>
              <a:lnSpc>
                <a:spcPct val="110000"/>
              </a:lnSpc>
              <a:spcAft>
                <a:spcPts val="0"/>
              </a:spcAft>
              <a:defRPr sz="5400" b="1">
                <a:solidFill>
                  <a:srgbClr val="5C7359"/>
                </a:solidFill>
                <a:latin typeface="Consolas"/>
              </a:defRPr>
            </a:pPr>
            <a:r>
              <a:t>-l</a:t>
            </a:r>
          </a:p>
        </p:txBody>
      </p:sp>
      <p:cxnSp>
        <p:nvCxnSpPr>
          <p:cNvPr id="17" name="Connector 16"/>
          <p:cNvCxnSpPr/>
          <p:nvPr/>
        </p:nvCxnSpPr>
        <p:spPr>
          <a:xfrm>
            <a:off x="3639312" y="2953512"/>
            <a:ext cx="2423160" cy="0"/>
          </a:xfrm>
          <a:prstGeom prst="line">
            <a:avLst/>
          </a:prstGeom>
          <a:ln w="25400">
            <a:solidFill>
              <a:srgbClr val="5C7359"/>
            </a:solidFill>
          </a:ln>
        </p:spPr>
      </p:cxnSp>
      <p:sp>
        <p:nvSpPr>
          <p:cNvPr id="18" name="Rectangle 17"/>
          <p:cNvSpPr/>
          <p:nvPr/>
        </p:nvSpPr>
        <p:spPr>
          <a:xfrm>
            <a:off x="5376672" y="2011680"/>
            <a:ext cx="502920" cy="658368"/>
          </a:xfrm>
          <a:prstGeom prst="rect">
            <a:avLst/>
          </a:prstGeom>
          <a:solidFill>
            <a:srgbClr val="FFFDFA"/>
          </a:solidFill>
          <a:ln w="12700">
            <a:solidFill>
              <a:srgbClr val="5C7359"/>
            </a:solidFill>
          </a:ln>
        </p:spPr>
        <p:txBody>
          <a:bodyPr rtlCol="0" anchor="ctr"/>
          <a:lstStyle/>
          <a:p>
            <a:pPr algn="ctr"/>
          </a:p>
        </p:txBody>
      </p:sp>
      <p:cxnSp>
        <p:nvCxnSpPr>
          <p:cNvPr id="19" name="Connector 18"/>
          <p:cNvCxnSpPr/>
          <p:nvPr/>
        </p:nvCxnSpPr>
        <p:spPr>
          <a:xfrm>
            <a:off x="5477256" y="2185416"/>
            <a:ext cx="292608" cy="0"/>
          </a:xfrm>
          <a:prstGeom prst="line">
            <a:avLst/>
          </a:prstGeom>
          <a:ln w="12700">
            <a:solidFill>
              <a:srgbClr val="5C7359"/>
            </a:solidFill>
          </a:ln>
        </p:spPr>
      </p:cxnSp>
      <p:cxnSp>
        <p:nvCxnSpPr>
          <p:cNvPr id="20" name="Connector 19"/>
          <p:cNvCxnSpPr/>
          <p:nvPr/>
        </p:nvCxnSpPr>
        <p:spPr>
          <a:xfrm>
            <a:off x="5477256" y="2304288"/>
            <a:ext cx="292608" cy="0"/>
          </a:xfrm>
          <a:prstGeom prst="line">
            <a:avLst/>
          </a:prstGeom>
          <a:ln w="12700">
            <a:solidFill>
              <a:srgbClr val="5C7359"/>
            </a:solidFill>
          </a:ln>
        </p:spPr>
      </p:cxnSp>
      <p:cxnSp>
        <p:nvCxnSpPr>
          <p:cNvPr id="21" name="Connector 20"/>
          <p:cNvCxnSpPr/>
          <p:nvPr/>
        </p:nvCxnSpPr>
        <p:spPr>
          <a:xfrm>
            <a:off x="5477256" y="2423160"/>
            <a:ext cx="292608" cy="0"/>
          </a:xfrm>
          <a:prstGeom prst="line">
            <a:avLst/>
          </a:prstGeom>
          <a:ln w="12700">
            <a:solidFill>
              <a:srgbClr val="5C7359"/>
            </a:solidFill>
          </a:ln>
        </p:spPr>
      </p:cxnSp>
      <p:sp>
        <p:nvSpPr>
          <p:cNvPr id="22" name="TextBox 21"/>
          <p:cNvSpPr txBox="1"/>
          <p:nvPr/>
        </p:nvSpPr>
        <p:spPr>
          <a:xfrm>
            <a:off x="3639312" y="3227832"/>
            <a:ext cx="2468880" cy="548640"/>
          </a:xfrm>
          <a:prstGeom prst="rect">
            <a:avLst/>
          </a:prstGeom>
          <a:noFill/>
        </p:spPr>
        <p:txBody>
          <a:bodyPr wrap="square" tIns="0" lIns="0" rIns="0" bIns="0">
            <a:spAutoFit/>
          </a:bodyPr>
          <a:lstStyle/>
          <a:p>
            <a:pPr>
              <a:lnSpc>
                <a:spcPct val="110000"/>
              </a:lnSpc>
              <a:spcAft>
                <a:spcPts val="0"/>
              </a:spcAft>
              <a:defRPr sz="1900" b="1">
                <a:solidFill>
                  <a:srgbClr val="364653"/>
                </a:solidFill>
                <a:latin typeface="Segoe UI"/>
              </a:defRPr>
            </a:pPr>
            <a:r>
              <a:t>CHỌN CÁCH IN</a:t>
            </a:r>
          </a:p>
        </p:txBody>
      </p:sp>
      <p:sp>
        <p:nvSpPr>
          <p:cNvPr id="23" name="TextBox 22"/>
          <p:cNvSpPr txBox="1"/>
          <p:nvPr/>
        </p:nvSpPr>
        <p:spPr>
          <a:xfrm>
            <a:off x="3639312" y="3886200"/>
            <a:ext cx="2651760" cy="1143000"/>
          </a:xfrm>
          <a:prstGeom prst="rect">
            <a:avLst/>
          </a:prstGeom>
          <a:noFill/>
        </p:spPr>
        <p:txBody>
          <a:bodyPr wrap="square" tIns="0" lIns="0" rIns="0" bIns="0">
            <a:spAutoFit/>
          </a:bodyPr>
          <a:lstStyle/>
          <a:p>
            <a:pPr>
              <a:lnSpc>
                <a:spcPct val="110000"/>
              </a:lnSpc>
              <a:spcAft>
                <a:spcPts val="300"/>
              </a:spcAft>
              <a:defRPr sz="2200" b="0">
                <a:solidFill>
                  <a:srgbClr val="364653"/>
                </a:solidFill>
                <a:latin typeface="Segoe UI"/>
              </a:defRPr>
            </a:pPr>
            <a:r>
              <a:t>Quyền · owner</a:t>
            </a:r>
          </a:p>
          <a:p>
            <a:pPr>
              <a:lnSpc>
                <a:spcPct val="110000"/>
              </a:lnSpc>
              <a:spcAft>
                <a:spcPts val="0"/>
              </a:spcAft>
              <a:defRPr sz="2200" b="0">
                <a:solidFill>
                  <a:srgbClr val="364653"/>
                </a:solidFill>
                <a:latin typeface="Segoe UI"/>
              </a:defRPr>
            </a:pPr>
            <a:r>
              <a:t>size · mtime</a:t>
            </a:r>
          </a:p>
        </p:txBody>
      </p:sp>
      <p:sp>
        <p:nvSpPr>
          <p:cNvPr id="24" name="TextBox 23"/>
          <p:cNvSpPr txBox="1"/>
          <p:nvPr/>
        </p:nvSpPr>
        <p:spPr>
          <a:xfrm>
            <a:off x="3639312" y="5394960"/>
            <a:ext cx="2468880" cy="411480"/>
          </a:xfrm>
          <a:prstGeom prst="rect">
            <a:avLst/>
          </a:prstGeom>
          <a:noFill/>
        </p:spPr>
        <p:txBody>
          <a:bodyPr wrap="square" tIns="0" lIns="0" rIns="0" bIns="0">
            <a:spAutoFit/>
          </a:bodyPr>
          <a:lstStyle/>
          <a:p>
            <a:pPr>
              <a:lnSpc>
                <a:spcPct val="110000"/>
              </a:lnSpc>
              <a:spcAft>
                <a:spcPts val="0"/>
              </a:spcAft>
              <a:defRPr sz="1800" b="0">
                <a:solidFill>
                  <a:srgbClr val="5B6870"/>
                </a:solidFill>
                <a:latin typeface="Consolas"/>
              </a:defRPr>
            </a:pPr>
            <a:r>
              <a:t>struct stat</a:t>
            </a:r>
          </a:p>
        </p:txBody>
      </p:sp>
      <p:sp>
        <p:nvSpPr>
          <p:cNvPr id="25" name="TextBox 24"/>
          <p:cNvSpPr txBox="1"/>
          <p:nvPr/>
        </p:nvSpPr>
        <p:spPr>
          <a:xfrm>
            <a:off x="6501383" y="1965960"/>
            <a:ext cx="1554480" cy="914400"/>
          </a:xfrm>
          <a:prstGeom prst="rect">
            <a:avLst/>
          </a:prstGeom>
          <a:noFill/>
        </p:spPr>
        <p:txBody>
          <a:bodyPr wrap="square" tIns="0" lIns="0" rIns="0" bIns="0">
            <a:spAutoFit/>
          </a:bodyPr>
          <a:lstStyle/>
          <a:p>
            <a:pPr>
              <a:lnSpc>
                <a:spcPct val="110000"/>
              </a:lnSpc>
              <a:spcAft>
                <a:spcPts val="0"/>
              </a:spcAft>
              <a:defRPr sz="5400" b="1">
                <a:solidFill>
                  <a:srgbClr val="9B624B"/>
                </a:solidFill>
                <a:latin typeface="Consolas"/>
              </a:defRPr>
            </a:pPr>
            <a:r>
              <a:t>-R</a:t>
            </a:r>
          </a:p>
        </p:txBody>
      </p:sp>
      <p:cxnSp>
        <p:nvCxnSpPr>
          <p:cNvPr id="26" name="Connector 25"/>
          <p:cNvCxnSpPr/>
          <p:nvPr/>
        </p:nvCxnSpPr>
        <p:spPr>
          <a:xfrm>
            <a:off x="6501383" y="2953512"/>
            <a:ext cx="2423161" cy="0"/>
          </a:xfrm>
          <a:prstGeom prst="line">
            <a:avLst/>
          </a:prstGeom>
          <a:ln w="25400">
            <a:solidFill>
              <a:srgbClr val="9B624B"/>
            </a:solidFill>
          </a:ln>
        </p:spPr>
      </p:cxnSp>
      <p:sp>
        <p:nvSpPr>
          <p:cNvPr id="27" name="Rectangle 26"/>
          <p:cNvSpPr/>
          <p:nvPr/>
        </p:nvSpPr>
        <p:spPr>
          <a:xfrm>
            <a:off x="8238744" y="1920240"/>
            <a:ext cx="211226" cy="137160"/>
          </a:xfrm>
          <a:prstGeom prst="rect">
            <a:avLst/>
          </a:prstGeom>
          <a:solidFill>
            <a:srgbClr val="9B624B"/>
          </a:solidFill>
          <a:ln>
            <a:noFill/>
          </a:ln>
        </p:spPr>
        <p:txBody>
          <a:bodyPr rtlCol="0" anchor="ctr"/>
          <a:lstStyle/>
          <a:p>
            <a:pPr algn="ctr"/>
          </a:p>
        </p:txBody>
      </p:sp>
      <p:sp>
        <p:nvSpPr>
          <p:cNvPr id="28" name="Rectangle 27"/>
          <p:cNvSpPr/>
          <p:nvPr/>
        </p:nvSpPr>
        <p:spPr>
          <a:xfrm>
            <a:off x="8238744" y="2029968"/>
            <a:ext cx="502920" cy="530352"/>
          </a:xfrm>
          <a:prstGeom prst="rect">
            <a:avLst/>
          </a:prstGeom>
          <a:solidFill>
            <a:srgbClr val="9B624B"/>
          </a:solidFill>
          <a:ln>
            <a:noFill/>
          </a:ln>
        </p:spPr>
        <p:txBody>
          <a:bodyPr rtlCol="0" anchor="ctr"/>
          <a:lstStyle/>
          <a:p>
            <a:pPr algn="ctr"/>
          </a:p>
        </p:txBody>
      </p:sp>
      <p:cxnSp>
        <p:nvCxnSpPr>
          <p:cNvPr id="29" name="Connector 28"/>
          <p:cNvCxnSpPr/>
          <p:nvPr/>
        </p:nvCxnSpPr>
        <p:spPr>
          <a:xfrm>
            <a:off x="8485632" y="2560320"/>
            <a:ext cx="0" cy="201168"/>
          </a:xfrm>
          <a:prstGeom prst="line">
            <a:avLst/>
          </a:prstGeom>
          <a:ln w="15240">
            <a:solidFill>
              <a:srgbClr val="9B624B"/>
            </a:solidFill>
          </a:ln>
        </p:spPr>
      </p:cxnSp>
      <p:cxnSp>
        <p:nvCxnSpPr>
          <p:cNvPr id="30" name="Connector 29"/>
          <p:cNvCxnSpPr/>
          <p:nvPr/>
        </p:nvCxnSpPr>
        <p:spPr>
          <a:xfrm>
            <a:off x="8202167" y="2761488"/>
            <a:ext cx="585217" cy="0"/>
          </a:xfrm>
          <a:prstGeom prst="line">
            <a:avLst/>
          </a:prstGeom>
          <a:ln w="15240">
            <a:solidFill>
              <a:srgbClr val="9B624B"/>
            </a:solidFill>
          </a:ln>
        </p:spPr>
      </p:cxnSp>
      <p:sp>
        <p:nvSpPr>
          <p:cNvPr id="31" name="TextBox 30"/>
          <p:cNvSpPr txBox="1"/>
          <p:nvPr/>
        </p:nvSpPr>
        <p:spPr>
          <a:xfrm>
            <a:off x="6501383" y="3227832"/>
            <a:ext cx="2468880" cy="548640"/>
          </a:xfrm>
          <a:prstGeom prst="rect">
            <a:avLst/>
          </a:prstGeom>
          <a:noFill/>
        </p:spPr>
        <p:txBody>
          <a:bodyPr wrap="square" tIns="0" lIns="0" rIns="0" bIns="0">
            <a:spAutoFit/>
          </a:bodyPr>
          <a:lstStyle/>
          <a:p>
            <a:pPr>
              <a:lnSpc>
                <a:spcPct val="110000"/>
              </a:lnSpc>
              <a:spcAft>
                <a:spcPts val="0"/>
              </a:spcAft>
              <a:defRPr sz="1900" b="1">
                <a:solidFill>
                  <a:srgbClr val="364653"/>
                </a:solidFill>
                <a:latin typeface="Segoe UI"/>
              </a:defRPr>
            </a:pPr>
            <a:r>
              <a:t>CHỌN NƠI ĐẾN</a:t>
            </a:r>
          </a:p>
        </p:txBody>
      </p:sp>
      <p:sp>
        <p:nvSpPr>
          <p:cNvPr id="32" name="TextBox 31"/>
          <p:cNvSpPr txBox="1"/>
          <p:nvPr/>
        </p:nvSpPr>
        <p:spPr>
          <a:xfrm>
            <a:off x="6501383" y="3886200"/>
            <a:ext cx="2651760" cy="1143000"/>
          </a:xfrm>
          <a:prstGeom prst="rect">
            <a:avLst/>
          </a:prstGeom>
          <a:noFill/>
        </p:spPr>
        <p:txBody>
          <a:bodyPr wrap="square" tIns="0" lIns="0" rIns="0" bIns="0">
            <a:spAutoFit/>
          </a:bodyPr>
          <a:lstStyle/>
          <a:p>
            <a:pPr>
              <a:lnSpc>
                <a:spcPct val="110000"/>
              </a:lnSpc>
              <a:spcAft>
                <a:spcPts val="0"/>
              </a:spcAft>
              <a:defRPr sz="2200" b="0">
                <a:solidFill>
                  <a:srgbClr val="364653"/>
                </a:solidFill>
                <a:latin typeface="Segoe UI"/>
              </a:defRPr>
            </a:pPr>
            <a:r>
              <a:t>Đi vào thư mục con thật</a:t>
            </a:r>
          </a:p>
        </p:txBody>
      </p:sp>
      <p:sp>
        <p:nvSpPr>
          <p:cNvPr id="33" name="TextBox 32"/>
          <p:cNvSpPr txBox="1"/>
          <p:nvPr/>
        </p:nvSpPr>
        <p:spPr>
          <a:xfrm>
            <a:off x="6501383" y="5394960"/>
            <a:ext cx="2468880" cy="411480"/>
          </a:xfrm>
          <a:prstGeom prst="rect">
            <a:avLst/>
          </a:prstGeom>
          <a:noFill/>
        </p:spPr>
        <p:txBody>
          <a:bodyPr wrap="square" tIns="0" lIns="0" rIns="0" bIns="0">
            <a:spAutoFit/>
          </a:bodyPr>
          <a:lstStyle/>
          <a:p>
            <a:pPr>
              <a:lnSpc>
                <a:spcPct val="110000"/>
              </a:lnSpc>
              <a:spcAft>
                <a:spcPts val="0"/>
              </a:spcAft>
              <a:defRPr sz="1800" b="0">
                <a:solidFill>
                  <a:srgbClr val="5B6870"/>
                </a:solidFill>
                <a:latin typeface="Consolas"/>
              </a:defRPr>
            </a:pPr>
            <a:r>
              <a:t>S_ISDIR</a:t>
            </a:r>
          </a:p>
        </p:txBody>
      </p:sp>
      <p:sp>
        <p:nvSpPr>
          <p:cNvPr id="34" name="TextBox 33"/>
          <p:cNvSpPr txBox="1"/>
          <p:nvPr/>
        </p:nvSpPr>
        <p:spPr>
          <a:xfrm>
            <a:off x="9363456" y="1965960"/>
            <a:ext cx="1554480" cy="914400"/>
          </a:xfrm>
          <a:prstGeom prst="rect">
            <a:avLst/>
          </a:prstGeom>
          <a:noFill/>
        </p:spPr>
        <p:txBody>
          <a:bodyPr wrap="square" tIns="0" lIns="0" rIns="0" bIns="0">
            <a:spAutoFit/>
          </a:bodyPr>
          <a:lstStyle/>
          <a:p>
            <a:pPr>
              <a:lnSpc>
                <a:spcPct val="110000"/>
              </a:lnSpc>
              <a:spcAft>
                <a:spcPts val="0"/>
              </a:spcAft>
              <a:defRPr sz="5400" b="1">
                <a:solidFill>
                  <a:srgbClr val="456B88"/>
                </a:solidFill>
                <a:latin typeface="Consolas"/>
              </a:defRPr>
            </a:pPr>
            <a:r>
              <a:t>-S</a:t>
            </a:r>
          </a:p>
        </p:txBody>
      </p:sp>
      <p:cxnSp>
        <p:nvCxnSpPr>
          <p:cNvPr id="35" name="Connector 34"/>
          <p:cNvCxnSpPr/>
          <p:nvPr/>
        </p:nvCxnSpPr>
        <p:spPr>
          <a:xfrm>
            <a:off x="9363456" y="2953512"/>
            <a:ext cx="2423160" cy="0"/>
          </a:xfrm>
          <a:prstGeom prst="line">
            <a:avLst/>
          </a:prstGeom>
          <a:ln w="25400">
            <a:solidFill>
              <a:srgbClr val="456B88"/>
            </a:solidFill>
          </a:ln>
        </p:spPr>
      </p:cxnSp>
      <p:sp>
        <p:nvSpPr>
          <p:cNvPr id="36" name="Rectangle 35"/>
          <p:cNvSpPr/>
          <p:nvPr/>
        </p:nvSpPr>
        <p:spPr>
          <a:xfrm>
            <a:off x="11009376" y="2039112"/>
            <a:ext cx="658368" cy="109728"/>
          </a:xfrm>
          <a:prstGeom prst="rect">
            <a:avLst/>
          </a:prstGeom>
          <a:solidFill>
            <a:srgbClr val="456B88"/>
          </a:solidFill>
          <a:ln>
            <a:noFill/>
          </a:ln>
        </p:spPr>
        <p:txBody>
          <a:bodyPr rtlCol="0" anchor="ctr"/>
          <a:lstStyle/>
          <a:p>
            <a:pPr algn="ctr"/>
          </a:p>
        </p:txBody>
      </p:sp>
      <p:sp>
        <p:nvSpPr>
          <p:cNvPr id="37" name="Rectangle 36"/>
          <p:cNvSpPr/>
          <p:nvPr/>
        </p:nvSpPr>
        <p:spPr>
          <a:xfrm>
            <a:off x="11009376" y="2267712"/>
            <a:ext cx="457200" cy="109728"/>
          </a:xfrm>
          <a:prstGeom prst="rect">
            <a:avLst/>
          </a:prstGeom>
          <a:solidFill>
            <a:srgbClr val="456B88"/>
          </a:solidFill>
          <a:ln>
            <a:noFill/>
          </a:ln>
        </p:spPr>
        <p:txBody>
          <a:bodyPr rtlCol="0" anchor="ctr"/>
          <a:lstStyle/>
          <a:p>
            <a:pPr algn="ctr"/>
          </a:p>
        </p:txBody>
      </p:sp>
      <p:sp>
        <p:nvSpPr>
          <p:cNvPr id="38" name="Rectangle 37"/>
          <p:cNvSpPr/>
          <p:nvPr/>
        </p:nvSpPr>
        <p:spPr>
          <a:xfrm>
            <a:off x="11009376" y="2496312"/>
            <a:ext cx="256032" cy="109728"/>
          </a:xfrm>
          <a:prstGeom prst="rect">
            <a:avLst/>
          </a:prstGeom>
          <a:solidFill>
            <a:srgbClr val="456B88"/>
          </a:solidFill>
          <a:ln>
            <a:noFill/>
          </a:ln>
        </p:spPr>
        <p:txBody>
          <a:bodyPr rtlCol="0" anchor="ctr"/>
          <a:lstStyle/>
          <a:p>
            <a:pPr algn="ctr"/>
          </a:p>
        </p:txBody>
      </p:sp>
      <p:sp>
        <p:nvSpPr>
          <p:cNvPr id="39" name="TextBox 38"/>
          <p:cNvSpPr txBox="1"/>
          <p:nvPr/>
        </p:nvSpPr>
        <p:spPr>
          <a:xfrm>
            <a:off x="9363456" y="3227832"/>
            <a:ext cx="2468880" cy="548640"/>
          </a:xfrm>
          <a:prstGeom prst="rect">
            <a:avLst/>
          </a:prstGeom>
          <a:noFill/>
        </p:spPr>
        <p:txBody>
          <a:bodyPr wrap="square" tIns="0" lIns="0" rIns="0" bIns="0">
            <a:spAutoFit/>
          </a:bodyPr>
          <a:lstStyle/>
          <a:p>
            <a:pPr>
              <a:lnSpc>
                <a:spcPct val="110000"/>
              </a:lnSpc>
              <a:spcAft>
                <a:spcPts val="0"/>
              </a:spcAft>
              <a:defRPr sz="1900" b="1">
                <a:solidFill>
                  <a:srgbClr val="364653"/>
                </a:solidFill>
                <a:latin typeface="Segoe UI"/>
              </a:defRPr>
            </a:pPr>
            <a:r>
              <a:t>CHỌN THỨ TỰ</a:t>
            </a:r>
          </a:p>
        </p:txBody>
      </p:sp>
      <p:sp>
        <p:nvSpPr>
          <p:cNvPr id="40" name="TextBox 39"/>
          <p:cNvSpPr txBox="1"/>
          <p:nvPr/>
        </p:nvSpPr>
        <p:spPr>
          <a:xfrm>
            <a:off x="9363456" y="3886200"/>
            <a:ext cx="2651760" cy="1143000"/>
          </a:xfrm>
          <a:prstGeom prst="rect">
            <a:avLst/>
          </a:prstGeom>
          <a:noFill/>
        </p:spPr>
        <p:txBody>
          <a:bodyPr wrap="square" tIns="0" lIns="0" rIns="0" bIns="0">
            <a:spAutoFit/>
          </a:bodyPr>
          <a:lstStyle/>
          <a:p>
            <a:pPr>
              <a:lnSpc>
                <a:spcPct val="110000"/>
              </a:lnSpc>
              <a:spcAft>
                <a:spcPts val="0"/>
              </a:spcAft>
              <a:defRPr sz="2200" b="0">
                <a:solidFill>
                  <a:srgbClr val="364653"/>
                </a:solidFill>
                <a:latin typeface="Segoe UI"/>
              </a:defRPr>
            </a:pPr>
            <a:r>
              <a:t>Size giảm; cùng size thì tên</a:t>
            </a:r>
          </a:p>
        </p:txBody>
      </p:sp>
      <p:sp>
        <p:nvSpPr>
          <p:cNvPr id="41" name="TextBox 40"/>
          <p:cNvSpPr txBox="1"/>
          <p:nvPr/>
        </p:nvSpPr>
        <p:spPr>
          <a:xfrm>
            <a:off x="9363456" y="5394960"/>
            <a:ext cx="2468880" cy="411480"/>
          </a:xfrm>
          <a:prstGeom prst="rect">
            <a:avLst/>
          </a:prstGeom>
          <a:noFill/>
        </p:spPr>
        <p:txBody>
          <a:bodyPr wrap="square" tIns="0" lIns="0" rIns="0" bIns="0">
            <a:spAutoFit/>
          </a:bodyPr>
          <a:lstStyle/>
          <a:p>
            <a:pPr>
              <a:lnSpc>
                <a:spcPct val="110000"/>
              </a:lnSpc>
              <a:spcAft>
                <a:spcPts val="0"/>
              </a:spcAft>
              <a:defRPr sz="1800" b="0">
                <a:solidFill>
                  <a:srgbClr val="5B6870"/>
                </a:solidFill>
                <a:latin typeface="Consolas"/>
              </a:defRPr>
            </a:pPr>
            <a:r>
              <a:t>st_size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TextBox 1"/>
          <p:cNvSpPr txBox="1"/>
          <p:nvPr/>
        </p:nvSpPr>
        <p:spPr>
          <a:xfrm>
            <a:off x="749808" y="429768"/>
            <a:ext cx="10698480" cy="594360"/>
          </a:xfrm>
          <a:prstGeom prst="rect">
            <a:avLst/>
          </a:prstGeom>
          <a:noFill/>
        </p:spPr>
        <p:txBody>
          <a:bodyPr wrap="square" tIns="0" lIns="0" rIns="0" bIns="0">
            <a:spAutoFit/>
          </a:bodyPr>
          <a:lstStyle/>
          <a:p>
            <a:pPr>
              <a:lnSpc>
                <a:spcPct val="110000"/>
              </a:lnSpc>
              <a:spcAft>
                <a:spcPts val="0"/>
              </a:spcAft>
              <a:defRPr sz="3000" b="1">
                <a:solidFill>
                  <a:srgbClr val="364653"/>
                </a:solidFill>
                <a:latin typeface="Segoe UI"/>
              </a:defRPr>
            </a:pPr>
            <a:r>
              <a:t>-a thay tập kết quả, không thay cách duyệt</a:t>
            </a:r>
          </a:p>
        </p:txBody>
      </p:sp>
      <p:sp>
        <p:nvSpPr>
          <p:cNvPr id="3" name="TextBox 2"/>
          <p:cNvSpPr txBox="1"/>
          <p:nvPr/>
        </p:nvSpPr>
        <p:spPr>
          <a:xfrm>
            <a:off x="777240" y="1133856"/>
            <a:ext cx="10607040" cy="502920"/>
          </a:xfrm>
          <a:prstGeom prst="rect">
            <a:avLst/>
          </a:prstGeom>
          <a:noFill/>
        </p:spPr>
        <p:txBody>
          <a:bodyPr wrap="square" tIns="0" lIns="0" rIns="0" bIns="0">
            <a:spAutoFit/>
          </a:bodyPr>
          <a:lstStyle/>
          <a:p>
            <a:pPr>
              <a:lnSpc>
                <a:spcPct val="110000"/>
              </a:lnSpc>
              <a:spcAft>
                <a:spcPts val="0"/>
              </a:spcAft>
              <a:defRPr sz="1800" b="0">
                <a:solidFill>
                  <a:srgbClr val="5B6870"/>
                </a:solidFill>
                <a:latin typeface="Segoe UI"/>
              </a:defRPr>
            </a:pPr>
            <a:r>
              <a:t>Cùng một thư mục: thêm -a để thấy các tên bắt đầu bằng dấu chấm.</a:t>
            </a:r>
          </a:p>
        </p:txBody>
      </p:sp>
      <p:cxnSp>
        <p:nvCxnSpPr>
          <p:cNvPr id="4" name="Connector 3"/>
          <p:cNvCxnSpPr/>
          <p:nvPr/>
        </p:nvCxnSpPr>
        <p:spPr>
          <a:xfrm>
            <a:off x="10762488" y="6537960"/>
            <a:ext cx="237744" cy="0"/>
          </a:xfrm>
          <a:prstGeom prst="line">
            <a:avLst/>
          </a:prstGeom>
          <a:ln w="12700">
            <a:solidFill>
              <a:srgbClr val="D3D7D2"/>
            </a:solidFill>
          </a:ln>
        </p:spPr>
      </p:cxnSp>
      <p:sp>
        <p:nvSpPr>
          <p:cNvPr id="5" name="TextBox 4"/>
          <p:cNvSpPr txBox="1"/>
          <p:nvPr/>
        </p:nvSpPr>
        <p:spPr>
          <a:xfrm>
            <a:off x="11082528" y="6419088"/>
            <a:ext cx="411480" cy="274320"/>
          </a:xfrm>
          <a:prstGeom prst="rect">
            <a:avLst/>
          </a:prstGeom>
          <a:noFill/>
        </p:spPr>
        <p:txBody>
          <a:bodyPr wrap="square" tIns="0" lIns="0" rIns="0" bIns="0">
            <a:spAutoFit/>
          </a:bodyPr>
          <a:lstStyle/>
          <a:p>
            <a:pPr algn="ctr">
              <a:lnSpc>
                <a:spcPct val="110000"/>
              </a:lnSpc>
              <a:spcAft>
                <a:spcPts val="0"/>
              </a:spcAft>
              <a:defRPr sz="1000" b="0">
                <a:solidFill>
                  <a:srgbClr val="5B6870"/>
                </a:solidFill>
                <a:latin typeface="Segoe UI"/>
              </a:defRPr>
            </a:pPr>
            <a:r>
              <a:t>03</a:t>
            </a:r>
          </a:p>
        </p:txBody>
      </p:sp>
      <p:sp>
        <p:nvSpPr>
          <p:cNvPr id="6" name="Rectangle 5"/>
          <p:cNvSpPr/>
          <p:nvPr/>
        </p:nvSpPr>
        <p:spPr>
          <a:xfrm>
            <a:off x="777240" y="1874519"/>
            <a:ext cx="3977639" cy="3794760"/>
          </a:xfrm>
          <a:prstGeom prst="rect">
            <a:avLst/>
          </a:prstGeom>
          <a:solidFill>
            <a:srgbClr val="FFFDFA"/>
          </a:solidFill>
          <a:ln w="12700">
            <a:solidFill>
              <a:srgbClr val="D3D7D2"/>
            </a:solidFill>
          </a:ln>
        </p:spPr>
        <p:txBody>
          <a:bodyPr rtlCol="0" anchor="ctr"/>
          <a:lstStyle/>
          <a:p>
            <a:pPr algn="ctr"/>
          </a:p>
        </p:txBody>
      </p:sp>
      <p:sp>
        <p:nvSpPr>
          <p:cNvPr id="7" name="Rectangle 6"/>
          <p:cNvSpPr/>
          <p:nvPr/>
        </p:nvSpPr>
        <p:spPr>
          <a:xfrm>
            <a:off x="777240" y="1874519"/>
            <a:ext cx="3977639" cy="594360"/>
          </a:xfrm>
          <a:prstGeom prst="rect">
            <a:avLst/>
          </a:prstGeom>
          <a:solidFill>
            <a:srgbClr val="E6EDF1"/>
          </a:solidFill>
          <a:ln>
            <a:noFill/>
          </a:ln>
        </p:spPr>
        <p:txBody>
          <a:bodyPr rtlCol="0" anchor="ctr"/>
          <a:lstStyle/>
          <a:p>
            <a:pPr algn="ctr"/>
          </a:p>
        </p:txBody>
      </p:sp>
      <p:sp>
        <p:nvSpPr>
          <p:cNvPr id="8" name="TextBox 7"/>
          <p:cNvSpPr txBox="1"/>
          <p:nvPr/>
        </p:nvSpPr>
        <p:spPr>
          <a:xfrm>
            <a:off x="1005840" y="2011679"/>
            <a:ext cx="3520439" cy="411480"/>
          </a:xfrm>
          <a:prstGeom prst="rect">
            <a:avLst/>
          </a:prstGeom>
          <a:noFill/>
        </p:spPr>
        <p:txBody>
          <a:bodyPr wrap="square" tIns="0" lIns="0" rIns="0" bIns="0">
            <a:spAutoFit/>
          </a:bodyPr>
          <a:lstStyle/>
          <a:p>
            <a:pPr>
              <a:lnSpc>
                <a:spcPct val="110000"/>
              </a:lnSpc>
              <a:spcAft>
                <a:spcPts val="0"/>
              </a:spcAft>
              <a:defRPr sz="2000" b="1">
                <a:solidFill>
                  <a:srgbClr val="456B88"/>
                </a:solidFill>
                <a:latin typeface="Consolas"/>
              </a:defRPr>
            </a:pPr>
            <a:r>
              <a:t>$ ./myls</a:t>
            </a:r>
          </a:p>
        </p:txBody>
      </p:sp>
      <p:sp>
        <p:nvSpPr>
          <p:cNvPr id="9" name="TextBox 8"/>
          <p:cNvSpPr txBox="1"/>
          <p:nvPr/>
        </p:nvSpPr>
        <p:spPr>
          <a:xfrm>
            <a:off x="1005840" y="2660903"/>
            <a:ext cx="3520439" cy="2916936"/>
          </a:xfrm>
          <a:prstGeom prst="rect">
            <a:avLst/>
          </a:prstGeom>
          <a:noFill/>
        </p:spPr>
        <p:txBody>
          <a:bodyPr wrap="square" tIns="0" lIns="0" rIns="0" bIns="0">
            <a:spAutoFit/>
          </a:bodyPr>
          <a:lstStyle/>
          <a:p>
            <a:pPr>
              <a:lnSpc>
                <a:spcPct val="105000"/>
              </a:lnSpc>
              <a:spcAft>
                <a:spcPts val="0"/>
              </a:spcAft>
              <a:defRPr sz="2000" b="0">
                <a:solidFill>
                  <a:srgbClr val="364653"/>
                </a:solidFill>
                <a:latin typeface="Consolas"/>
              </a:defRPr>
            </a:pPr>
            <a:r>
              <a:t>README.txt</a:t>
            </a:r>
          </a:p>
          <a:p>
            <a:pPr>
              <a:lnSpc>
                <a:spcPct val="105000"/>
              </a:lnSpc>
              <a:spcAft>
                <a:spcPts val="0"/>
              </a:spcAft>
              <a:defRPr sz="2000" b="0">
                <a:solidFill>
                  <a:srgbClr val="364653"/>
                </a:solidFill>
                <a:latin typeface="Consolas"/>
              </a:defRPr>
            </a:pPr>
            <a:r>
              <a:t>database.bin</a:t>
            </a:r>
          </a:p>
          <a:p>
            <a:pPr>
              <a:lnSpc>
                <a:spcPct val="105000"/>
              </a:lnSpc>
              <a:spcAft>
                <a:spcPts val="0"/>
              </a:spcAft>
              <a:defRPr sz="2000" b="0">
                <a:solidFill>
                  <a:srgbClr val="364653"/>
                </a:solidFill>
                <a:latin typeface="Consolas"/>
              </a:defRPr>
            </a:pPr>
            <a:r>
              <a:t>link_to_src</a:t>
            </a:r>
          </a:p>
          <a:p>
            <a:pPr>
              <a:lnSpc>
                <a:spcPct val="105000"/>
              </a:lnSpc>
              <a:spcAft>
                <a:spcPts val="0"/>
              </a:spcAft>
              <a:defRPr sz="2000" b="0">
                <a:solidFill>
                  <a:srgbClr val="364653"/>
                </a:solidFill>
                <a:latin typeface="Consolas"/>
              </a:defRPr>
            </a:pPr>
            <a:r>
              <a:t>notes.txt</a:t>
            </a:r>
          </a:p>
          <a:p>
            <a:pPr>
              <a:lnSpc>
                <a:spcPct val="105000"/>
              </a:lnSpc>
              <a:spcAft>
                <a:spcPts val="0"/>
              </a:spcAft>
              <a:defRPr sz="2000" b="0">
                <a:solidFill>
                  <a:srgbClr val="364653"/>
                </a:solidFill>
                <a:latin typeface="Consolas"/>
              </a:defRPr>
            </a:pPr>
            <a:r>
              <a:t>src_module</a:t>
            </a:r>
          </a:p>
        </p:txBody>
      </p:sp>
      <p:sp>
        <p:nvSpPr>
          <p:cNvPr id="10" name="Rectangle 9"/>
          <p:cNvSpPr/>
          <p:nvPr/>
        </p:nvSpPr>
        <p:spPr>
          <a:xfrm>
            <a:off x="5010912" y="1874519"/>
            <a:ext cx="3977639" cy="3794760"/>
          </a:xfrm>
          <a:prstGeom prst="rect">
            <a:avLst/>
          </a:prstGeom>
          <a:solidFill>
            <a:srgbClr val="FFFDFA"/>
          </a:solidFill>
          <a:ln w="12700">
            <a:solidFill>
              <a:srgbClr val="D3D7D2"/>
            </a:solidFill>
          </a:ln>
        </p:spPr>
        <p:txBody>
          <a:bodyPr rtlCol="0" anchor="ctr"/>
          <a:lstStyle/>
          <a:p>
            <a:pPr algn="ctr"/>
          </a:p>
        </p:txBody>
      </p:sp>
      <p:sp>
        <p:nvSpPr>
          <p:cNvPr id="11" name="Rectangle 10"/>
          <p:cNvSpPr/>
          <p:nvPr/>
        </p:nvSpPr>
        <p:spPr>
          <a:xfrm>
            <a:off x="5010912" y="1874519"/>
            <a:ext cx="3977639" cy="594360"/>
          </a:xfrm>
          <a:prstGeom prst="rect">
            <a:avLst/>
          </a:prstGeom>
          <a:solidFill>
            <a:srgbClr val="E6EDF1"/>
          </a:solidFill>
          <a:ln>
            <a:noFill/>
          </a:ln>
        </p:spPr>
        <p:txBody>
          <a:bodyPr rtlCol="0" anchor="ctr"/>
          <a:lstStyle/>
          <a:p>
            <a:pPr algn="ctr"/>
          </a:p>
        </p:txBody>
      </p:sp>
      <p:sp>
        <p:nvSpPr>
          <p:cNvPr id="12" name="TextBox 11"/>
          <p:cNvSpPr txBox="1"/>
          <p:nvPr/>
        </p:nvSpPr>
        <p:spPr>
          <a:xfrm>
            <a:off x="5239512" y="2011679"/>
            <a:ext cx="3520439" cy="411480"/>
          </a:xfrm>
          <a:prstGeom prst="rect">
            <a:avLst/>
          </a:prstGeom>
          <a:noFill/>
        </p:spPr>
        <p:txBody>
          <a:bodyPr wrap="square" tIns="0" lIns="0" rIns="0" bIns="0">
            <a:spAutoFit/>
          </a:bodyPr>
          <a:lstStyle/>
          <a:p>
            <a:pPr>
              <a:lnSpc>
                <a:spcPct val="110000"/>
              </a:lnSpc>
              <a:spcAft>
                <a:spcPts val="0"/>
              </a:spcAft>
              <a:defRPr sz="2000" b="1">
                <a:solidFill>
                  <a:srgbClr val="456B88"/>
                </a:solidFill>
                <a:latin typeface="Consolas"/>
              </a:defRPr>
            </a:pPr>
            <a:r>
              <a:t>$ ./myls -a</a:t>
            </a:r>
          </a:p>
        </p:txBody>
      </p:sp>
      <p:sp>
        <p:nvSpPr>
          <p:cNvPr id="13" name="TextBox 12"/>
          <p:cNvSpPr txBox="1"/>
          <p:nvPr/>
        </p:nvSpPr>
        <p:spPr>
          <a:xfrm>
            <a:off x="5239512" y="2660903"/>
            <a:ext cx="3520439" cy="2916936"/>
          </a:xfrm>
          <a:prstGeom prst="rect">
            <a:avLst/>
          </a:prstGeom>
          <a:noFill/>
        </p:spPr>
        <p:txBody>
          <a:bodyPr wrap="square" tIns="0" lIns="0" rIns="0" bIns="0">
            <a:spAutoFit/>
          </a:bodyPr>
          <a:lstStyle/>
          <a:p>
            <a:pPr>
              <a:lnSpc>
                <a:spcPct val="105000"/>
              </a:lnSpc>
              <a:spcAft>
                <a:spcPts val="0"/>
              </a:spcAft>
              <a:defRPr sz="2000" b="0">
                <a:solidFill>
                  <a:srgbClr val="364653"/>
                </a:solidFill>
                <a:latin typeface="Consolas"/>
              </a:defRPr>
            </a:pPr>
            <a:r>
              <a:t>.</a:t>
            </a:r>
          </a:p>
          <a:p>
            <a:pPr>
              <a:lnSpc>
                <a:spcPct val="105000"/>
              </a:lnSpc>
              <a:spcAft>
                <a:spcPts val="0"/>
              </a:spcAft>
              <a:defRPr sz="2000" b="0">
                <a:solidFill>
                  <a:srgbClr val="364653"/>
                </a:solidFill>
                <a:latin typeface="Consolas"/>
              </a:defRPr>
            </a:pPr>
            <a:r>
              <a:t>..</a:t>
            </a:r>
          </a:p>
          <a:p>
            <a:pPr>
              <a:lnSpc>
                <a:spcPct val="105000"/>
              </a:lnSpc>
              <a:spcAft>
                <a:spcPts val="0"/>
              </a:spcAft>
              <a:defRPr sz="2000" b="0">
                <a:solidFill>
                  <a:srgbClr val="364653"/>
                </a:solidFill>
                <a:latin typeface="Consolas"/>
              </a:defRPr>
            </a:pPr>
            <a:r>
              <a:t>.config_hidden</a:t>
            </a:r>
          </a:p>
          <a:p>
            <a:pPr>
              <a:lnSpc>
                <a:spcPct val="105000"/>
              </a:lnSpc>
              <a:spcAft>
                <a:spcPts val="0"/>
              </a:spcAft>
              <a:defRPr sz="2000" b="0">
                <a:solidFill>
                  <a:srgbClr val="364653"/>
                </a:solidFill>
                <a:latin typeface="Consolas"/>
              </a:defRPr>
            </a:pPr>
            <a:r>
              <a:t>.env</a:t>
            </a:r>
          </a:p>
          <a:p>
            <a:pPr>
              <a:lnSpc>
                <a:spcPct val="105000"/>
              </a:lnSpc>
              <a:spcAft>
                <a:spcPts val="0"/>
              </a:spcAft>
              <a:defRPr sz="2000" b="0">
                <a:solidFill>
                  <a:srgbClr val="364653"/>
                </a:solidFill>
                <a:latin typeface="Consolas"/>
              </a:defRPr>
            </a:pPr>
            <a:r>
              <a:t>README.txt</a:t>
            </a:r>
          </a:p>
          <a:p>
            <a:pPr>
              <a:lnSpc>
                <a:spcPct val="105000"/>
              </a:lnSpc>
              <a:spcAft>
                <a:spcPts val="0"/>
              </a:spcAft>
              <a:defRPr sz="2000" b="0">
                <a:solidFill>
                  <a:srgbClr val="364653"/>
                </a:solidFill>
                <a:latin typeface="Consolas"/>
              </a:defRPr>
            </a:pPr>
            <a:r>
              <a:t>database.bin</a:t>
            </a:r>
          </a:p>
          <a:p>
            <a:pPr>
              <a:lnSpc>
                <a:spcPct val="105000"/>
              </a:lnSpc>
              <a:spcAft>
                <a:spcPts val="0"/>
              </a:spcAft>
              <a:defRPr sz="2000" b="0">
                <a:solidFill>
                  <a:srgbClr val="364653"/>
                </a:solidFill>
                <a:latin typeface="Consolas"/>
              </a:defRPr>
            </a:pPr>
            <a:r>
              <a:t>link_to_src</a:t>
            </a:r>
          </a:p>
          <a:p>
            <a:pPr>
              <a:lnSpc>
                <a:spcPct val="105000"/>
              </a:lnSpc>
              <a:spcAft>
                <a:spcPts val="0"/>
              </a:spcAft>
              <a:defRPr sz="2000" b="0">
                <a:solidFill>
                  <a:srgbClr val="364653"/>
                </a:solidFill>
                <a:latin typeface="Consolas"/>
              </a:defRPr>
            </a:pPr>
            <a:r>
              <a:t>notes.txt</a:t>
            </a:r>
          </a:p>
          <a:p>
            <a:pPr>
              <a:lnSpc>
                <a:spcPct val="105000"/>
              </a:lnSpc>
              <a:spcAft>
                <a:spcPts val="0"/>
              </a:spcAft>
              <a:defRPr sz="2000" b="0">
                <a:solidFill>
                  <a:srgbClr val="364653"/>
                </a:solidFill>
                <a:latin typeface="Consolas"/>
              </a:defRPr>
            </a:pPr>
            <a:r>
              <a:t>src_module</a:t>
            </a:r>
          </a:p>
        </p:txBody>
      </p:sp>
      <p:pic>
        <p:nvPicPr>
          <p:cNvPr id="14" name="Illustration: directory_discovery" descr="Minh họa tạo bằng imagegen: Kính lúp và lớp giấy mờ gợi việc nhìn thấy các mục ẩn. Không phải ảnh chụp hay dữ liệu thực nghiệm."/>
          <p:cNvPicPr>
            <a:picLocks noChangeAspect="1"/>
          </p:cNvPicPr>
          <p:nvPr/>
        </p:nvPicPr>
        <p:blipFill>
          <a:blip r:embed="rId2"/>
          <a:stretch>
            <a:fillRect/>
          </a:stretch>
        </p:blipFill>
        <p:spPr>
          <a:xfrm>
            <a:off x="9189720" y="2312289"/>
            <a:ext cx="2331720" cy="1748789"/>
          </a:xfrm>
          <a:prstGeom prst="rect">
            <a:avLst/>
          </a:prstGeom>
        </p:spPr>
      </p:pic>
      <p:sp>
        <p:nvSpPr>
          <p:cNvPr id="15" name="TextBox 14"/>
          <p:cNvSpPr txBox="1"/>
          <p:nvPr/>
        </p:nvSpPr>
        <p:spPr>
          <a:xfrm>
            <a:off x="9345168" y="4572000"/>
            <a:ext cx="2011680" cy="960120"/>
          </a:xfrm>
          <a:prstGeom prst="rect">
            <a:avLst/>
          </a:prstGeom>
          <a:noFill/>
        </p:spPr>
        <p:txBody>
          <a:bodyPr wrap="square" tIns="0" lIns="0" rIns="0" bIns="0">
            <a:spAutoFit/>
          </a:bodyPr>
          <a:lstStyle/>
          <a:p>
            <a:pPr>
              <a:lnSpc>
                <a:spcPct val="110000"/>
              </a:lnSpc>
              <a:spcAft>
                <a:spcPts val="300"/>
              </a:spcAft>
              <a:defRPr sz="2200" b="1">
                <a:solidFill>
                  <a:srgbClr val="9B624B"/>
                </a:solidFill>
                <a:latin typeface="Segoe UI"/>
              </a:defRPr>
            </a:pPr>
            <a:r>
              <a:t>Tên ẩn</a:t>
            </a:r>
          </a:p>
          <a:p>
            <a:pPr>
              <a:lnSpc>
                <a:spcPct val="110000"/>
              </a:lnSpc>
              <a:spcAft>
                <a:spcPts val="0"/>
              </a:spcAft>
              <a:defRPr sz="2200" b="1">
                <a:solidFill>
                  <a:srgbClr val="9B624B"/>
                </a:solidFill>
                <a:latin typeface="Segoe UI"/>
              </a:defRPr>
            </a:pPr>
            <a:r>
              <a:t>bắt đầu bằng .</a:t>
            </a:r>
          </a:p>
        </p:txBody>
      </p:sp>
      <p:sp>
        <p:nvSpPr>
          <p:cNvPr id="16" name="TextBox 15"/>
          <p:cNvSpPr txBox="1"/>
          <p:nvPr/>
        </p:nvSpPr>
        <p:spPr>
          <a:xfrm>
            <a:off x="777240" y="5879592"/>
            <a:ext cx="10607040" cy="457200"/>
          </a:xfrm>
          <a:prstGeom prst="rect">
            <a:avLst/>
          </a:prstGeom>
          <a:noFill/>
        </p:spPr>
        <p:txBody>
          <a:bodyPr wrap="square" tIns="0" lIns="0" rIns="0" bIns="0">
            <a:spAutoFit/>
          </a:bodyPr>
          <a:lstStyle/>
          <a:p>
            <a:pPr>
              <a:lnSpc>
                <a:spcPct val="110000"/>
              </a:lnSpc>
              <a:spcAft>
                <a:spcPts val="0"/>
              </a:spcAft>
              <a:defRPr sz="2300" b="1">
                <a:solidFill>
                  <a:srgbClr val="456B88"/>
                </a:solidFill>
                <a:latin typeface="Segoe UI"/>
              </a:defRPr>
            </a:pPr>
            <a:r>
              <a:t>. và .. được in khi có -a; luôn bị loại khỏi bước đệ quy.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TextBox 1"/>
          <p:cNvSpPr txBox="1"/>
          <p:nvPr/>
        </p:nvSpPr>
        <p:spPr>
          <a:xfrm>
            <a:off x="749808" y="429768"/>
            <a:ext cx="10698480" cy="594360"/>
          </a:xfrm>
          <a:prstGeom prst="rect">
            <a:avLst/>
          </a:prstGeom>
          <a:noFill/>
        </p:spPr>
        <p:txBody>
          <a:bodyPr wrap="square" tIns="0" lIns="0" rIns="0" bIns="0">
            <a:spAutoFit/>
          </a:bodyPr>
          <a:lstStyle/>
          <a:p>
            <a:pPr>
              <a:lnSpc>
                <a:spcPct val="110000"/>
              </a:lnSpc>
              <a:spcAft>
                <a:spcPts val="0"/>
              </a:spcAft>
              <a:defRPr sz="3000" b="1">
                <a:solidFill>
                  <a:srgbClr val="364653"/>
                </a:solidFill>
                <a:latin typeface="Segoe UI"/>
              </a:defRPr>
            </a:pPr>
            <a:r>
              <a:t>Tên tệp không chứa toàn bộ thông tin tệp</a:t>
            </a:r>
          </a:p>
        </p:txBody>
      </p:sp>
      <p:sp>
        <p:nvSpPr>
          <p:cNvPr id="3" name="TextBox 2"/>
          <p:cNvSpPr txBox="1"/>
          <p:nvPr/>
        </p:nvSpPr>
        <p:spPr>
          <a:xfrm>
            <a:off x="777240" y="1133856"/>
            <a:ext cx="10607040" cy="502920"/>
          </a:xfrm>
          <a:prstGeom prst="rect">
            <a:avLst/>
          </a:prstGeom>
          <a:noFill/>
        </p:spPr>
        <p:txBody>
          <a:bodyPr wrap="square" tIns="0" lIns="0" rIns="0" bIns="0">
            <a:spAutoFit/>
          </a:bodyPr>
          <a:lstStyle/>
          <a:p>
            <a:pPr>
              <a:lnSpc>
                <a:spcPct val="110000"/>
              </a:lnSpc>
              <a:spcAft>
                <a:spcPts val="0"/>
              </a:spcAft>
              <a:defRPr sz="1800" b="0">
                <a:solidFill>
                  <a:srgbClr val="5B6870"/>
                </a:solidFill>
                <a:latin typeface="Segoe UI"/>
              </a:defRPr>
            </a:pPr>
            <a:r>
              <a:t>readdir() trả tên; lstat() lấy metadata của chính đối tượng tại đường dẫn.</a:t>
            </a:r>
          </a:p>
        </p:txBody>
      </p:sp>
      <p:cxnSp>
        <p:nvCxnSpPr>
          <p:cNvPr id="4" name="Connector 3"/>
          <p:cNvCxnSpPr/>
          <p:nvPr/>
        </p:nvCxnSpPr>
        <p:spPr>
          <a:xfrm>
            <a:off x="10762488" y="6537960"/>
            <a:ext cx="237744" cy="0"/>
          </a:xfrm>
          <a:prstGeom prst="line">
            <a:avLst/>
          </a:prstGeom>
          <a:ln w="12700">
            <a:solidFill>
              <a:srgbClr val="D3D7D2"/>
            </a:solidFill>
          </a:ln>
        </p:spPr>
      </p:cxnSp>
      <p:sp>
        <p:nvSpPr>
          <p:cNvPr id="5" name="TextBox 4"/>
          <p:cNvSpPr txBox="1"/>
          <p:nvPr/>
        </p:nvSpPr>
        <p:spPr>
          <a:xfrm>
            <a:off x="11082528" y="6419088"/>
            <a:ext cx="411480" cy="274320"/>
          </a:xfrm>
          <a:prstGeom prst="rect">
            <a:avLst/>
          </a:prstGeom>
          <a:noFill/>
        </p:spPr>
        <p:txBody>
          <a:bodyPr wrap="square" tIns="0" lIns="0" rIns="0" bIns="0">
            <a:spAutoFit/>
          </a:bodyPr>
          <a:lstStyle/>
          <a:p>
            <a:pPr algn="ctr">
              <a:lnSpc>
                <a:spcPct val="110000"/>
              </a:lnSpc>
              <a:spcAft>
                <a:spcPts val="0"/>
              </a:spcAft>
              <a:defRPr sz="1000" b="0">
                <a:solidFill>
                  <a:srgbClr val="5B6870"/>
                </a:solidFill>
                <a:latin typeface="Segoe UI"/>
              </a:defRPr>
            </a:pPr>
            <a:r>
              <a:t>04</a:t>
            </a:r>
          </a:p>
        </p:txBody>
      </p:sp>
      <p:sp>
        <p:nvSpPr>
          <p:cNvPr id="6" name="TextBox 5"/>
          <p:cNvSpPr txBox="1"/>
          <p:nvPr/>
        </p:nvSpPr>
        <p:spPr>
          <a:xfrm>
            <a:off x="777240" y="1828800"/>
            <a:ext cx="3200400" cy="365760"/>
          </a:xfrm>
          <a:prstGeom prst="rect">
            <a:avLst/>
          </a:prstGeom>
          <a:noFill/>
        </p:spPr>
        <p:txBody>
          <a:bodyPr wrap="square" tIns="0" lIns="0" rIns="0" bIns="0">
            <a:spAutoFit/>
          </a:bodyPr>
          <a:lstStyle/>
          <a:p>
            <a:pPr>
              <a:lnSpc>
                <a:spcPct val="110000"/>
              </a:lnSpc>
              <a:spcAft>
                <a:spcPts val="0"/>
              </a:spcAft>
              <a:defRPr sz="1600" b="1">
                <a:solidFill>
                  <a:srgbClr val="5B6870"/>
                </a:solidFill>
                <a:latin typeface="Segoe UI"/>
              </a:defRPr>
            </a:pPr>
            <a:r>
              <a:t>MỤC TRONG THƯ MỤC</a:t>
            </a:r>
          </a:p>
        </p:txBody>
      </p:sp>
      <p:sp>
        <p:nvSpPr>
          <p:cNvPr id="7" name="Rectangle 6"/>
          <p:cNvSpPr/>
          <p:nvPr/>
        </p:nvSpPr>
        <p:spPr>
          <a:xfrm>
            <a:off x="777240" y="2606040"/>
            <a:ext cx="2286000" cy="585216"/>
          </a:xfrm>
          <a:prstGeom prst="rect">
            <a:avLst/>
          </a:prstGeom>
          <a:solidFill>
            <a:srgbClr val="FFFDFA"/>
          </a:solidFill>
          <a:ln w="12700">
            <a:solidFill>
              <a:srgbClr val="D3D7D2"/>
            </a:solidFill>
          </a:ln>
        </p:spPr>
        <p:txBody>
          <a:bodyPr rtlCol="0" anchor="ctr"/>
          <a:lstStyle/>
          <a:p>
            <a:pPr algn="ctr"/>
          </a:p>
        </p:txBody>
      </p:sp>
      <p:sp>
        <p:nvSpPr>
          <p:cNvPr id="8" name="Rectangle 7"/>
          <p:cNvSpPr/>
          <p:nvPr/>
        </p:nvSpPr>
        <p:spPr>
          <a:xfrm>
            <a:off x="886968" y="2743200"/>
            <a:ext cx="219456" cy="292608"/>
          </a:xfrm>
          <a:prstGeom prst="rect">
            <a:avLst/>
          </a:prstGeom>
          <a:solidFill>
            <a:srgbClr val="E6EDF1"/>
          </a:solidFill>
          <a:ln w="12700">
            <a:solidFill>
              <a:srgbClr val="456B88"/>
            </a:solidFill>
          </a:ln>
        </p:spPr>
        <p:txBody>
          <a:bodyPr rtlCol="0" anchor="ctr"/>
          <a:lstStyle/>
          <a:p>
            <a:pPr algn="ctr"/>
          </a:p>
        </p:txBody>
      </p:sp>
      <p:sp>
        <p:nvSpPr>
          <p:cNvPr id="9" name="TextBox 8"/>
          <p:cNvSpPr txBox="1"/>
          <p:nvPr/>
        </p:nvSpPr>
        <p:spPr>
          <a:xfrm>
            <a:off x="1197864" y="2743200"/>
            <a:ext cx="1783080" cy="365760"/>
          </a:xfrm>
          <a:prstGeom prst="rect">
            <a:avLst/>
          </a:prstGeom>
          <a:noFill/>
        </p:spPr>
        <p:txBody>
          <a:bodyPr wrap="square" tIns="0" lIns="0" rIns="0" bIns="0">
            <a:spAutoFit/>
          </a:bodyPr>
          <a:lstStyle/>
          <a:p>
            <a:pPr>
              <a:lnSpc>
                <a:spcPct val="110000"/>
              </a:lnSpc>
              <a:spcAft>
                <a:spcPts val="0"/>
              </a:spcAft>
              <a:defRPr sz="1900" b="0">
                <a:solidFill>
                  <a:srgbClr val="364653"/>
                </a:solidFill>
                <a:latin typeface="Consolas"/>
              </a:defRPr>
            </a:pPr>
            <a:r>
              <a:t>a.txt</a:t>
            </a:r>
          </a:p>
        </p:txBody>
      </p:sp>
      <p:sp>
        <p:nvSpPr>
          <p:cNvPr id="10" name="Rectangle 9"/>
          <p:cNvSpPr/>
          <p:nvPr/>
        </p:nvSpPr>
        <p:spPr>
          <a:xfrm>
            <a:off x="777240" y="3703320"/>
            <a:ext cx="2286000" cy="585216"/>
          </a:xfrm>
          <a:prstGeom prst="rect">
            <a:avLst/>
          </a:prstGeom>
          <a:solidFill>
            <a:srgbClr val="FFFDFA"/>
          </a:solidFill>
          <a:ln w="12700">
            <a:solidFill>
              <a:srgbClr val="D3D7D2"/>
            </a:solidFill>
          </a:ln>
        </p:spPr>
        <p:txBody>
          <a:bodyPr rtlCol="0" anchor="ctr"/>
          <a:lstStyle/>
          <a:p>
            <a:pPr algn="ctr"/>
          </a:p>
        </p:txBody>
      </p:sp>
      <p:sp>
        <p:nvSpPr>
          <p:cNvPr id="11" name="Rectangle 10"/>
          <p:cNvSpPr/>
          <p:nvPr/>
        </p:nvSpPr>
        <p:spPr>
          <a:xfrm>
            <a:off x="886968" y="3840480"/>
            <a:ext cx="219456" cy="292608"/>
          </a:xfrm>
          <a:prstGeom prst="rect">
            <a:avLst/>
          </a:prstGeom>
          <a:solidFill>
            <a:srgbClr val="E6EDF1"/>
          </a:solidFill>
          <a:ln w="12700">
            <a:solidFill>
              <a:srgbClr val="456B88"/>
            </a:solidFill>
          </a:ln>
        </p:spPr>
        <p:txBody>
          <a:bodyPr rtlCol="0" anchor="ctr"/>
          <a:lstStyle/>
          <a:p>
            <a:pPr algn="ctr"/>
          </a:p>
        </p:txBody>
      </p:sp>
      <p:sp>
        <p:nvSpPr>
          <p:cNvPr id="12" name="TextBox 11"/>
          <p:cNvSpPr txBox="1"/>
          <p:nvPr/>
        </p:nvSpPr>
        <p:spPr>
          <a:xfrm>
            <a:off x="1197864" y="3840480"/>
            <a:ext cx="1783080" cy="365760"/>
          </a:xfrm>
          <a:prstGeom prst="rect">
            <a:avLst/>
          </a:prstGeom>
          <a:noFill/>
        </p:spPr>
        <p:txBody>
          <a:bodyPr wrap="square" tIns="0" lIns="0" rIns="0" bIns="0">
            <a:spAutoFit/>
          </a:bodyPr>
          <a:lstStyle/>
          <a:p>
            <a:pPr>
              <a:lnSpc>
                <a:spcPct val="110000"/>
              </a:lnSpc>
              <a:spcAft>
                <a:spcPts val="0"/>
              </a:spcAft>
              <a:defRPr sz="1900" b="0">
                <a:solidFill>
                  <a:srgbClr val="364653"/>
                </a:solidFill>
                <a:latin typeface="Consolas"/>
              </a:defRPr>
            </a:pPr>
            <a:r>
              <a:t>b.txt</a:t>
            </a:r>
          </a:p>
        </p:txBody>
      </p:sp>
      <p:sp>
        <p:nvSpPr>
          <p:cNvPr id="13" name="Right Arrow 12"/>
          <p:cNvSpPr/>
          <p:nvPr/>
        </p:nvSpPr>
        <p:spPr>
          <a:xfrm>
            <a:off x="3337560" y="2798064"/>
            <a:ext cx="960120" cy="201168"/>
          </a:xfrm>
          <a:prstGeom prst="rightArrow">
            <a:avLst/>
          </a:prstGeom>
          <a:solidFill>
            <a:srgbClr val="456B88"/>
          </a:solidFill>
          <a:ln>
            <a:noFill/>
          </a:ln>
        </p:spPr>
        <p:txBody>
          <a:bodyPr rtlCol="0" anchor="ctr"/>
          <a:lstStyle/>
          <a:p>
            <a:pPr algn="ctr"/>
          </a:p>
        </p:txBody>
      </p:sp>
      <p:sp>
        <p:nvSpPr>
          <p:cNvPr id="14" name="Right Arrow 13"/>
          <p:cNvSpPr/>
          <p:nvPr/>
        </p:nvSpPr>
        <p:spPr>
          <a:xfrm>
            <a:off x="3337560" y="3895344"/>
            <a:ext cx="960120" cy="201168"/>
          </a:xfrm>
          <a:prstGeom prst="rightArrow">
            <a:avLst/>
          </a:prstGeom>
          <a:solidFill>
            <a:srgbClr val="456B88"/>
          </a:solidFill>
          <a:ln>
            <a:noFill/>
          </a:ln>
        </p:spPr>
        <p:txBody>
          <a:bodyPr rtlCol="0" anchor="ctr"/>
          <a:lstStyle/>
          <a:p>
            <a:pPr algn="ctr"/>
          </a:p>
        </p:txBody>
      </p:sp>
      <p:sp>
        <p:nvSpPr>
          <p:cNvPr id="15" name="Rectangle 14"/>
          <p:cNvSpPr/>
          <p:nvPr/>
        </p:nvSpPr>
        <p:spPr>
          <a:xfrm>
            <a:off x="4572000" y="2468880"/>
            <a:ext cx="3246120" cy="2240280"/>
          </a:xfrm>
          <a:prstGeom prst="rect">
            <a:avLst/>
          </a:prstGeom>
          <a:solidFill>
            <a:srgbClr val="E6EDF1"/>
          </a:solidFill>
          <a:ln>
            <a:noFill/>
          </a:ln>
        </p:spPr>
        <p:txBody>
          <a:bodyPr rtlCol="0" anchor="ctr"/>
          <a:lstStyle/>
          <a:p>
            <a:pPr algn="ctr"/>
          </a:p>
        </p:txBody>
      </p:sp>
      <p:sp>
        <p:nvSpPr>
          <p:cNvPr id="16" name="TextBox 15"/>
          <p:cNvSpPr txBox="1"/>
          <p:nvPr/>
        </p:nvSpPr>
        <p:spPr>
          <a:xfrm>
            <a:off x="4800600" y="2697480"/>
            <a:ext cx="2743200" cy="548640"/>
          </a:xfrm>
          <a:prstGeom prst="rect">
            <a:avLst/>
          </a:prstGeom>
          <a:noFill/>
        </p:spPr>
        <p:txBody>
          <a:bodyPr wrap="square" tIns="0" lIns="0" rIns="0" bIns="0">
            <a:spAutoFit/>
          </a:bodyPr>
          <a:lstStyle/>
          <a:p>
            <a:pPr>
              <a:lnSpc>
                <a:spcPct val="110000"/>
              </a:lnSpc>
              <a:spcAft>
                <a:spcPts val="0"/>
              </a:spcAft>
              <a:defRPr sz="3000" b="1">
                <a:solidFill>
                  <a:srgbClr val="456B88"/>
                </a:solidFill>
                <a:latin typeface="Consolas"/>
              </a:defRPr>
            </a:pPr>
            <a:r>
              <a:t>inode 42</a:t>
            </a:r>
          </a:p>
        </p:txBody>
      </p:sp>
      <p:sp>
        <p:nvSpPr>
          <p:cNvPr id="17" name="TextBox 16"/>
          <p:cNvSpPr txBox="1"/>
          <p:nvPr/>
        </p:nvSpPr>
        <p:spPr>
          <a:xfrm>
            <a:off x="4800600" y="3410712"/>
            <a:ext cx="2788920" cy="1005840"/>
          </a:xfrm>
          <a:prstGeom prst="rect">
            <a:avLst/>
          </a:prstGeom>
          <a:noFill/>
        </p:spPr>
        <p:txBody>
          <a:bodyPr wrap="square" tIns="0" lIns="0" rIns="0" bIns="0">
            <a:spAutoFit/>
          </a:bodyPr>
          <a:lstStyle/>
          <a:p>
            <a:pPr>
              <a:lnSpc>
                <a:spcPct val="110000"/>
              </a:lnSpc>
              <a:spcAft>
                <a:spcPts val="300"/>
              </a:spcAft>
              <a:defRPr sz="1900" b="0">
                <a:solidFill>
                  <a:srgbClr val="364653"/>
                </a:solidFill>
                <a:latin typeface="Consolas"/>
              </a:defRPr>
            </a:pPr>
            <a:r>
              <a:t>mode · UID · GID</a:t>
            </a:r>
          </a:p>
          <a:p>
            <a:pPr>
              <a:lnSpc>
                <a:spcPct val="110000"/>
              </a:lnSpc>
              <a:spcAft>
                <a:spcPts val="0"/>
              </a:spcAft>
              <a:defRPr sz="1900" b="0">
                <a:solidFill>
                  <a:srgbClr val="364653"/>
                </a:solidFill>
                <a:latin typeface="Consolas"/>
              </a:defRPr>
            </a:pPr>
            <a:r>
              <a:t>size · mtime · nlink</a:t>
            </a:r>
          </a:p>
        </p:txBody>
      </p:sp>
      <p:sp>
        <p:nvSpPr>
          <p:cNvPr id="18" name="TextBox 17"/>
          <p:cNvSpPr txBox="1"/>
          <p:nvPr/>
        </p:nvSpPr>
        <p:spPr>
          <a:xfrm>
            <a:off x="8229600" y="2670048"/>
            <a:ext cx="3063240" cy="2103120"/>
          </a:xfrm>
          <a:prstGeom prst="rect">
            <a:avLst/>
          </a:prstGeom>
          <a:noFill/>
        </p:spPr>
        <p:txBody>
          <a:bodyPr wrap="square" tIns="0" lIns="0" rIns="0" bIns="0">
            <a:spAutoFit/>
          </a:bodyPr>
          <a:lstStyle/>
          <a:p>
            <a:pPr>
              <a:lnSpc>
                <a:spcPct val="110000"/>
              </a:lnSpc>
              <a:spcAft>
                <a:spcPts val="300"/>
              </a:spcAft>
              <a:defRPr sz="2500" b="0">
                <a:solidFill>
                  <a:srgbClr val="364653"/>
                </a:solidFill>
                <a:latin typeface="Segoe UI"/>
              </a:defRPr>
            </a:pPr>
            <a:r>
              <a:t>Hai hard link</a:t>
            </a:r>
          </a:p>
          <a:p>
            <a:pPr>
              <a:lnSpc>
                <a:spcPct val="110000"/>
              </a:lnSpc>
              <a:spcAft>
                <a:spcPts val="300"/>
              </a:spcAft>
              <a:defRPr sz="2500" b="0">
                <a:solidFill>
                  <a:srgbClr val="364653"/>
                </a:solidFill>
                <a:latin typeface="Segoe UI"/>
              </a:defRPr>
            </a:pPr>
            <a:r>
              <a:t>Một inode</a:t>
            </a:r>
          </a:p>
          <a:p>
            <a:pPr>
              <a:lnSpc>
                <a:spcPct val="110000"/>
              </a:lnSpc>
              <a:spcAft>
                <a:spcPts val="300"/>
              </a:spcAft>
              <a:defRPr sz="2500" b="0">
                <a:solidFill>
                  <a:srgbClr val="364653"/>
                </a:solidFill>
                <a:latin typeface="Segoe UI"/>
              </a:defRPr>
            </a:pPr>
          </a:p>
          <a:p>
            <a:pPr>
              <a:lnSpc>
                <a:spcPct val="110000"/>
              </a:lnSpc>
              <a:spcAft>
                <a:spcPts val="0"/>
              </a:spcAft>
              <a:defRPr sz="2500" b="0">
                <a:solidFill>
                  <a:srgbClr val="364653"/>
                </a:solidFill>
                <a:latin typeface="Segoe UI"/>
              </a:defRPr>
            </a:pPr>
            <a:r>
              <a:t>st_nlink = 2</a:t>
            </a:r>
          </a:p>
        </p:txBody>
      </p:sp>
      <p:cxnSp>
        <p:nvCxnSpPr>
          <p:cNvPr id="19" name="Connector 18"/>
          <p:cNvCxnSpPr/>
          <p:nvPr/>
        </p:nvCxnSpPr>
        <p:spPr>
          <a:xfrm>
            <a:off x="777240" y="5257800"/>
            <a:ext cx="10607040" cy="0"/>
          </a:xfrm>
          <a:prstGeom prst="line">
            <a:avLst/>
          </a:prstGeom>
          <a:ln w="12700">
            <a:solidFill>
              <a:srgbClr val="D3D7D2"/>
            </a:solidFill>
          </a:ln>
        </p:spPr>
      </p:cxnSp>
      <p:sp>
        <p:nvSpPr>
          <p:cNvPr id="20" name="TextBox 19"/>
          <p:cNvSpPr txBox="1"/>
          <p:nvPr/>
        </p:nvSpPr>
        <p:spPr>
          <a:xfrm>
            <a:off x="777240" y="5559552"/>
            <a:ext cx="10698480" cy="502920"/>
          </a:xfrm>
          <a:prstGeom prst="rect">
            <a:avLst/>
          </a:prstGeom>
          <a:noFill/>
        </p:spPr>
        <p:txBody>
          <a:bodyPr wrap="square" tIns="0" lIns="0" rIns="0" bIns="0">
            <a:spAutoFit/>
          </a:bodyPr>
          <a:lstStyle/>
          <a:p>
            <a:pPr>
              <a:lnSpc>
                <a:spcPct val="110000"/>
              </a:lnSpc>
              <a:spcAft>
                <a:spcPts val="0"/>
              </a:spcAft>
              <a:defRPr sz="2400" b="1">
                <a:solidFill>
                  <a:srgbClr val="456B88"/>
                </a:solidFill>
                <a:latin typeface="Segoe UI"/>
              </a:defRPr>
            </a:pPr>
            <a:r>
              <a:t>struct dirent: tên  →  struct stat: metadata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TextBox 1"/>
          <p:cNvSpPr txBox="1"/>
          <p:nvPr/>
        </p:nvSpPr>
        <p:spPr>
          <a:xfrm>
            <a:off x="749808" y="429768"/>
            <a:ext cx="10698480" cy="594360"/>
          </a:xfrm>
          <a:prstGeom prst="rect">
            <a:avLst/>
          </a:prstGeom>
          <a:noFill/>
        </p:spPr>
        <p:txBody>
          <a:bodyPr wrap="square" tIns="0" lIns="0" rIns="0" bIns="0">
            <a:spAutoFit/>
          </a:bodyPr>
          <a:lstStyle/>
          <a:p>
            <a:pPr>
              <a:lnSpc>
                <a:spcPct val="110000"/>
              </a:lnSpc>
              <a:spcAft>
                <a:spcPts val="0"/>
              </a:spcAft>
              <a:defRPr sz="3000" b="1">
                <a:solidFill>
                  <a:srgbClr val="364653"/>
                </a:solidFill>
                <a:latin typeface="Segoe UI"/>
              </a:defRPr>
            </a:pPr>
            <a:r>
              <a:t>Một pipeline cho mọi tổ hợp cờ</a:t>
            </a:r>
          </a:p>
        </p:txBody>
      </p:sp>
      <p:sp>
        <p:nvSpPr>
          <p:cNvPr id="3" name="TextBox 2"/>
          <p:cNvSpPr txBox="1"/>
          <p:nvPr/>
        </p:nvSpPr>
        <p:spPr>
          <a:xfrm>
            <a:off x="777240" y="1133856"/>
            <a:ext cx="10607040" cy="502920"/>
          </a:xfrm>
          <a:prstGeom prst="rect">
            <a:avLst/>
          </a:prstGeom>
          <a:noFill/>
        </p:spPr>
        <p:txBody>
          <a:bodyPr wrap="square" tIns="0" lIns="0" rIns="0" bIns="0">
            <a:spAutoFit/>
          </a:bodyPr>
          <a:lstStyle/>
          <a:p>
            <a:pPr>
              <a:lnSpc>
                <a:spcPct val="110000"/>
              </a:lnSpc>
              <a:spcAft>
                <a:spcPts val="0"/>
              </a:spcAft>
              <a:defRPr sz="1800" b="0">
                <a:solidFill>
                  <a:srgbClr val="5B6870"/>
                </a:solidFill>
                <a:latin typeface="Segoe UI"/>
              </a:defRPr>
            </a:pPr>
            <a:r>
              <a:t>Thu thập → sắp xếp → in thư mục hiện tại → duyệt tiếp nếu có -R.</a:t>
            </a:r>
          </a:p>
        </p:txBody>
      </p:sp>
      <p:cxnSp>
        <p:nvCxnSpPr>
          <p:cNvPr id="4" name="Connector 3"/>
          <p:cNvCxnSpPr/>
          <p:nvPr/>
        </p:nvCxnSpPr>
        <p:spPr>
          <a:xfrm>
            <a:off x="10762488" y="6537960"/>
            <a:ext cx="237744" cy="0"/>
          </a:xfrm>
          <a:prstGeom prst="line">
            <a:avLst/>
          </a:prstGeom>
          <a:ln w="12700">
            <a:solidFill>
              <a:srgbClr val="D3D7D2"/>
            </a:solidFill>
          </a:ln>
        </p:spPr>
      </p:cxnSp>
      <p:sp>
        <p:nvSpPr>
          <p:cNvPr id="5" name="TextBox 4"/>
          <p:cNvSpPr txBox="1"/>
          <p:nvPr/>
        </p:nvSpPr>
        <p:spPr>
          <a:xfrm>
            <a:off x="11082528" y="6419088"/>
            <a:ext cx="411480" cy="274320"/>
          </a:xfrm>
          <a:prstGeom prst="rect">
            <a:avLst/>
          </a:prstGeom>
          <a:noFill/>
        </p:spPr>
        <p:txBody>
          <a:bodyPr wrap="square" tIns="0" lIns="0" rIns="0" bIns="0">
            <a:spAutoFit/>
          </a:bodyPr>
          <a:lstStyle/>
          <a:p>
            <a:pPr algn="ctr">
              <a:lnSpc>
                <a:spcPct val="110000"/>
              </a:lnSpc>
              <a:spcAft>
                <a:spcPts val="0"/>
              </a:spcAft>
              <a:defRPr sz="1000" b="0">
                <a:solidFill>
                  <a:srgbClr val="5B6870"/>
                </a:solidFill>
                <a:latin typeface="Segoe UI"/>
              </a:defRPr>
            </a:pPr>
            <a:r>
              <a:t>05</a:t>
            </a:r>
          </a:p>
        </p:txBody>
      </p:sp>
      <p:sp>
        <p:nvSpPr>
          <p:cNvPr id="6" name="Oval 5"/>
          <p:cNvSpPr/>
          <p:nvPr/>
        </p:nvSpPr>
        <p:spPr>
          <a:xfrm>
            <a:off x="1325880" y="2057400"/>
            <a:ext cx="548640" cy="548640"/>
          </a:xfrm>
          <a:prstGeom prst="ellipse">
            <a:avLst/>
          </a:prstGeom>
          <a:solidFill>
            <a:srgbClr val="456B88"/>
          </a:solidFill>
          <a:ln>
            <a:noFill/>
          </a:ln>
        </p:spPr>
        <p:txBody>
          <a:bodyPr rtlCol="0" anchor="ctr"/>
          <a:lstStyle/>
          <a:p>
            <a:pPr algn="ctr"/>
          </a:p>
        </p:txBody>
      </p:sp>
      <p:sp>
        <p:nvSpPr>
          <p:cNvPr id="7" name="TextBox 6"/>
          <p:cNvSpPr txBox="1"/>
          <p:nvPr/>
        </p:nvSpPr>
        <p:spPr>
          <a:xfrm>
            <a:off x="1325880" y="2107692"/>
            <a:ext cx="548640" cy="329184"/>
          </a:xfrm>
          <a:prstGeom prst="rect">
            <a:avLst/>
          </a:prstGeom>
          <a:noFill/>
        </p:spPr>
        <p:txBody>
          <a:bodyPr wrap="square" tIns="0" lIns="0" rIns="0" bIns="0">
            <a:spAutoFit/>
          </a:bodyPr>
          <a:lstStyle/>
          <a:p>
            <a:pPr algn="ctr">
              <a:lnSpc>
                <a:spcPct val="110000"/>
              </a:lnSpc>
              <a:spcAft>
                <a:spcPts val="0"/>
              </a:spcAft>
              <a:defRPr sz="1800" b="1">
                <a:solidFill>
                  <a:srgbClr val="FFFDFA"/>
                </a:solidFill>
                <a:latin typeface="Segoe UI"/>
              </a:defRPr>
            </a:pPr>
            <a:r>
              <a:t>1</a:t>
            </a:r>
          </a:p>
        </p:txBody>
      </p:sp>
      <p:sp>
        <p:nvSpPr>
          <p:cNvPr id="8" name="TextBox 7"/>
          <p:cNvSpPr txBox="1"/>
          <p:nvPr/>
        </p:nvSpPr>
        <p:spPr>
          <a:xfrm>
            <a:off x="777240" y="2880360"/>
            <a:ext cx="2560320" cy="548640"/>
          </a:xfrm>
          <a:prstGeom prst="rect">
            <a:avLst/>
          </a:prstGeom>
          <a:noFill/>
        </p:spPr>
        <p:txBody>
          <a:bodyPr wrap="square" tIns="0" lIns="0" rIns="0" bIns="0">
            <a:spAutoFit/>
          </a:bodyPr>
          <a:lstStyle/>
          <a:p>
            <a:pPr>
              <a:lnSpc>
                <a:spcPct val="110000"/>
              </a:lnSpc>
              <a:spcAft>
                <a:spcPts val="0"/>
              </a:spcAft>
              <a:defRPr sz="2900" b="1">
                <a:solidFill>
                  <a:srgbClr val="364653"/>
                </a:solidFill>
                <a:latin typeface="Segoe UI"/>
              </a:defRPr>
            </a:pPr>
            <a:r>
              <a:t>Đọc CLI</a:t>
            </a:r>
          </a:p>
        </p:txBody>
      </p:sp>
      <p:sp>
        <p:nvSpPr>
          <p:cNvPr id="9" name="TextBox 8"/>
          <p:cNvSpPr txBox="1"/>
          <p:nvPr/>
        </p:nvSpPr>
        <p:spPr>
          <a:xfrm>
            <a:off x="777240" y="3611880"/>
            <a:ext cx="2560320" cy="457200"/>
          </a:xfrm>
          <a:prstGeom prst="rect">
            <a:avLst/>
          </a:prstGeom>
          <a:noFill/>
        </p:spPr>
        <p:txBody>
          <a:bodyPr wrap="square" tIns="0" lIns="0" rIns="0" bIns="0">
            <a:spAutoFit/>
          </a:bodyPr>
          <a:lstStyle/>
          <a:p>
            <a:pPr>
              <a:lnSpc>
                <a:spcPct val="110000"/>
              </a:lnSpc>
              <a:spcAft>
                <a:spcPts val="0"/>
              </a:spcAft>
              <a:defRPr sz="1900" b="0">
                <a:solidFill>
                  <a:srgbClr val="5B6870"/>
                </a:solidFill>
                <a:latin typeface="Consolas"/>
              </a:defRPr>
            </a:pPr>
            <a:r>
              <a:t>main + options</a:t>
            </a:r>
          </a:p>
        </p:txBody>
      </p:sp>
      <p:sp>
        <p:nvSpPr>
          <p:cNvPr id="10" name="Right Arrow 9"/>
          <p:cNvSpPr/>
          <p:nvPr/>
        </p:nvSpPr>
        <p:spPr>
          <a:xfrm>
            <a:off x="2935224" y="3081528"/>
            <a:ext cx="457200" cy="201168"/>
          </a:xfrm>
          <a:prstGeom prst="rightArrow">
            <a:avLst/>
          </a:prstGeom>
          <a:solidFill>
            <a:srgbClr val="456B88"/>
          </a:solidFill>
          <a:ln>
            <a:noFill/>
          </a:ln>
        </p:spPr>
        <p:txBody>
          <a:bodyPr rtlCol="0" anchor="ctr"/>
          <a:lstStyle/>
          <a:p>
            <a:pPr algn="ctr"/>
          </a:p>
        </p:txBody>
      </p:sp>
      <p:sp>
        <p:nvSpPr>
          <p:cNvPr id="11" name="Oval 10"/>
          <p:cNvSpPr/>
          <p:nvPr/>
        </p:nvSpPr>
        <p:spPr>
          <a:xfrm>
            <a:off x="4178808" y="2057400"/>
            <a:ext cx="548640" cy="548640"/>
          </a:xfrm>
          <a:prstGeom prst="ellipse">
            <a:avLst/>
          </a:prstGeom>
          <a:solidFill>
            <a:srgbClr val="5C7359"/>
          </a:solidFill>
          <a:ln>
            <a:noFill/>
          </a:ln>
        </p:spPr>
        <p:txBody>
          <a:bodyPr rtlCol="0" anchor="ctr"/>
          <a:lstStyle/>
          <a:p>
            <a:pPr algn="ctr"/>
          </a:p>
        </p:txBody>
      </p:sp>
      <p:sp>
        <p:nvSpPr>
          <p:cNvPr id="12" name="TextBox 11"/>
          <p:cNvSpPr txBox="1"/>
          <p:nvPr/>
        </p:nvSpPr>
        <p:spPr>
          <a:xfrm>
            <a:off x="4178808" y="2107692"/>
            <a:ext cx="548640" cy="329184"/>
          </a:xfrm>
          <a:prstGeom prst="rect">
            <a:avLst/>
          </a:prstGeom>
          <a:noFill/>
        </p:spPr>
        <p:txBody>
          <a:bodyPr wrap="square" tIns="0" lIns="0" rIns="0" bIns="0">
            <a:spAutoFit/>
          </a:bodyPr>
          <a:lstStyle/>
          <a:p>
            <a:pPr algn="ctr">
              <a:lnSpc>
                <a:spcPct val="110000"/>
              </a:lnSpc>
              <a:spcAft>
                <a:spcPts val="0"/>
              </a:spcAft>
              <a:defRPr sz="1800" b="1">
                <a:solidFill>
                  <a:srgbClr val="FFFDFA"/>
                </a:solidFill>
                <a:latin typeface="Segoe UI"/>
              </a:defRPr>
            </a:pPr>
            <a:r>
              <a:t>2</a:t>
            </a:r>
          </a:p>
        </p:txBody>
      </p:sp>
      <p:sp>
        <p:nvSpPr>
          <p:cNvPr id="13" name="TextBox 12"/>
          <p:cNvSpPr txBox="1"/>
          <p:nvPr/>
        </p:nvSpPr>
        <p:spPr>
          <a:xfrm>
            <a:off x="3630168" y="2880360"/>
            <a:ext cx="2560320" cy="548640"/>
          </a:xfrm>
          <a:prstGeom prst="rect">
            <a:avLst/>
          </a:prstGeom>
          <a:noFill/>
        </p:spPr>
        <p:txBody>
          <a:bodyPr wrap="square" tIns="0" lIns="0" rIns="0" bIns="0">
            <a:spAutoFit/>
          </a:bodyPr>
          <a:lstStyle/>
          <a:p>
            <a:pPr>
              <a:lnSpc>
                <a:spcPct val="110000"/>
              </a:lnSpc>
              <a:spcAft>
                <a:spcPts val="0"/>
              </a:spcAft>
              <a:defRPr sz="2900" b="1">
                <a:solidFill>
                  <a:srgbClr val="364653"/>
                </a:solidFill>
                <a:latin typeface="Segoe UI"/>
              </a:defRPr>
            </a:pPr>
            <a:r>
              <a:t>Thu thập</a:t>
            </a:r>
          </a:p>
        </p:txBody>
      </p:sp>
      <p:sp>
        <p:nvSpPr>
          <p:cNvPr id="14" name="TextBox 13"/>
          <p:cNvSpPr txBox="1"/>
          <p:nvPr/>
        </p:nvSpPr>
        <p:spPr>
          <a:xfrm>
            <a:off x="3630168" y="3611880"/>
            <a:ext cx="2560320" cy="457200"/>
          </a:xfrm>
          <a:prstGeom prst="rect">
            <a:avLst/>
          </a:prstGeom>
          <a:noFill/>
        </p:spPr>
        <p:txBody>
          <a:bodyPr wrap="square" tIns="0" lIns="0" rIns="0" bIns="0">
            <a:spAutoFit/>
          </a:bodyPr>
          <a:lstStyle/>
          <a:p>
            <a:pPr>
              <a:lnSpc>
                <a:spcPct val="110000"/>
              </a:lnSpc>
              <a:spcAft>
                <a:spcPts val="0"/>
              </a:spcAft>
              <a:defRPr sz="1900" b="0">
                <a:solidFill>
                  <a:srgbClr val="5B6870"/>
                </a:solidFill>
                <a:latin typeface="Consolas"/>
              </a:defRPr>
            </a:pPr>
            <a:r>
              <a:t>directory</a:t>
            </a:r>
          </a:p>
        </p:txBody>
      </p:sp>
      <p:sp>
        <p:nvSpPr>
          <p:cNvPr id="15" name="Right Arrow 14"/>
          <p:cNvSpPr/>
          <p:nvPr/>
        </p:nvSpPr>
        <p:spPr>
          <a:xfrm>
            <a:off x="5788152" y="3081528"/>
            <a:ext cx="457200" cy="201168"/>
          </a:xfrm>
          <a:prstGeom prst="rightArrow">
            <a:avLst/>
          </a:prstGeom>
          <a:solidFill>
            <a:srgbClr val="456B88"/>
          </a:solidFill>
          <a:ln>
            <a:noFill/>
          </a:ln>
        </p:spPr>
        <p:txBody>
          <a:bodyPr rtlCol="0" anchor="ctr"/>
          <a:lstStyle/>
          <a:p>
            <a:pPr algn="ctr"/>
          </a:p>
        </p:txBody>
      </p:sp>
      <p:sp>
        <p:nvSpPr>
          <p:cNvPr id="16" name="Oval 15"/>
          <p:cNvSpPr/>
          <p:nvPr/>
        </p:nvSpPr>
        <p:spPr>
          <a:xfrm>
            <a:off x="7031736" y="2057400"/>
            <a:ext cx="548640" cy="548640"/>
          </a:xfrm>
          <a:prstGeom prst="ellipse">
            <a:avLst/>
          </a:prstGeom>
          <a:solidFill>
            <a:srgbClr val="9B624B"/>
          </a:solidFill>
          <a:ln>
            <a:noFill/>
          </a:ln>
        </p:spPr>
        <p:txBody>
          <a:bodyPr rtlCol="0" anchor="ctr"/>
          <a:lstStyle/>
          <a:p>
            <a:pPr algn="ctr"/>
          </a:p>
        </p:txBody>
      </p:sp>
      <p:sp>
        <p:nvSpPr>
          <p:cNvPr id="17" name="TextBox 16"/>
          <p:cNvSpPr txBox="1"/>
          <p:nvPr/>
        </p:nvSpPr>
        <p:spPr>
          <a:xfrm>
            <a:off x="7031736" y="2107692"/>
            <a:ext cx="548640" cy="329184"/>
          </a:xfrm>
          <a:prstGeom prst="rect">
            <a:avLst/>
          </a:prstGeom>
          <a:noFill/>
        </p:spPr>
        <p:txBody>
          <a:bodyPr wrap="square" tIns="0" lIns="0" rIns="0" bIns="0">
            <a:spAutoFit/>
          </a:bodyPr>
          <a:lstStyle/>
          <a:p>
            <a:pPr algn="ctr">
              <a:lnSpc>
                <a:spcPct val="110000"/>
              </a:lnSpc>
              <a:spcAft>
                <a:spcPts val="0"/>
              </a:spcAft>
              <a:defRPr sz="1800" b="1">
                <a:solidFill>
                  <a:srgbClr val="FFFDFA"/>
                </a:solidFill>
                <a:latin typeface="Segoe UI"/>
              </a:defRPr>
            </a:pPr>
            <a:r>
              <a:t>3</a:t>
            </a:r>
          </a:p>
        </p:txBody>
      </p:sp>
      <p:sp>
        <p:nvSpPr>
          <p:cNvPr id="18" name="TextBox 17"/>
          <p:cNvSpPr txBox="1"/>
          <p:nvPr/>
        </p:nvSpPr>
        <p:spPr>
          <a:xfrm>
            <a:off x="6483096" y="2880360"/>
            <a:ext cx="2560320" cy="548640"/>
          </a:xfrm>
          <a:prstGeom prst="rect">
            <a:avLst/>
          </a:prstGeom>
          <a:noFill/>
        </p:spPr>
        <p:txBody>
          <a:bodyPr wrap="square" tIns="0" lIns="0" rIns="0" bIns="0">
            <a:spAutoFit/>
          </a:bodyPr>
          <a:lstStyle/>
          <a:p>
            <a:pPr>
              <a:lnSpc>
                <a:spcPct val="110000"/>
              </a:lnSpc>
              <a:spcAft>
                <a:spcPts val="0"/>
              </a:spcAft>
              <a:defRPr sz="2900" b="1">
                <a:solidFill>
                  <a:srgbClr val="364653"/>
                </a:solidFill>
                <a:latin typeface="Segoe UI"/>
              </a:defRPr>
            </a:pPr>
            <a:r>
              <a:t>Sắp xếp</a:t>
            </a:r>
          </a:p>
        </p:txBody>
      </p:sp>
      <p:sp>
        <p:nvSpPr>
          <p:cNvPr id="19" name="TextBox 18"/>
          <p:cNvSpPr txBox="1"/>
          <p:nvPr/>
        </p:nvSpPr>
        <p:spPr>
          <a:xfrm>
            <a:off x="6483096" y="3611880"/>
            <a:ext cx="2560320" cy="457200"/>
          </a:xfrm>
          <a:prstGeom prst="rect">
            <a:avLst/>
          </a:prstGeom>
          <a:noFill/>
        </p:spPr>
        <p:txBody>
          <a:bodyPr wrap="square" tIns="0" lIns="0" rIns="0" bIns="0">
            <a:spAutoFit/>
          </a:bodyPr>
          <a:lstStyle/>
          <a:p>
            <a:pPr>
              <a:lnSpc>
                <a:spcPct val="110000"/>
              </a:lnSpc>
              <a:spcAft>
                <a:spcPts val="0"/>
              </a:spcAft>
              <a:defRPr sz="1900" b="0">
                <a:solidFill>
                  <a:srgbClr val="5B6870"/>
                </a:solidFill>
                <a:latin typeface="Consolas"/>
              </a:defRPr>
            </a:pPr>
            <a:r>
              <a:t>sorting</a:t>
            </a:r>
          </a:p>
        </p:txBody>
      </p:sp>
      <p:sp>
        <p:nvSpPr>
          <p:cNvPr id="20" name="Right Arrow 19"/>
          <p:cNvSpPr/>
          <p:nvPr/>
        </p:nvSpPr>
        <p:spPr>
          <a:xfrm>
            <a:off x="8641080" y="3081528"/>
            <a:ext cx="457200" cy="201168"/>
          </a:xfrm>
          <a:prstGeom prst="rightArrow">
            <a:avLst/>
          </a:prstGeom>
          <a:solidFill>
            <a:srgbClr val="456B88"/>
          </a:solidFill>
          <a:ln>
            <a:noFill/>
          </a:ln>
        </p:spPr>
        <p:txBody>
          <a:bodyPr rtlCol="0" anchor="ctr"/>
          <a:lstStyle/>
          <a:p>
            <a:pPr algn="ctr"/>
          </a:p>
        </p:txBody>
      </p:sp>
      <p:sp>
        <p:nvSpPr>
          <p:cNvPr id="21" name="Oval 20"/>
          <p:cNvSpPr/>
          <p:nvPr/>
        </p:nvSpPr>
        <p:spPr>
          <a:xfrm>
            <a:off x="9884663" y="2057400"/>
            <a:ext cx="548640" cy="548640"/>
          </a:xfrm>
          <a:prstGeom prst="ellipse">
            <a:avLst/>
          </a:prstGeom>
          <a:solidFill>
            <a:srgbClr val="456B88"/>
          </a:solidFill>
          <a:ln>
            <a:noFill/>
          </a:ln>
        </p:spPr>
        <p:txBody>
          <a:bodyPr rtlCol="0" anchor="ctr"/>
          <a:lstStyle/>
          <a:p>
            <a:pPr algn="ctr"/>
          </a:p>
        </p:txBody>
      </p:sp>
      <p:sp>
        <p:nvSpPr>
          <p:cNvPr id="22" name="TextBox 21"/>
          <p:cNvSpPr txBox="1"/>
          <p:nvPr/>
        </p:nvSpPr>
        <p:spPr>
          <a:xfrm>
            <a:off x="9884663" y="2107692"/>
            <a:ext cx="548640" cy="329184"/>
          </a:xfrm>
          <a:prstGeom prst="rect">
            <a:avLst/>
          </a:prstGeom>
          <a:noFill/>
        </p:spPr>
        <p:txBody>
          <a:bodyPr wrap="square" tIns="0" lIns="0" rIns="0" bIns="0">
            <a:spAutoFit/>
          </a:bodyPr>
          <a:lstStyle/>
          <a:p>
            <a:pPr algn="ctr">
              <a:lnSpc>
                <a:spcPct val="110000"/>
              </a:lnSpc>
              <a:spcAft>
                <a:spcPts val="0"/>
              </a:spcAft>
              <a:defRPr sz="1800" b="1">
                <a:solidFill>
                  <a:srgbClr val="FFFDFA"/>
                </a:solidFill>
                <a:latin typeface="Segoe UI"/>
              </a:defRPr>
            </a:pPr>
            <a:r>
              <a:t>4</a:t>
            </a:r>
          </a:p>
        </p:txBody>
      </p:sp>
      <p:sp>
        <p:nvSpPr>
          <p:cNvPr id="23" name="TextBox 22"/>
          <p:cNvSpPr txBox="1"/>
          <p:nvPr/>
        </p:nvSpPr>
        <p:spPr>
          <a:xfrm>
            <a:off x="9336024" y="2880360"/>
            <a:ext cx="2560320" cy="548640"/>
          </a:xfrm>
          <a:prstGeom prst="rect">
            <a:avLst/>
          </a:prstGeom>
          <a:noFill/>
        </p:spPr>
        <p:txBody>
          <a:bodyPr wrap="square" tIns="0" lIns="0" rIns="0" bIns="0">
            <a:spAutoFit/>
          </a:bodyPr>
          <a:lstStyle/>
          <a:p>
            <a:pPr>
              <a:lnSpc>
                <a:spcPct val="110000"/>
              </a:lnSpc>
              <a:spcAft>
                <a:spcPts val="0"/>
              </a:spcAft>
              <a:defRPr sz="2900" b="1">
                <a:solidFill>
                  <a:srgbClr val="364653"/>
                </a:solidFill>
                <a:latin typeface="Segoe UI"/>
              </a:defRPr>
            </a:pPr>
            <a:r>
              <a:t>Hiển thị</a:t>
            </a:r>
          </a:p>
        </p:txBody>
      </p:sp>
      <p:sp>
        <p:nvSpPr>
          <p:cNvPr id="24" name="TextBox 23"/>
          <p:cNvSpPr txBox="1"/>
          <p:nvPr/>
        </p:nvSpPr>
        <p:spPr>
          <a:xfrm>
            <a:off x="9336024" y="3611880"/>
            <a:ext cx="2560320" cy="457200"/>
          </a:xfrm>
          <a:prstGeom prst="rect">
            <a:avLst/>
          </a:prstGeom>
          <a:noFill/>
        </p:spPr>
        <p:txBody>
          <a:bodyPr wrap="square" tIns="0" lIns="0" rIns="0" bIns="0">
            <a:spAutoFit/>
          </a:bodyPr>
          <a:lstStyle/>
          <a:p>
            <a:pPr>
              <a:lnSpc>
                <a:spcPct val="110000"/>
              </a:lnSpc>
              <a:spcAft>
                <a:spcPts val="0"/>
              </a:spcAft>
              <a:defRPr sz="1900" b="0">
                <a:solidFill>
                  <a:srgbClr val="5B6870"/>
                </a:solidFill>
                <a:latin typeface="Consolas"/>
              </a:defRPr>
            </a:pPr>
            <a:r>
              <a:t>display</a:t>
            </a:r>
          </a:p>
        </p:txBody>
      </p:sp>
      <p:sp>
        <p:nvSpPr>
          <p:cNvPr id="25" name="Rectangle 24"/>
          <p:cNvSpPr/>
          <p:nvPr/>
        </p:nvSpPr>
        <p:spPr>
          <a:xfrm>
            <a:off x="3749039" y="4599432"/>
            <a:ext cx="7589520" cy="1417320"/>
          </a:xfrm>
          <a:prstGeom prst="rect">
            <a:avLst/>
          </a:prstGeom>
          <a:solidFill>
            <a:srgbClr val="E7EDE1"/>
          </a:solidFill>
          <a:ln>
            <a:noFill/>
          </a:ln>
        </p:spPr>
        <p:txBody>
          <a:bodyPr rtlCol="0" anchor="ctr"/>
          <a:lstStyle/>
          <a:p>
            <a:pPr algn="ctr"/>
          </a:p>
        </p:txBody>
      </p:sp>
      <p:cxnSp>
        <p:nvCxnSpPr>
          <p:cNvPr id="26" name="Connector 25"/>
          <p:cNvCxnSpPr/>
          <p:nvPr/>
        </p:nvCxnSpPr>
        <p:spPr>
          <a:xfrm>
            <a:off x="10241280" y="4297680"/>
            <a:ext cx="0" cy="822960"/>
          </a:xfrm>
          <a:prstGeom prst="line">
            <a:avLst/>
          </a:prstGeom>
          <a:ln w="25400">
            <a:solidFill>
              <a:srgbClr val="5C7359"/>
            </a:solidFill>
          </a:ln>
        </p:spPr>
      </p:cxnSp>
      <p:cxnSp>
        <p:nvCxnSpPr>
          <p:cNvPr id="27" name="Connector 26"/>
          <p:cNvCxnSpPr/>
          <p:nvPr/>
        </p:nvCxnSpPr>
        <p:spPr>
          <a:xfrm flipH="1">
            <a:off x="4160520" y="5120640"/>
            <a:ext cx="6080760" cy="0"/>
          </a:xfrm>
          <a:prstGeom prst="line">
            <a:avLst/>
          </a:prstGeom>
          <a:ln w="25400">
            <a:solidFill>
              <a:srgbClr val="5C7359"/>
            </a:solidFill>
          </a:ln>
        </p:spPr>
      </p:cxnSp>
      <p:sp>
        <p:nvSpPr>
          <p:cNvPr id="28" name="Left Arrow 27"/>
          <p:cNvSpPr/>
          <p:nvPr/>
        </p:nvSpPr>
        <p:spPr>
          <a:xfrm>
            <a:off x="3931920" y="5020056"/>
            <a:ext cx="237744" cy="201168"/>
          </a:xfrm>
          <a:prstGeom prst="leftArrow">
            <a:avLst/>
          </a:prstGeom>
          <a:solidFill>
            <a:srgbClr val="5C7359"/>
          </a:solidFill>
          <a:ln>
            <a:noFill/>
          </a:ln>
        </p:spPr>
        <p:txBody>
          <a:bodyPr rtlCol="0" anchor="ctr"/>
          <a:lstStyle/>
          <a:p>
            <a:pPr algn="ctr"/>
          </a:p>
        </p:txBody>
      </p:sp>
      <p:sp>
        <p:nvSpPr>
          <p:cNvPr id="29" name="TextBox 28"/>
          <p:cNvSpPr txBox="1"/>
          <p:nvPr/>
        </p:nvSpPr>
        <p:spPr>
          <a:xfrm>
            <a:off x="4572000" y="5385816"/>
            <a:ext cx="6309360" cy="548640"/>
          </a:xfrm>
          <a:prstGeom prst="rect">
            <a:avLst/>
          </a:prstGeom>
          <a:noFill/>
        </p:spPr>
        <p:txBody>
          <a:bodyPr wrap="square" tIns="0" lIns="0" rIns="0" bIns="0">
            <a:spAutoFit/>
          </a:bodyPr>
          <a:lstStyle/>
          <a:p>
            <a:pPr>
              <a:lnSpc>
                <a:spcPct val="110000"/>
              </a:lnSpc>
              <a:spcAft>
                <a:spcPts val="0"/>
              </a:spcAft>
              <a:defRPr sz="2300" b="1">
                <a:solidFill>
                  <a:srgbClr val="456B88"/>
                </a:solidFill>
                <a:latin typeface="Segoe UI"/>
              </a:defRPr>
            </a:pPr>
            <a:r>
              <a:t>-R: lặp pipeline cho thư mục con thật</a:t>
            </a:r>
          </a:p>
        </p:txBody>
      </p:sp>
      <p:sp>
        <p:nvSpPr>
          <p:cNvPr id="30" name="TextBox 29"/>
          <p:cNvSpPr txBox="1"/>
          <p:nvPr/>
        </p:nvSpPr>
        <p:spPr>
          <a:xfrm>
            <a:off x="777240" y="5998464"/>
            <a:ext cx="10698480" cy="274320"/>
          </a:xfrm>
          <a:prstGeom prst="rect">
            <a:avLst/>
          </a:prstGeom>
          <a:noFill/>
        </p:spPr>
        <p:txBody>
          <a:bodyPr wrap="square" tIns="0" lIns="0" rIns="0" bIns="0">
            <a:spAutoFit/>
          </a:bodyPr>
          <a:lstStyle/>
          <a:p>
            <a:pPr>
              <a:lnSpc>
                <a:spcPct val="110000"/>
              </a:lnSpc>
              <a:spcAft>
                <a:spcPts val="0"/>
              </a:spcAft>
              <a:defRPr sz="1800" b="0">
                <a:solidFill>
                  <a:srgbClr val="5B6870"/>
                </a:solidFill>
                <a:latin typeface="Segoe UI"/>
              </a:defRPr>
            </a:pPr>
            <a:r>
              <a:t>Lỗi → stderr  ·  Exit status chỉ tăng mức nghiêm trọng: 0 → 1 →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TextBox 1"/>
          <p:cNvSpPr txBox="1"/>
          <p:nvPr/>
        </p:nvSpPr>
        <p:spPr>
          <a:xfrm>
            <a:off x="749808" y="429768"/>
            <a:ext cx="10698480" cy="594360"/>
          </a:xfrm>
          <a:prstGeom prst="rect">
            <a:avLst/>
          </a:prstGeom>
          <a:noFill/>
        </p:spPr>
        <p:txBody>
          <a:bodyPr wrap="square" tIns="0" lIns="0" rIns="0" bIns="0">
            <a:spAutoFit/>
          </a:bodyPr>
          <a:lstStyle/>
          <a:p>
            <a:pPr>
              <a:lnSpc>
                <a:spcPct val="110000"/>
              </a:lnSpc>
              <a:spcAft>
                <a:spcPts val="0"/>
              </a:spcAft>
              <a:defRPr sz="3000" b="1">
                <a:solidFill>
                  <a:srgbClr val="364653"/>
                </a:solidFill>
                <a:latin typeface="Segoe UI"/>
              </a:defRPr>
            </a:pPr>
            <a:r>
              <a:t>EntryList sở hữu dữ liệu của mỗi thư mục</a:t>
            </a:r>
          </a:p>
        </p:txBody>
      </p:sp>
      <p:sp>
        <p:nvSpPr>
          <p:cNvPr id="3" name="TextBox 2"/>
          <p:cNvSpPr txBox="1"/>
          <p:nvPr/>
        </p:nvSpPr>
        <p:spPr>
          <a:xfrm>
            <a:off x="777240" y="1133856"/>
            <a:ext cx="10607040" cy="502920"/>
          </a:xfrm>
          <a:prstGeom prst="rect">
            <a:avLst/>
          </a:prstGeom>
          <a:noFill/>
        </p:spPr>
        <p:txBody>
          <a:bodyPr wrap="square" tIns="0" lIns="0" rIns="0" bIns="0">
            <a:spAutoFit/>
          </a:bodyPr>
          <a:lstStyle/>
          <a:p>
            <a:pPr>
              <a:lnSpc>
                <a:spcPct val="110000"/>
              </a:lnSpc>
              <a:spcAft>
                <a:spcPts val="0"/>
              </a:spcAft>
              <a:defRPr sz="1800" b="0">
                <a:solidFill>
                  <a:srgbClr val="5B6870"/>
                </a:solidFill>
                <a:latin typeface="Segoe UI"/>
              </a:defRPr>
            </a:pPr>
            <a:r>
              <a:t>Không giữ con trỏ d_name qua lần readdir() kế tiếp; sao chép chuỗi vào heap.</a:t>
            </a:r>
          </a:p>
        </p:txBody>
      </p:sp>
      <p:cxnSp>
        <p:nvCxnSpPr>
          <p:cNvPr id="4" name="Connector 3"/>
          <p:cNvCxnSpPr/>
          <p:nvPr/>
        </p:nvCxnSpPr>
        <p:spPr>
          <a:xfrm>
            <a:off x="10762488" y="6537960"/>
            <a:ext cx="237744" cy="0"/>
          </a:xfrm>
          <a:prstGeom prst="line">
            <a:avLst/>
          </a:prstGeom>
          <a:ln w="12700">
            <a:solidFill>
              <a:srgbClr val="D3D7D2"/>
            </a:solidFill>
          </a:ln>
        </p:spPr>
      </p:cxnSp>
      <p:sp>
        <p:nvSpPr>
          <p:cNvPr id="5" name="TextBox 4"/>
          <p:cNvSpPr txBox="1"/>
          <p:nvPr/>
        </p:nvSpPr>
        <p:spPr>
          <a:xfrm>
            <a:off x="11082528" y="6419088"/>
            <a:ext cx="411480" cy="274320"/>
          </a:xfrm>
          <a:prstGeom prst="rect">
            <a:avLst/>
          </a:prstGeom>
          <a:noFill/>
        </p:spPr>
        <p:txBody>
          <a:bodyPr wrap="square" tIns="0" lIns="0" rIns="0" bIns="0">
            <a:spAutoFit/>
          </a:bodyPr>
          <a:lstStyle/>
          <a:p>
            <a:pPr algn="ctr">
              <a:lnSpc>
                <a:spcPct val="110000"/>
              </a:lnSpc>
              <a:spcAft>
                <a:spcPts val="0"/>
              </a:spcAft>
              <a:defRPr sz="1000" b="0">
                <a:solidFill>
                  <a:srgbClr val="5B6870"/>
                </a:solidFill>
                <a:latin typeface="Segoe UI"/>
              </a:defRPr>
            </a:pPr>
            <a:r>
              <a:t>06</a:t>
            </a:r>
          </a:p>
        </p:txBody>
      </p:sp>
      <p:pic>
        <p:nvPicPr>
          <p:cNvPr id="6" name="Illustration: memory_ownership" descr="Minh họa tạo bằng imagegen: Khay sở hữu ba ngăn, với ba thẻ chuỗi riêng nối từ ngăn đầu. Không phải ảnh chụp hay dữ liệu thực nghiệm."/>
          <p:cNvPicPr>
            <a:picLocks noChangeAspect="1"/>
          </p:cNvPicPr>
          <p:nvPr/>
        </p:nvPicPr>
        <p:blipFill>
          <a:blip r:embed="rId2"/>
          <a:stretch>
            <a:fillRect/>
          </a:stretch>
        </p:blipFill>
        <p:spPr>
          <a:xfrm>
            <a:off x="685800" y="1908810"/>
            <a:ext cx="3200400" cy="2400300"/>
          </a:xfrm>
          <a:prstGeom prst="rect">
            <a:avLst/>
          </a:prstGeom>
        </p:spPr>
      </p:pic>
      <p:sp>
        <p:nvSpPr>
          <p:cNvPr id="7" name="TextBox 6"/>
          <p:cNvSpPr txBox="1"/>
          <p:nvPr/>
        </p:nvSpPr>
        <p:spPr>
          <a:xfrm>
            <a:off x="868680" y="4526280"/>
            <a:ext cx="3017520" cy="457200"/>
          </a:xfrm>
          <a:prstGeom prst="rect">
            <a:avLst/>
          </a:prstGeom>
          <a:noFill/>
        </p:spPr>
        <p:txBody>
          <a:bodyPr wrap="square" tIns="0" lIns="0" rIns="0" bIns="0">
            <a:spAutoFit/>
          </a:bodyPr>
          <a:lstStyle/>
          <a:p>
            <a:pPr>
              <a:lnSpc>
                <a:spcPct val="110000"/>
              </a:lnSpc>
              <a:spcAft>
                <a:spcPts val="0"/>
              </a:spcAft>
              <a:defRPr sz="2600" b="1">
                <a:solidFill>
                  <a:srgbClr val="5C7359"/>
                </a:solidFill>
                <a:latin typeface="Consolas"/>
              </a:defRPr>
            </a:pPr>
            <a:r>
              <a:t>EntryList</a:t>
            </a:r>
          </a:p>
        </p:txBody>
      </p:sp>
      <p:sp>
        <p:nvSpPr>
          <p:cNvPr id="8" name="TextBox 7"/>
          <p:cNvSpPr txBox="1"/>
          <p:nvPr/>
        </p:nvSpPr>
        <p:spPr>
          <a:xfrm>
            <a:off x="868680" y="5001768"/>
            <a:ext cx="3108960" cy="365760"/>
          </a:xfrm>
          <a:prstGeom prst="rect">
            <a:avLst/>
          </a:prstGeom>
          <a:noFill/>
        </p:spPr>
        <p:txBody>
          <a:bodyPr wrap="square" tIns="0" lIns="0" rIns="0" bIns="0">
            <a:spAutoFit/>
          </a:bodyPr>
          <a:lstStyle/>
          <a:p>
            <a:pPr>
              <a:lnSpc>
                <a:spcPct val="110000"/>
              </a:lnSpc>
              <a:spcAft>
                <a:spcPts val="0"/>
              </a:spcAft>
              <a:defRPr sz="1700" b="0">
                <a:solidFill>
                  <a:srgbClr val="5B6870"/>
                </a:solidFill>
                <a:latin typeface="Consolas"/>
              </a:defRPr>
            </a:pPr>
            <a:r>
              <a:t>items · count · capacity</a:t>
            </a:r>
          </a:p>
        </p:txBody>
      </p:sp>
      <p:sp>
        <p:nvSpPr>
          <p:cNvPr id="9" name="TextBox 8"/>
          <p:cNvSpPr txBox="1"/>
          <p:nvPr/>
        </p:nvSpPr>
        <p:spPr>
          <a:xfrm>
            <a:off x="4251960" y="1874519"/>
            <a:ext cx="4572000" cy="411480"/>
          </a:xfrm>
          <a:prstGeom prst="rect">
            <a:avLst/>
          </a:prstGeom>
          <a:noFill/>
        </p:spPr>
        <p:txBody>
          <a:bodyPr wrap="square" tIns="0" lIns="0" rIns="0" bIns="0">
            <a:spAutoFit/>
          </a:bodyPr>
          <a:lstStyle/>
          <a:p>
            <a:pPr>
              <a:lnSpc>
                <a:spcPct val="110000"/>
              </a:lnSpc>
              <a:spcAft>
                <a:spcPts val="0"/>
              </a:spcAft>
              <a:defRPr sz="2100" b="1">
                <a:solidFill>
                  <a:srgbClr val="456B88"/>
                </a:solidFill>
                <a:latin typeface="Consolas"/>
              </a:defRPr>
            </a:pPr>
            <a:r>
              <a:t>EntryList.items</a:t>
            </a:r>
          </a:p>
        </p:txBody>
      </p:sp>
      <p:sp>
        <p:nvSpPr>
          <p:cNvPr id="10" name="Rectangle 9"/>
          <p:cNvSpPr/>
          <p:nvPr/>
        </p:nvSpPr>
        <p:spPr>
          <a:xfrm>
            <a:off x="4251960" y="2487168"/>
            <a:ext cx="2194560" cy="868680"/>
          </a:xfrm>
          <a:prstGeom prst="rect">
            <a:avLst/>
          </a:prstGeom>
          <a:solidFill>
            <a:srgbClr val="E6EDF1"/>
          </a:solidFill>
          <a:ln w="12700">
            <a:solidFill>
              <a:srgbClr val="D3D7D2"/>
            </a:solidFill>
          </a:ln>
        </p:spPr>
        <p:txBody>
          <a:bodyPr rtlCol="0" anchor="ctr"/>
          <a:lstStyle/>
          <a:p>
            <a:pPr algn="ctr"/>
          </a:p>
        </p:txBody>
      </p:sp>
      <p:sp>
        <p:nvSpPr>
          <p:cNvPr id="11" name="TextBox 10"/>
          <p:cNvSpPr txBox="1"/>
          <p:nvPr/>
        </p:nvSpPr>
        <p:spPr>
          <a:xfrm>
            <a:off x="4425696" y="2743200"/>
            <a:ext cx="1828800" cy="365760"/>
          </a:xfrm>
          <a:prstGeom prst="rect">
            <a:avLst/>
          </a:prstGeom>
          <a:noFill/>
        </p:spPr>
        <p:txBody>
          <a:bodyPr wrap="square" tIns="0" lIns="0" rIns="0" bIns="0">
            <a:spAutoFit/>
          </a:bodyPr>
          <a:lstStyle/>
          <a:p>
            <a:pPr>
              <a:lnSpc>
                <a:spcPct val="110000"/>
              </a:lnSpc>
              <a:spcAft>
                <a:spcPts val="0"/>
              </a:spcAft>
              <a:defRPr sz="2100" b="1">
                <a:solidFill>
                  <a:srgbClr val="364653"/>
                </a:solidFill>
                <a:latin typeface="Consolas"/>
              </a:defRPr>
            </a:pPr>
            <a:r>
              <a:t>entry[0]</a:t>
            </a:r>
          </a:p>
        </p:txBody>
      </p:sp>
      <p:sp>
        <p:nvSpPr>
          <p:cNvPr id="12" name="Rectangle 11"/>
          <p:cNvSpPr/>
          <p:nvPr/>
        </p:nvSpPr>
        <p:spPr>
          <a:xfrm>
            <a:off x="6446520" y="2487168"/>
            <a:ext cx="2194560" cy="868680"/>
          </a:xfrm>
          <a:prstGeom prst="rect">
            <a:avLst/>
          </a:prstGeom>
          <a:solidFill>
            <a:srgbClr val="E6EDF1"/>
          </a:solidFill>
          <a:ln w="12700">
            <a:solidFill>
              <a:srgbClr val="D3D7D2"/>
            </a:solidFill>
          </a:ln>
        </p:spPr>
        <p:txBody>
          <a:bodyPr rtlCol="0" anchor="ctr"/>
          <a:lstStyle/>
          <a:p>
            <a:pPr algn="ctr"/>
          </a:p>
        </p:txBody>
      </p:sp>
      <p:sp>
        <p:nvSpPr>
          <p:cNvPr id="13" name="TextBox 12"/>
          <p:cNvSpPr txBox="1"/>
          <p:nvPr/>
        </p:nvSpPr>
        <p:spPr>
          <a:xfrm>
            <a:off x="6620256" y="2743200"/>
            <a:ext cx="1828800" cy="365760"/>
          </a:xfrm>
          <a:prstGeom prst="rect">
            <a:avLst/>
          </a:prstGeom>
          <a:noFill/>
        </p:spPr>
        <p:txBody>
          <a:bodyPr wrap="square" tIns="0" lIns="0" rIns="0" bIns="0">
            <a:spAutoFit/>
          </a:bodyPr>
          <a:lstStyle/>
          <a:p>
            <a:pPr>
              <a:lnSpc>
                <a:spcPct val="110000"/>
              </a:lnSpc>
              <a:spcAft>
                <a:spcPts val="0"/>
              </a:spcAft>
              <a:defRPr sz="2100" b="1">
                <a:solidFill>
                  <a:srgbClr val="364653"/>
                </a:solidFill>
                <a:latin typeface="Consolas"/>
              </a:defRPr>
            </a:pPr>
            <a:r>
              <a:t>entry[1]</a:t>
            </a:r>
          </a:p>
        </p:txBody>
      </p:sp>
      <p:sp>
        <p:nvSpPr>
          <p:cNvPr id="14" name="Rectangle 13"/>
          <p:cNvSpPr/>
          <p:nvPr/>
        </p:nvSpPr>
        <p:spPr>
          <a:xfrm>
            <a:off x="8641080" y="2487168"/>
            <a:ext cx="2194560" cy="868680"/>
          </a:xfrm>
          <a:prstGeom prst="rect">
            <a:avLst/>
          </a:prstGeom>
          <a:solidFill>
            <a:srgbClr val="E6EDF1"/>
          </a:solidFill>
          <a:ln w="12700">
            <a:solidFill>
              <a:srgbClr val="D3D7D2"/>
            </a:solidFill>
          </a:ln>
        </p:spPr>
        <p:txBody>
          <a:bodyPr rtlCol="0" anchor="ctr"/>
          <a:lstStyle/>
          <a:p>
            <a:pPr algn="ctr"/>
          </a:p>
        </p:txBody>
      </p:sp>
      <p:sp>
        <p:nvSpPr>
          <p:cNvPr id="15" name="TextBox 14"/>
          <p:cNvSpPr txBox="1"/>
          <p:nvPr/>
        </p:nvSpPr>
        <p:spPr>
          <a:xfrm>
            <a:off x="8814816" y="2743200"/>
            <a:ext cx="1828800" cy="365760"/>
          </a:xfrm>
          <a:prstGeom prst="rect">
            <a:avLst/>
          </a:prstGeom>
          <a:noFill/>
        </p:spPr>
        <p:txBody>
          <a:bodyPr wrap="square" tIns="0" lIns="0" rIns="0" bIns="0">
            <a:spAutoFit/>
          </a:bodyPr>
          <a:lstStyle/>
          <a:p>
            <a:pPr>
              <a:lnSpc>
                <a:spcPct val="110000"/>
              </a:lnSpc>
              <a:spcAft>
                <a:spcPts val="0"/>
              </a:spcAft>
              <a:defRPr sz="2100" b="1">
                <a:solidFill>
                  <a:srgbClr val="364653"/>
                </a:solidFill>
                <a:latin typeface="Consolas"/>
              </a:defRPr>
            </a:pPr>
            <a:r>
              <a:t>entry[2]</a:t>
            </a:r>
          </a:p>
        </p:txBody>
      </p:sp>
      <p:sp>
        <p:nvSpPr>
          <p:cNvPr id="16" name="TextBox 15"/>
          <p:cNvSpPr txBox="1"/>
          <p:nvPr/>
        </p:nvSpPr>
        <p:spPr>
          <a:xfrm>
            <a:off x="10972800" y="2715768"/>
            <a:ext cx="411480" cy="457200"/>
          </a:xfrm>
          <a:prstGeom prst="rect">
            <a:avLst/>
          </a:prstGeom>
          <a:noFill/>
        </p:spPr>
        <p:txBody>
          <a:bodyPr wrap="square" tIns="0" lIns="0" rIns="0" bIns="0">
            <a:spAutoFit/>
          </a:bodyPr>
          <a:lstStyle/>
          <a:p>
            <a:pPr>
              <a:lnSpc>
                <a:spcPct val="110000"/>
              </a:lnSpc>
              <a:spcAft>
                <a:spcPts val="0"/>
              </a:spcAft>
              <a:defRPr sz="2500" b="0">
                <a:solidFill>
                  <a:srgbClr val="456B88"/>
                </a:solidFill>
                <a:latin typeface="Segoe UI"/>
              </a:defRPr>
            </a:pPr>
            <a:r>
              <a:t>…</a:t>
            </a:r>
          </a:p>
        </p:txBody>
      </p:sp>
      <p:cxnSp>
        <p:nvCxnSpPr>
          <p:cNvPr id="17" name="Connector 16"/>
          <p:cNvCxnSpPr/>
          <p:nvPr/>
        </p:nvCxnSpPr>
        <p:spPr>
          <a:xfrm>
            <a:off x="5349240" y="3355848"/>
            <a:ext cx="0" cy="411480"/>
          </a:xfrm>
          <a:prstGeom prst="line">
            <a:avLst/>
          </a:prstGeom>
          <a:ln w="25400">
            <a:solidFill>
              <a:srgbClr val="456B88"/>
            </a:solidFill>
          </a:ln>
        </p:spPr>
      </p:cxnSp>
      <p:cxnSp>
        <p:nvCxnSpPr>
          <p:cNvPr id="18" name="Connector 17"/>
          <p:cNvCxnSpPr/>
          <p:nvPr/>
        </p:nvCxnSpPr>
        <p:spPr>
          <a:xfrm>
            <a:off x="5257800" y="3767328"/>
            <a:ext cx="4846320" cy="0"/>
          </a:xfrm>
          <a:prstGeom prst="line">
            <a:avLst/>
          </a:prstGeom>
          <a:ln w="25400">
            <a:solidFill>
              <a:srgbClr val="456B88"/>
            </a:solidFill>
          </a:ln>
        </p:spPr>
      </p:cxnSp>
      <p:cxnSp>
        <p:nvCxnSpPr>
          <p:cNvPr id="19" name="Connector 18"/>
          <p:cNvCxnSpPr/>
          <p:nvPr/>
        </p:nvCxnSpPr>
        <p:spPr>
          <a:xfrm>
            <a:off x="5257800" y="3767328"/>
            <a:ext cx="0" cy="457200"/>
          </a:xfrm>
          <a:prstGeom prst="line">
            <a:avLst/>
          </a:prstGeom>
          <a:ln w="25400">
            <a:solidFill>
              <a:srgbClr val="456B88"/>
            </a:solidFill>
          </a:ln>
        </p:spPr>
      </p:cxnSp>
      <p:sp>
        <p:nvSpPr>
          <p:cNvPr id="20" name="Rectangle 19"/>
          <p:cNvSpPr/>
          <p:nvPr/>
        </p:nvSpPr>
        <p:spPr>
          <a:xfrm>
            <a:off x="4251960" y="4224528"/>
            <a:ext cx="2194560" cy="594360"/>
          </a:xfrm>
          <a:prstGeom prst="rect">
            <a:avLst/>
          </a:prstGeom>
          <a:solidFill>
            <a:srgbClr val="FFFDFA"/>
          </a:solidFill>
          <a:ln w="12700">
            <a:solidFill>
              <a:srgbClr val="D3D7D2"/>
            </a:solidFill>
          </a:ln>
        </p:spPr>
        <p:txBody>
          <a:bodyPr rtlCol="0" anchor="ctr"/>
          <a:lstStyle/>
          <a:p>
            <a:pPr algn="ctr"/>
          </a:p>
        </p:txBody>
      </p:sp>
      <p:sp>
        <p:nvSpPr>
          <p:cNvPr id="21" name="TextBox 20"/>
          <p:cNvSpPr txBox="1"/>
          <p:nvPr/>
        </p:nvSpPr>
        <p:spPr>
          <a:xfrm>
            <a:off x="4370832" y="4379976"/>
            <a:ext cx="1975104" cy="329184"/>
          </a:xfrm>
          <a:prstGeom prst="rect">
            <a:avLst/>
          </a:prstGeom>
          <a:noFill/>
        </p:spPr>
        <p:txBody>
          <a:bodyPr wrap="square" tIns="0" lIns="0" rIns="0" bIns="0">
            <a:spAutoFit/>
          </a:bodyPr>
          <a:lstStyle/>
          <a:p>
            <a:pPr>
              <a:lnSpc>
                <a:spcPct val="110000"/>
              </a:lnSpc>
              <a:spcAft>
                <a:spcPts val="0"/>
              </a:spcAft>
              <a:defRPr sz="1800" b="0">
                <a:solidFill>
                  <a:srgbClr val="364653"/>
                </a:solidFill>
                <a:latin typeface="Consolas"/>
              </a:defRPr>
            </a:pPr>
            <a:r>
              <a:t>name</a:t>
            </a:r>
          </a:p>
        </p:txBody>
      </p:sp>
      <p:cxnSp>
        <p:nvCxnSpPr>
          <p:cNvPr id="22" name="Connector 21"/>
          <p:cNvCxnSpPr/>
          <p:nvPr/>
        </p:nvCxnSpPr>
        <p:spPr>
          <a:xfrm>
            <a:off x="7680960" y="3767328"/>
            <a:ext cx="0" cy="457200"/>
          </a:xfrm>
          <a:prstGeom prst="line">
            <a:avLst/>
          </a:prstGeom>
          <a:ln w="25400">
            <a:solidFill>
              <a:srgbClr val="456B88"/>
            </a:solidFill>
          </a:ln>
        </p:spPr>
      </p:cxnSp>
      <p:sp>
        <p:nvSpPr>
          <p:cNvPr id="23" name="Rectangle 22"/>
          <p:cNvSpPr/>
          <p:nvPr/>
        </p:nvSpPr>
        <p:spPr>
          <a:xfrm>
            <a:off x="6675120" y="4224528"/>
            <a:ext cx="2194560" cy="594360"/>
          </a:xfrm>
          <a:prstGeom prst="rect">
            <a:avLst/>
          </a:prstGeom>
          <a:solidFill>
            <a:srgbClr val="FFFDFA"/>
          </a:solidFill>
          <a:ln w="12700">
            <a:solidFill>
              <a:srgbClr val="D3D7D2"/>
            </a:solidFill>
          </a:ln>
        </p:spPr>
        <p:txBody>
          <a:bodyPr rtlCol="0" anchor="ctr"/>
          <a:lstStyle/>
          <a:p>
            <a:pPr algn="ctr"/>
          </a:p>
        </p:txBody>
      </p:sp>
      <p:sp>
        <p:nvSpPr>
          <p:cNvPr id="24" name="TextBox 23"/>
          <p:cNvSpPr txBox="1"/>
          <p:nvPr/>
        </p:nvSpPr>
        <p:spPr>
          <a:xfrm>
            <a:off x="6793992" y="4379976"/>
            <a:ext cx="1975104" cy="329184"/>
          </a:xfrm>
          <a:prstGeom prst="rect">
            <a:avLst/>
          </a:prstGeom>
          <a:noFill/>
        </p:spPr>
        <p:txBody>
          <a:bodyPr wrap="square" tIns="0" lIns="0" rIns="0" bIns="0">
            <a:spAutoFit/>
          </a:bodyPr>
          <a:lstStyle/>
          <a:p>
            <a:pPr>
              <a:lnSpc>
                <a:spcPct val="110000"/>
              </a:lnSpc>
              <a:spcAft>
                <a:spcPts val="0"/>
              </a:spcAft>
              <a:defRPr sz="1800" b="0">
                <a:solidFill>
                  <a:srgbClr val="364653"/>
                </a:solidFill>
                <a:latin typeface="Consolas"/>
              </a:defRPr>
            </a:pPr>
            <a:r>
              <a:t>full_path</a:t>
            </a:r>
          </a:p>
        </p:txBody>
      </p:sp>
      <p:cxnSp>
        <p:nvCxnSpPr>
          <p:cNvPr id="25" name="Connector 24"/>
          <p:cNvCxnSpPr/>
          <p:nvPr/>
        </p:nvCxnSpPr>
        <p:spPr>
          <a:xfrm>
            <a:off x="10104119" y="3767328"/>
            <a:ext cx="0" cy="457200"/>
          </a:xfrm>
          <a:prstGeom prst="line">
            <a:avLst/>
          </a:prstGeom>
          <a:ln w="25400">
            <a:solidFill>
              <a:srgbClr val="456B88"/>
            </a:solidFill>
          </a:ln>
        </p:spPr>
      </p:cxnSp>
      <p:sp>
        <p:nvSpPr>
          <p:cNvPr id="26" name="Rectangle 25"/>
          <p:cNvSpPr/>
          <p:nvPr/>
        </p:nvSpPr>
        <p:spPr>
          <a:xfrm>
            <a:off x="9098280" y="4224528"/>
            <a:ext cx="2194560" cy="594360"/>
          </a:xfrm>
          <a:prstGeom prst="rect">
            <a:avLst/>
          </a:prstGeom>
          <a:solidFill>
            <a:srgbClr val="FFFDFA"/>
          </a:solidFill>
          <a:ln w="12700">
            <a:solidFill>
              <a:srgbClr val="D3D7D2"/>
            </a:solidFill>
          </a:ln>
        </p:spPr>
        <p:txBody>
          <a:bodyPr rtlCol="0" anchor="ctr"/>
          <a:lstStyle/>
          <a:p>
            <a:pPr algn="ctr"/>
          </a:p>
        </p:txBody>
      </p:sp>
      <p:sp>
        <p:nvSpPr>
          <p:cNvPr id="27" name="TextBox 26"/>
          <p:cNvSpPr txBox="1"/>
          <p:nvPr/>
        </p:nvSpPr>
        <p:spPr>
          <a:xfrm>
            <a:off x="9217152" y="4379976"/>
            <a:ext cx="1975104" cy="329184"/>
          </a:xfrm>
          <a:prstGeom prst="rect">
            <a:avLst/>
          </a:prstGeom>
          <a:noFill/>
        </p:spPr>
        <p:txBody>
          <a:bodyPr wrap="square" tIns="0" lIns="0" rIns="0" bIns="0">
            <a:spAutoFit/>
          </a:bodyPr>
          <a:lstStyle/>
          <a:p>
            <a:pPr>
              <a:lnSpc>
                <a:spcPct val="110000"/>
              </a:lnSpc>
              <a:spcAft>
                <a:spcPts val="0"/>
              </a:spcAft>
              <a:defRPr sz="1800" b="0">
                <a:solidFill>
                  <a:srgbClr val="364653"/>
                </a:solidFill>
                <a:latin typeface="Consolas"/>
              </a:defRPr>
            </a:pPr>
            <a:r>
              <a:t>link_target</a:t>
            </a:r>
          </a:p>
        </p:txBody>
      </p:sp>
      <p:sp>
        <p:nvSpPr>
          <p:cNvPr id="28" name="TextBox 27"/>
          <p:cNvSpPr txBox="1"/>
          <p:nvPr/>
        </p:nvSpPr>
        <p:spPr>
          <a:xfrm>
            <a:off x="777240" y="5532120"/>
            <a:ext cx="5166360" cy="777240"/>
          </a:xfrm>
          <a:prstGeom prst="rect">
            <a:avLst/>
          </a:prstGeom>
          <a:noFill/>
        </p:spPr>
        <p:txBody>
          <a:bodyPr wrap="square" tIns="0" lIns="0" rIns="0" bIns="0">
            <a:spAutoFit/>
          </a:bodyPr>
          <a:lstStyle/>
          <a:p>
            <a:pPr>
              <a:lnSpc>
                <a:spcPct val="110000"/>
              </a:lnSpc>
              <a:spcAft>
                <a:spcPts val="300"/>
              </a:spcAft>
              <a:defRPr sz="2100" b="0">
                <a:solidFill>
                  <a:srgbClr val="364653"/>
                </a:solidFill>
                <a:latin typeface="Segoe UI"/>
              </a:defRPr>
            </a:pPr>
            <a:r>
              <a:t>Sức chứa: 64 → 128 → 256</a:t>
            </a:r>
          </a:p>
          <a:p>
            <a:pPr>
              <a:lnSpc>
                <a:spcPct val="110000"/>
              </a:lnSpc>
              <a:spcAft>
                <a:spcPts val="0"/>
              </a:spcAft>
              <a:defRPr sz="2100" b="0">
                <a:solidFill>
                  <a:srgbClr val="364653"/>
                </a:solidFill>
                <a:latin typeface="Segoe UI"/>
              </a:defRPr>
            </a:pPr>
            <a:r>
              <a:t>Kiểm tra tràn trước phép nhân/realloc.</a:t>
            </a:r>
          </a:p>
        </p:txBody>
      </p:sp>
      <p:sp>
        <p:nvSpPr>
          <p:cNvPr id="29" name="TextBox 28"/>
          <p:cNvSpPr txBox="1"/>
          <p:nvPr/>
        </p:nvSpPr>
        <p:spPr>
          <a:xfrm>
            <a:off x="6400800" y="5532120"/>
            <a:ext cx="4937760" cy="777240"/>
          </a:xfrm>
          <a:prstGeom prst="rect">
            <a:avLst/>
          </a:prstGeom>
          <a:noFill/>
        </p:spPr>
        <p:txBody>
          <a:bodyPr wrap="square" tIns="0" lIns="0" rIns="0" bIns="0">
            <a:spAutoFit/>
          </a:bodyPr>
          <a:lstStyle/>
          <a:p>
            <a:pPr>
              <a:lnSpc>
                <a:spcPct val="110000"/>
              </a:lnSpc>
              <a:spcAft>
                <a:spcPts val="300"/>
              </a:spcAft>
              <a:defRPr sz="2100" b="1">
                <a:solidFill>
                  <a:srgbClr val="5C7359"/>
                </a:solidFill>
                <a:latin typeface="Segoe UI"/>
              </a:defRPr>
            </a:pPr>
            <a:r>
              <a:t>entry_list_free():</a:t>
            </a:r>
          </a:p>
          <a:p>
            <a:pPr>
              <a:lnSpc>
                <a:spcPct val="110000"/>
              </a:lnSpc>
              <a:spcAft>
                <a:spcPts val="0"/>
              </a:spcAft>
              <a:defRPr sz="2100" b="1">
                <a:solidFill>
                  <a:srgbClr val="5C7359"/>
                </a:solidFill>
                <a:latin typeface="Segoe UI"/>
              </a:defRPr>
            </a:pPr>
            <a:r>
              <a:t>Giải phóng chuỗi rồi mảng items.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TextBox 1"/>
          <p:cNvSpPr txBox="1"/>
          <p:nvPr/>
        </p:nvSpPr>
        <p:spPr>
          <a:xfrm>
            <a:off x="749808" y="429768"/>
            <a:ext cx="10698480" cy="594360"/>
          </a:xfrm>
          <a:prstGeom prst="rect">
            <a:avLst/>
          </a:prstGeom>
          <a:noFill/>
        </p:spPr>
        <p:txBody>
          <a:bodyPr wrap="square" tIns="0" lIns="0" rIns="0" bIns="0">
            <a:spAutoFit/>
          </a:bodyPr>
          <a:lstStyle/>
          <a:p>
            <a:pPr>
              <a:lnSpc>
                <a:spcPct val="110000"/>
              </a:lnSpc>
              <a:spcAft>
                <a:spcPts val="0"/>
              </a:spcAft>
              <a:defRPr sz="3000" b="1">
                <a:solidFill>
                  <a:srgbClr val="364653"/>
                </a:solidFill>
                <a:latin typeface="Segoe UI"/>
              </a:defRPr>
            </a:pPr>
            <a:r>
              <a:t>-S: kích thước giảm dần, tên phá hòa</a:t>
            </a:r>
          </a:p>
        </p:txBody>
      </p:sp>
      <p:sp>
        <p:nvSpPr>
          <p:cNvPr id="3" name="TextBox 2"/>
          <p:cNvSpPr txBox="1"/>
          <p:nvPr/>
        </p:nvSpPr>
        <p:spPr>
          <a:xfrm>
            <a:off x="777240" y="1133856"/>
            <a:ext cx="10607040" cy="502920"/>
          </a:xfrm>
          <a:prstGeom prst="rect">
            <a:avLst/>
          </a:prstGeom>
          <a:noFill/>
        </p:spPr>
        <p:txBody>
          <a:bodyPr wrap="square" tIns="0" lIns="0" rIns="0" bIns="0">
            <a:spAutoFit/>
          </a:bodyPr>
          <a:lstStyle/>
          <a:p>
            <a:pPr>
              <a:lnSpc>
                <a:spcPct val="110000"/>
              </a:lnSpc>
              <a:spcAft>
                <a:spcPts val="0"/>
              </a:spcAft>
              <a:defRPr sz="1800" b="0">
                <a:solidFill>
                  <a:srgbClr val="5B6870"/>
                </a:solidFill>
                <a:latin typeface="Segoe UI"/>
              </a:defRPr>
            </a:pPr>
            <a:r>
              <a:t>So sánh theo byte; nếu bằng nhau, so tên theo thứ tự byte.</a:t>
            </a:r>
          </a:p>
        </p:txBody>
      </p:sp>
      <p:cxnSp>
        <p:nvCxnSpPr>
          <p:cNvPr id="4" name="Connector 3"/>
          <p:cNvCxnSpPr/>
          <p:nvPr/>
        </p:nvCxnSpPr>
        <p:spPr>
          <a:xfrm>
            <a:off x="10762488" y="6537960"/>
            <a:ext cx="237744" cy="0"/>
          </a:xfrm>
          <a:prstGeom prst="line">
            <a:avLst/>
          </a:prstGeom>
          <a:ln w="12700">
            <a:solidFill>
              <a:srgbClr val="D3D7D2"/>
            </a:solidFill>
          </a:ln>
        </p:spPr>
      </p:cxnSp>
      <p:sp>
        <p:nvSpPr>
          <p:cNvPr id="5" name="TextBox 4"/>
          <p:cNvSpPr txBox="1"/>
          <p:nvPr/>
        </p:nvSpPr>
        <p:spPr>
          <a:xfrm>
            <a:off x="11082528" y="6419088"/>
            <a:ext cx="411480" cy="274320"/>
          </a:xfrm>
          <a:prstGeom prst="rect">
            <a:avLst/>
          </a:prstGeom>
          <a:noFill/>
        </p:spPr>
        <p:txBody>
          <a:bodyPr wrap="square" tIns="0" lIns="0" rIns="0" bIns="0">
            <a:spAutoFit/>
          </a:bodyPr>
          <a:lstStyle/>
          <a:p>
            <a:pPr algn="ctr">
              <a:lnSpc>
                <a:spcPct val="110000"/>
              </a:lnSpc>
              <a:spcAft>
                <a:spcPts val="0"/>
              </a:spcAft>
              <a:defRPr sz="1000" b="0">
                <a:solidFill>
                  <a:srgbClr val="5B6870"/>
                </a:solidFill>
                <a:latin typeface="Segoe UI"/>
              </a:defRPr>
            </a:pPr>
            <a:r>
              <a:t>07</a:t>
            </a:r>
          </a:p>
        </p:txBody>
      </p:sp>
      <p:sp>
        <p:nvSpPr>
          <p:cNvPr id="6" name="TextBox 5"/>
          <p:cNvSpPr txBox="1"/>
          <p:nvPr/>
        </p:nvSpPr>
        <p:spPr>
          <a:xfrm>
            <a:off x="7388352" y="1737360"/>
            <a:ext cx="777240" cy="274320"/>
          </a:xfrm>
          <a:prstGeom prst="rect">
            <a:avLst/>
          </a:prstGeom>
          <a:noFill/>
        </p:spPr>
        <p:txBody>
          <a:bodyPr wrap="square" tIns="0" lIns="0" rIns="0" bIns="0">
            <a:spAutoFit/>
          </a:bodyPr>
          <a:lstStyle/>
          <a:p>
            <a:pPr>
              <a:lnSpc>
                <a:spcPct val="110000"/>
              </a:lnSpc>
              <a:spcAft>
                <a:spcPts val="0"/>
              </a:spcAft>
              <a:defRPr sz="1600" b="0">
                <a:solidFill>
                  <a:srgbClr val="5B6870"/>
                </a:solidFill>
                <a:latin typeface="Segoe UI"/>
              </a:defRPr>
            </a:pPr>
            <a:r>
              <a:t>byte</a:t>
            </a:r>
          </a:p>
        </p:txBody>
      </p:sp>
      <p:sp>
        <p:nvSpPr>
          <p:cNvPr id="7" name="TextBox 6"/>
          <p:cNvSpPr txBox="1"/>
          <p:nvPr/>
        </p:nvSpPr>
        <p:spPr>
          <a:xfrm>
            <a:off x="777240" y="2221991"/>
            <a:ext cx="2560320" cy="411480"/>
          </a:xfrm>
          <a:prstGeom prst="rect">
            <a:avLst/>
          </a:prstGeom>
          <a:noFill/>
        </p:spPr>
        <p:txBody>
          <a:bodyPr wrap="square" tIns="0" lIns="0" rIns="0" bIns="0">
            <a:spAutoFit/>
          </a:bodyPr>
          <a:lstStyle/>
          <a:p>
            <a:pPr>
              <a:lnSpc>
                <a:spcPct val="110000"/>
              </a:lnSpc>
              <a:spcAft>
                <a:spcPts val="0"/>
              </a:spcAft>
              <a:defRPr sz="2100" b="0">
                <a:solidFill>
                  <a:srgbClr val="364653"/>
                </a:solidFill>
                <a:latin typeface="Consolas"/>
              </a:defRPr>
            </a:pPr>
            <a:r>
              <a:t>database.bin</a:t>
            </a:r>
          </a:p>
        </p:txBody>
      </p:sp>
      <p:sp>
        <p:nvSpPr>
          <p:cNvPr id="8" name="Rectangle 7"/>
          <p:cNvSpPr/>
          <p:nvPr/>
        </p:nvSpPr>
        <p:spPr>
          <a:xfrm>
            <a:off x="3429000" y="2212848"/>
            <a:ext cx="3675887" cy="365760"/>
          </a:xfrm>
          <a:prstGeom prst="rect">
            <a:avLst/>
          </a:prstGeom>
          <a:solidFill>
            <a:srgbClr val="456B88"/>
          </a:solidFill>
          <a:ln>
            <a:noFill/>
          </a:ln>
        </p:spPr>
        <p:txBody>
          <a:bodyPr rtlCol="0" anchor="ctr"/>
          <a:lstStyle/>
          <a:p>
            <a:pPr algn="ctr"/>
          </a:p>
        </p:txBody>
      </p:sp>
      <p:sp>
        <p:nvSpPr>
          <p:cNvPr id="9" name="TextBox 8"/>
          <p:cNvSpPr txBox="1"/>
          <p:nvPr/>
        </p:nvSpPr>
        <p:spPr>
          <a:xfrm>
            <a:off x="7342631" y="2176272"/>
            <a:ext cx="868680" cy="411480"/>
          </a:xfrm>
          <a:prstGeom prst="rect">
            <a:avLst/>
          </a:prstGeom>
          <a:noFill/>
        </p:spPr>
        <p:txBody>
          <a:bodyPr wrap="square" tIns="0" lIns="0" rIns="0" bIns="0">
            <a:spAutoFit/>
          </a:bodyPr>
          <a:lstStyle/>
          <a:p>
            <a:pPr>
              <a:lnSpc>
                <a:spcPct val="110000"/>
              </a:lnSpc>
              <a:spcAft>
                <a:spcPts val="0"/>
              </a:spcAft>
              <a:defRPr sz="2100" b="1">
                <a:solidFill>
                  <a:srgbClr val="364653"/>
                </a:solidFill>
                <a:latin typeface="Consolas"/>
              </a:defRPr>
            </a:pPr>
            <a:r>
              <a:t>8192</a:t>
            </a:r>
          </a:p>
        </p:txBody>
      </p:sp>
      <p:sp>
        <p:nvSpPr>
          <p:cNvPr id="10" name="TextBox 9"/>
          <p:cNvSpPr txBox="1"/>
          <p:nvPr/>
        </p:nvSpPr>
        <p:spPr>
          <a:xfrm>
            <a:off x="777240" y="2816351"/>
            <a:ext cx="2560320" cy="411480"/>
          </a:xfrm>
          <a:prstGeom prst="rect">
            <a:avLst/>
          </a:prstGeom>
          <a:noFill/>
        </p:spPr>
        <p:txBody>
          <a:bodyPr wrap="square" tIns="0" lIns="0" rIns="0" bIns="0">
            <a:spAutoFit/>
          </a:bodyPr>
          <a:lstStyle/>
          <a:p>
            <a:pPr>
              <a:lnSpc>
                <a:spcPct val="110000"/>
              </a:lnSpc>
              <a:spcAft>
                <a:spcPts val="0"/>
              </a:spcAft>
              <a:defRPr sz="2100" b="0">
                <a:solidFill>
                  <a:srgbClr val="364653"/>
                </a:solidFill>
                <a:latin typeface="Consolas"/>
              </a:defRPr>
            </a:pPr>
            <a:r>
              <a:t>src_module</a:t>
            </a:r>
          </a:p>
        </p:txBody>
      </p:sp>
      <p:sp>
        <p:nvSpPr>
          <p:cNvPr id="11" name="Rectangle 10"/>
          <p:cNvSpPr/>
          <p:nvPr/>
        </p:nvSpPr>
        <p:spPr>
          <a:xfrm>
            <a:off x="3429000" y="2807208"/>
            <a:ext cx="1837943" cy="365760"/>
          </a:xfrm>
          <a:prstGeom prst="rect">
            <a:avLst/>
          </a:prstGeom>
          <a:solidFill>
            <a:srgbClr val="456B88"/>
          </a:solidFill>
          <a:ln>
            <a:noFill/>
          </a:ln>
        </p:spPr>
        <p:txBody>
          <a:bodyPr rtlCol="0" anchor="ctr"/>
          <a:lstStyle/>
          <a:p>
            <a:pPr algn="ctr"/>
          </a:p>
        </p:txBody>
      </p:sp>
      <p:sp>
        <p:nvSpPr>
          <p:cNvPr id="12" name="TextBox 11"/>
          <p:cNvSpPr txBox="1"/>
          <p:nvPr/>
        </p:nvSpPr>
        <p:spPr>
          <a:xfrm>
            <a:off x="7342631" y="2770632"/>
            <a:ext cx="868680" cy="411480"/>
          </a:xfrm>
          <a:prstGeom prst="rect">
            <a:avLst/>
          </a:prstGeom>
          <a:noFill/>
        </p:spPr>
        <p:txBody>
          <a:bodyPr wrap="square" tIns="0" lIns="0" rIns="0" bIns="0">
            <a:spAutoFit/>
          </a:bodyPr>
          <a:lstStyle/>
          <a:p>
            <a:pPr>
              <a:lnSpc>
                <a:spcPct val="110000"/>
              </a:lnSpc>
              <a:spcAft>
                <a:spcPts val="0"/>
              </a:spcAft>
              <a:defRPr sz="2100" b="1">
                <a:solidFill>
                  <a:srgbClr val="364653"/>
                </a:solidFill>
                <a:latin typeface="Consolas"/>
              </a:defRPr>
            </a:pPr>
            <a:r>
              <a:t>4096</a:t>
            </a:r>
          </a:p>
        </p:txBody>
      </p:sp>
      <p:sp>
        <p:nvSpPr>
          <p:cNvPr id="13" name="TextBox 12"/>
          <p:cNvSpPr txBox="1"/>
          <p:nvPr/>
        </p:nvSpPr>
        <p:spPr>
          <a:xfrm>
            <a:off x="777240" y="3410711"/>
            <a:ext cx="2560320" cy="411480"/>
          </a:xfrm>
          <a:prstGeom prst="rect">
            <a:avLst/>
          </a:prstGeom>
          <a:noFill/>
        </p:spPr>
        <p:txBody>
          <a:bodyPr wrap="square" tIns="0" lIns="0" rIns="0" bIns="0">
            <a:spAutoFit/>
          </a:bodyPr>
          <a:lstStyle/>
          <a:p>
            <a:pPr>
              <a:lnSpc>
                <a:spcPct val="110000"/>
              </a:lnSpc>
              <a:spcAft>
                <a:spcPts val="0"/>
              </a:spcAft>
              <a:defRPr sz="2100" b="0">
                <a:solidFill>
                  <a:srgbClr val="364653"/>
                </a:solidFill>
                <a:latin typeface="Consolas"/>
              </a:defRPr>
            </a:pPr>
            <a:r>
              <a:t>README.txt</a:t>
            </a:r>
          </a:p>
        </p:txBody>
      </p:sp>
      <p:sp>
        <p:nvSpPr>
          <p:cNvPr id="14" name="Rectangle 13"/>
          <p:cNvSpPr/>
          <p:nvPr/>
        </p:nvSpPr>
        <p:spPr>
          <a:xfrm>
            <a:off x="3429000" y="3401568"/>
            <a:ext cx="229742" cy="365760"/>
          </a:xfrm>
          <a:prstGeom prst="rect">
            <a:avLst/>
          </a:prstGeom>
          <a:solidFill>
            <a:srgbClr val="9B624B"/>
          </a:solidFill>
          <a:ln>
            <a:noFill/>
          </a:ln>
        </p:spPr>
        <p:txBody>
          <a:bodyPr rtlCol="0" anchor="ctr"/>
          <a:lstStyle/>
          <a:p>
            <a:pPr algn="ctr"/>
          </a:p>
        </p:txBody>
      </p:sp>
      <p:sp>
        <p:nvSpPr>
          <p:cNvPr id="15" name="TextBox 14"/>
          <p:cNvSpPr txBox="1"/>
          <p:nvPr/>
        </p:nvSpPr>
        <p:spPr>
          <a:xfrm>
            <a:off x="7342631" y="3364991"/>
            <a:ext cx="868680" cy="411480"/>
          </a:xfrm>
          <a:prstGeom prst="rect">
            <a:avLst/>
          </a:prstGeom>
          <a:noFill/>
        </p:spPr>
        <p:txBody>
          <a:bodyPr wrap="square" tIns="0" lIns="0" rIns="0" bIns="0">
            <a:spAutoFit/>
          </a:bodyPr>
          <a:lstStyle/>
          <a:p>
            <a:pPr>
              <a:lnSpc>
                <a:spcPct val="110000"/>
              </a:lnSpc>
              <a:spcAft>
                <a:spcPts val="0"/>
              </a:spcAft>
              <a:defRPr sz="2100" b="1">
                <a:solidFill>
                  <a:srgbClr val="364653"/>
                </a:solidFill>
                <a:latin typeface="Consolas"/>
              </a:defRPr>
            </a:pPr>
            <a:r>
              <a:t>512</a:t>
            </a:r>
          </a:p>
        </p:txBody>
      </p:sp>
      <p:sp>
        <p:nvSpPr>
          <p:cNvPr id="16" name="TextBox 15"/>
          <p:cNvSpPr txBox="1"/>
          <p:nvPr/>
        </p:nvSpPr>
        <p:spPr>
          <a:xfrm>
            <a:off x="777240" y="4005072"/>
            <a:ext cx="2560320" cy="411480"/>
          </a:xfrm>
          <a:prstGeom prst="rect">
            <a:avLst/>
          </a:prstGeom>
          <a:noFill/>
        </p:spPr>
        <p:txBody>
          <a:bodyPr wrap="square" tIns="0" lIns="0" rIns="0" bIns="0">
            <a:spAutoFit/>
          </a:bodyPr>
          <a:lstStyle/>
          <a:p>
            <a:pPr>
              <a:lnSpc>
                <a:spcPct val="110000"/>
              </a:lnSpc>
              <a:spcAft>
                <a:spcPts val="0"/>
              </a:spcAft>
              <a:defRPr sz="2100" b="0">
                <a:solidFill>
                  <a:srgbClr val="364653"/>
                </a:solidFill>
                <a:latin typeface="Consolas"/>
              </a:defRPr>
            </a:pPr>
            <a:r>
              <a:t>notes.txt</a:t>
            </a:r>
          </a:p>
        </p:txBody>
      </p:sp>
      <p:sp>
        <p:nvSpPr>
          <p:cNvPr id="17" name="Rectangle 16"/>
          <p:cNvSpPr/>
          <p:nvPr/>
        </p:nvSpPr>
        <p:spPr>
          <a:xfrm>
            <a:off x="3429000" y="3995928"/>
            <a:ext cx="229742" cy="365760"/>
          </a:xfrm>
          <a:prstGeom prst="rect">
            <a:avLst/>
          </a:prstGeom>
          <a:solidFill>
            <a:srgbClr val="9B624B"/>
          </a:solidFill>
          <a:ln>
            <a:noFill/>
          </a:ln>
        </p:spPr>
        <p:txBody>
          <a:bodyPr rtlCol="0" anchor="ctr"/>
          <a:lstStyle/>
          <a:p>
            <a:pPr algn="ctr"/>
          </a:p>
        </p:txBody>
      </p:sp>
      <p:sp>
        <p:nvSpPr>
          <p:cNvPr id="18" name="TextBox 17"/>
          <p:cNvSpPr txBox="1"/>
          <p:nvPr/>
        </p:nvSpPr>
        <p:spPr>
          <a:xfrm>
            <a:off x="7342631" y="3959352"/>
            <a:ext cx="868680" cy="411480"/>
          </a:xfrm>
          <a:prstGeom prst="rect">
            <a:avLst/>
          </a:prstGeom>
          <a:noFill/>
        </p:spPr>
        <p:txBody>
          <a:bodyPr wrap="square" tIns="0" lIns="0" rIns="0" bIns="0">
            <a:spAutoFit/>
          </a:bodyPr>
          <a:lstStyle/>
          <a:p>
            <a:pPr>
              <a:lnSpc>
                <a:spcPct val="110000"/>
              </a:lnSpc>
              <a:spcAft>
                <a:spcPts val="0"/>
              </a:spcAft>
              <a:defRPr sz="2100" b="1">
                <a:solidFill>
                  <a:srgbClr val="364653"/>
                </a:solidFill>
                <a:latin typeface="Consolas"/>
              </a:defRPr>
            </a:pPr>
            <a:r>
              <a:t>512</a:t>
            </a:r>
          </a:p>
        </p:txBody>
      </p:sp>
      <p:sp>
        <p:nvSpPr>
          <p:cNvPr id="19" name="TextBox 18"/>
          <p:cNvSpPr txBox="1"/>
          <p:nvPr/>
        </p:nvSpPr>
        <p:spPr>
          <a:xfrm>
            <a:off x="777240" y="4599431"/>
            <a:ext cx="2560320" cy="411480"/>
          </a:xfrm>
          <a:prstGeom prst="rect">
            <a:avLst/>
          </a:prstGeom>
          <a:noFill/>
        </p:spPr>
        <p:txBody>
          <a:bodyPr wrap="square" tIns="0" lIns="0" rIns="0" bIns="0">
            <a:spAutoFit/>
          </a:bodyPr>
          <a:lstStyle/>
          <a:p>
            <a:pPr>
              <a:lnSpc>
                <a:spcPct val="110000"/>
              </a:lnSpc>
              <a:spcAft>
                <a:spcPts val="0"/>
              </a:spcAft>
              <a:defRPr sz="2100" b="0">
                <a:solidFill>
                  <a:srgbClr val="364653"/>
                </a:solidFill>
                <a:latin typeface="Consolas"/>
              </a:defRPr>
            </a:pPr>
            <a:r>
              <a:t>link_to_src</a:t>
            </a:r>
          </a:p>
        </p:txBody>
      </p:sp>
      <p:sp>
        <p:nvSpPr>
          <p:cNvPr id="20" name="Rectangle 19"/>
          <p:cNvSpPr/>
          <p:nvPr/>
        </p:nvSpPr>
        <p:spPr>
          <a:xfrm>
            <a:off x="3429000" y="4590288"/>
            <a:ext cx="22860" cy="365760"/>
          </a:xfrm>
          <a:prstGeom prst="rect">
            <a:avLst/>
          </a:prstGeom>
          <a:solidFill>
            <a:srgbClr val="456B88"/>
          </a:solidFill>
          <a:ln>
            <a:noFill/>
          </a:ln>
        </p:spPr>
        <p:txBody>
          <a:bodyPr rtlCol="0" anchor="ctr"/>
          <a:lstStyle/>
          <a:p>
            <a:pPr algn="ctr"/>
          </a:p>
        </p:txBody>
      </p:sp>
      <p:sp>
        <p:nvSpPr>
          <p:cNvPr id="21" name="TextBox 20"/>
          <p:cNvSpPr txBox="1"/>
          <p:nvPr/>
        </p:nvSpPr>
        <p:spPr>
          <a:xfrm>
            <a:off x="7342631" y="4553712"/>
            <a:ext cx="868680" cy="411480"/>
          </a:xfrm>
          <a:prstGeom prst="rect">
            <a:avLst/>
          </a:prstGeom>
          <a:noFill/>
        </p:spPr>
        <p:txBody>
          <a:bodyPr wrap="square" tIns="0" lIns="0" rIns="0" bIns="0">
            <a:spAutoFit/>
          </a:bodyPr>
          <a:lstStyle/>
          <a:p>
            <a:pPr>
              <a:lnSpc>
                <a:spcPct val="110000"/>
              </a:lnSpc>
              <a:spcAft>
                <a:spcPts val="0"/>
              </a:spcAft>
              <a:defRPr sz="2100" b="1">
                <a:solidFill>
                  <a:srgbClr val="364653"/>
                </a:solidFill>
                <a:latin typeface="Consolas"/>
              </a:defRPr>
            </a:pPr>
            <a:r>
              <a:t>10</a:t>
            </a:r>
          </a:p>
        </p:txBody>
      </p:sp>
      <p:pic>
        <p:nvPicPr>
          <p:cNvPr id="22" name="Illustration: size_ordering" descr="Minh họa tạo bằng imagegen: Năm tập hồ sơ có kích thước giảm dần; chỉ minh họa, không biểu diễn số đo. Không phải ảnh chụp hay dữ liệu thực nghiệm."/>
          <p:cNvPicPr>
            <a:picLocks noChangeAspect="1"/>
          </p:cNvPicPr>
          <p:nvPr/>
        </p:nvPicPr>
        <p:blipFill>
          <a:blip r:embed="rId2"/>
          <a:stretch>
            <a:fillRect/>
          </a:stretch>
        </p:blipFill>
        <p:spPr>
          <a:xfrm>
            <a:off x="8366760" y="2528315"/>
            <a:ext cx="3108960" cy="2331720"/>
          </a:xfrm>
          <a:prstGeom prst="rect">
            <a:avLst/>
          </a:prstGeom>
        </p:spPr>
      </p:pic>
      <p:sp>
        <p:nvSpPr>
          <p:cNvPr id="23" name="TextBox 22"/>
          <p:cNvSpPr txBox="1"/>
          <p:nvPr/>
        </p:nvSpPr>
        <p:spPr>
          <a:xfrm>
            <a:off x="777240" y="5522976"/>
            <a:ext cx="10607040" cy="822960"/>
          </a:xfrm>
          <a:prstGeom prst="rect">
            <a:avLst/>
          </a:prstGeom>
          <a:noFill/>
        </p:spPr>
        <p:txBody>
          <a:bodyPr wrap="square" tIns="0" lIns="0" rIns="0" bIns="0">
            <a:spAutoFit/>
          </a:bodyPr>
          <a:lstStyle/>
          <a:p>
            <a:pPr>
              <a:lnSpc>
                <a:spcPct val="110000"/>
              </a:lnSpc>
              <a:spcAft>
                <a:spcPts val="300"/>
              </a:spcAft>
              <a:defRPr sz="2100" b="1">
                <a:solidFill>
                  <a:srgbClr val="456B88"/>
                </a:solidFill>
                <a:latin typeface="Segoe UI"/>
              </a:defRPr>
            </a:pPr>
            <a:r>
              <a:t>512 = 512 → README.txt trước notes.txt</a:t>
            </a:r>
          </a:p>
          <a:p>
            <a:pPr>
              <a:lnSpc>
                <a:spcPct val="110000"/>
              </a:lnSpc>
              <a:spcAft>
                <a:spcPts val="0"/>
              </a:spcAft>
              <a:defRPr sz="2100" b="1">
                <a:solidFill>
                  <a:srgbClr val="456B88"/>
                </a:solidFill>
                <a:latin typeface="Segoe UI"/>
              </a:defRPr>
            </a:pPr>
            <a:r>
              <a:t>So sánh &gt; / &lt;, tránh trừ hai kích thước gây tràn.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TextBox 1"/>
          <p:cNvSpPr txBox="1"/>
          <p:nvPr/>
        </p:nvSpPr>
        <p:spPr>
          <a:xfrm>
            <a:off x="749808" y="429768"/>
            <a:ext cx="10698480" cy="594360"/>
          </a:xfrm>
          <a:prstGeom prst="rect">
            <a:avLst/>
          </a:prstGeom>
          <a:noFill/>
        </p:spPr>
        <p:txBody>
          <a:bodyPr wrap="square" tIns="0" lIns="0" rIns="0" bIns="0">
            <a:spAutoFit/>
          </a:bodyPr>
          <a:lstStyle/>
          <a:p>
            <a:pPr>
              <a:lnSpc>
                <a:spcPct val="110000"/>
              </a:lnSpc>
              <a:spcAft>
                <a:spcPts val="0"/>
              </a:spcAft>
              <a:defRPr sz="3000" b="1">
                <a:solidFill>
                  <a:srgbClr val="364653"/>
                </a:solidFill>
                <a:latin typeface="Segoe UI"/>
              </a:defRPr>
            </a:pPr>
            <a:r>
              <a:t>-l biến metadata thành một dòng có cấu trúc</a:t>
            </a:r>
          </a:p>
        </p:txBody>
      </p:sp>
      <p:sp>
        <p:nvSpPr>
          <p:cNvPr id="3" name="TextBox 2"/>
          <p:cNvSpPr txBox="1"/>
          <p:nvPr/>
        </p:nvSpPr>
        <p:spPr>
          <a:xfrm>
            <a:off x="777240" y="1133856"/>
            <a:ext cx="10607040" cy="502920"/>
          </a:xfrm>
          <a:prstGeom prst="rect">
            <a:avLst/>
          </a:prstGeom>
          <a:noFill/>
        </p:spPr>
        <p:txBody>
          <a:bodyPr wrap="square" tIns="0" lIns="0" rIns="0" bIns="0">
            <a:spAutoFit/>
          </a:bodyPr>
          <a:lstStyle/>
          <a:p>
            <a:pPr>
              <a:lnSpc>
                <a:spcPct val="110000"/>
              </a:lnSpc>
              <a:spcAft>
                <a:spcPts val="0"/>
              </a:spcAft>
              <a:defRPr sz="1800" b="0">
                <a:solidFill>
                  <a:srgbClr val="5B6870"/>
                </a:solidFill>
                <a:latin typeface="Segoe UI"/>
              </a:defRPr>
            </a:pPr>
            <a:r>
              <a:t>Từng trường trả lời một câu hỏi: loại, quyền, sở hữu, kích thước, thời gian, tên.</a:t>
            </a:r>
          </a:p>
        </p:txBody>
      </p:sp>
      <p:cxnSp>
        <p:nvCxnSpPr>
          <p:cNvPr id="4" name="Connector 3"/>
          <p:cNvCxnSpPr/>
          <p:nvPr/>
        </p:nvCxnSpPr>
        <p:spPr>
          <a:xfrm>
            <a:off x="10762488" y="6537960"/>
            <a:ext cx="237744" cy="0"/>
          </a:xfrm>
          <a:prstGeom prst="line">
            <a:avLst/>
          </a:prstGeom>
          <a:ln w="12700">
            <a:solidFill>
              <a:srgbClr val="D3D7D2"/>
            </a:solidFill>
          </a:ln>
        </p:spPr>
      </p:cxnSp>
      <p:sp>
        <p:nvSpPr>
          <p:cNvPr id="5" name="TextBox 4"/>
          <p:cNvSpPr txBox="1"/>
          <p:nvPr/>
        </p:nvSpPr>
        <p:spPr>
          <a:xfrm>
            <a:off x="11082528" y="6419088"/>
            <a:ext cx="411480" cy="274320"/>
          </a:xfrm>
          <a:prstGeom prst="rect">
            <a:avLst/>
          </a:prstGeom>
          <a:noFill/>
        </p:spPr>
        <p:txBody>
          <a:bodyPr wrap="square" tIns="0" lIns="0" rIns="0" bIns="0">
            <a:spAutoFit/>
          </a:bodyPr>
          <a:lstStyle/>
          <a:p>
            <a:pPr algn="ctr">
              <a:lnSpc>
                <a:spcPct val="110000"/>
              </a:lnSpc>
              <a:spcAft>
                <a:spcPts val="0"/>
              </a:spcAft>
              <a:defRPr sz="1000" b="0">
                <a:solidFill>
                  <a:srgbClr val="5B6870"/>
                </a:solidFill>
                <a:latin typeface="Segoe UI"/>
              </a:defRPr>
            </a:pPr>
            <a:r>
              <a:t>08</a:t>
            </a:r>
          </a:p>
        </p:txBody>
      </p:sp>
      <p:sp>
        <p:nvSpPr>
          <p:cNvPr id="6" name="Rectangle 5"/>
          <p:cNvSpPr/>
          <p:nvPr/>
        </p:nvSpPr>
        <p:spPr>
          <a:xfrm>
            <a:off x="777240" y="2514600"/>
            <a:ext cx="2331720" cy="777240"/>
          </a:xfrm>
          <a:prstGeom prst="rect">
            <a:avLst/>
          </a:prstGeom>
          <a:solidFill>
            <a:srgbClr val="E6EDF1"/>
          </a:solidFill>
          <a:ln>
            <a:noFill/>
          </a:ln>
        </p:spPr>
        <p:txBody>
          <a:bodyPr rtlCol="0" anchor="ctr"/>
          <a:lstStyle/>
          <a:p>
            <a:pPr algn="ctr"/>
          </a:p>
        </p:txBody>
      </p:sp>
      <p:sp>
        <p:nvSpPr>
          <p:cNvPr id="7" name="TextBox 6"/>
          <p:cNvSpPr txBox="1"/>
          <p:nvPr/>
        </p:nvSpPr>
        <p:spPr>
          <a:xfrm>
            <a:off x="841247" y="2752344"/>
            <a:ext cx="2203703" cy="411480"/>
          </a:xfrm>
          <a:prstGeom prst="rect">
            <a:avLst/>
          </a:prstGeom>
          <a:noFill/>
        </p:spPr>
        <p:txBody>
          <a:bodyPr wrap="square" tIns="0" lIns="0" rIns="0" bIns="0">
            <a:spAutoFit/>
          </a:bodyPr>
          <a:lstStyle/>
          <a:p>
            <a:pPr>
              <a:lnSpc>
                <a:spcPct val="110000"/>
              </a:lnSpc>
              <a:spcAft>
                <a:spcPts val="0"/>
              </a:spcAft>
              <a:defRPr sz="2200" b="1">
                <a:solidFill>
                  <a:srgbClr val="364653"/>
                </a:solidFill>
                <a:latin typeface="Consolas"/>
              </a:defRPr>
            </a:pPr>
            <a:r>
              <a:t>-rwsr-xr-x</a:t>
            </a:r>
          </a:p>
        </p:txBody>
      </p:sp>
      <p:cxnSp>
        <p:nvCxnSpPr>
          <p:cNvPr id="8" name="Connector 7"/>
          <p:cNvCxnSpPr/>
          <p:nvPr/>
        </p:nvCxnSpPr>
        <p:spPr>
          <a:xfrm>
            <a:off x="1943100" y="3291840"/>
            <a:ext cx="0" cy="502920"/>
          </a:xfrm>
          <a:prstGeom prst="line">
            <a:avLst/>
          </a:prstGeom>
          <a:ln w="15240">
            <a:solidFill>
              <a:srgbClr val="456B88"/>
            </a:solidFill>
          </a:ln>
        </p:spPr>
      </p:cxnSp>
      <p:sp>
        <p:nvSpPr>
          <p:cNvPr id="9" name="TextBox 8"/>
          <p:cNvSpPr txBox="1"/>
          <p:nvPr/>
        </p:nvSpPr>
        <p:spPr>
          <a:xfrm>
            <a:off x="777240" y="3950208"/>
            <a:ext cx="2331720" cy="548640"/>
          </a:xfrm>
          <a:prstGeom prst="rect">
            <a:avLst/>
          </a:prstGeom>
          <a:noFill/>
        </p:spPr>
        <p:txBody>
          <a:bodyPr wrap="square" tIns="0" lIns="0" rIns="0" bIns="0">
            <a:spAutoFit/>
          </a:bodyPr>
          <a:lstStyle/>
          <a:p>
            <a:pPr algn="ctr">
              <a:lnSpc>
                <a:spcPct val="110000"/>
              </a:lnSpc>
              <a:spcAft>
                <a:spcPts val="0"/>
              </a:spcAft>
              <a:defRPr sz="1700" b="0">
                <a:solidFill>
                  <a:srgbClr val="5B6870"/>
                </a:solidFill>
                <a:latin typeface="Segoe UI"/>
              </a:defRPr>
            </a:pPr>
            <a:r>
              <a:t>Loại + quyền</a:t>
            </a:r>
          </a:p>
        </p:txBody>
      </p:sp>
      <p:sp>
        <p:nvSpPr>
          <p:cNvPr id="10" name="Rectangle 9"/>
          <p:cNvSpPr/>
          <p:nvPr/>
        </p:nvSpPr>
        <p:spPr>
          <a:xfrm>
            <a:off x="3218688" y="2514600"/>
            <a:ext cx="548640" cy="777240"/>
          </a:xfrm>
          <a:prstGeom prst="rect">
            <a:avLst/>
          </a:prstGeom>
          <a:solidFill>
            <a:srgbClr val="E7EDE1"/>
          </a:solidFill>
          <a:ln>
            <a:noFill/>
          </a:ln>
        </p:spPr>
        <p:txBody>
          <a:bodyPr rtlCol="0" anchor="ctr"/>
          <a:lstStyle/>
          <a:p>
            <a:pPr algn="ctr"/>
          </a:p>
        </p:txBody>
      </p:sp>
      <p:sp>
        <p:nvSpPr>
          <p:cNvPr id="11" name="TextBox 10"/>
          <p:cNvSpPr txBox="1"/>
          <p:nvPr/>
        </p:nvSpPr>
        <p:spPr>
          <a:xfrm>
            <a:off x="3282696" y="2752344"/>
            <a:ext cx="420623" cy="411480"/>
          </a:xfrm>
          <a:prstGeom prst="rect">
            <a:avLst/>
          </a:prstGeom>
          <a:noFill/>
        </p:spPr>
        <p:txBody>
          <a:bodyPr wrap="square" tIns="0" lIns="0" rIns="0" bIns="0">
            <a:spAutoFit/>
          </a:bodyPr>
          <a:lstStyle/>
          <a:p>
            <a:pPr>
              <a:lnSpc>
                <a:spcPct val="110000"/>
              </a:lnSpc>
              <a:spcAft>
                <a:spcPts val="0"/>
              </a:spcAft>
              <a:defRPr sz="2200" b="1">
                <a:solidFill>
                  <a:srgbClr val="364653"/>
                </a:solidFill>
                <a:latin typeface="Consolas"/>
              </a:defRPr>
            </a:pPr>
            <a:r>
              <a:t>1</a:t>
            </a:r>
          </a:p>
        </p:txBody>
      </p:sp>
      <p:cxnSp>
        <p:nvCxnSpPr>
          <p:cNvPr id="12" name="Connector 11"/>
          <p:cNvCxnSpPr/>
          <p:nvPr/>
        </p:nvCxnSpPr>
        <p:spPr>
          <a:xfrm>
            <a:off x="3493008" y="3291840"/>
            <a:ext cx="0" cy="502920"/>
          </a:xfrm>
          <a:prstGeom prst="line">
            <a:avLst/>
          </a:prstGeom>
          <a:ln w="15240">
            <a:solidFill>
              <a:srgbClr val="456B88"/>
            </a:solidFill>
          </a:ln>
        </p:spPr>
      </p:cxnSp>
      <p:sp>
        <p:nvSpPr>
          <p:cNvPr id="13" name="TextBox 12"/>
          <p:cNvSpPr txBox="1"/>
          <p:nvPr/>
        </p:nvSpPr>
        <p:spPr>
          <a:xfrm>
            <a:off x="3218688" y="3950208"/>
            <a:ext cx="548640" cy="548640"/>
          </a:xfrm>
          <a:prstGeom prst="rect">
            <a:avLst/>
          </a:prstGeom>
          <a:noFill/>
        </p:spPr>
        <p:txBody>
          <a:bodyPr wrap="square" tIns="0" lIns="0" rIns="0" bIns="0">
            <a:spAutoFit/>
          </a:bodyPr>
          <a:lstStyle/>
          <a:p>
            <a:pPr algn="ctr">
              <a:lnSpc>
                <a:spcPct val="110000"/>
              </a:lnSpc>
              <a:spcAft>
                <a:spcPts val="0"/>
              </a:spcAft>
              <a:defRPr sz="1700" b="0">
                <a:solidFill>
                  <a:srgbClr val="5B6870"/>
                </a:solidFill>
                <a:latin typeface="Segoe UI"/>
              </a:defRPr>
            </a:pPr>
            <a:r>
              <a:t>n</a:t>
            </a:r>
          </a:p>
        </p:txBody>
      </p:sp>
      <p:sp>
        <p:nvSpPr>
          <p:cNvPr id="14" name="Rectangle 13"/>
          <p:cNvSpPr/>
          <p:nvPr/>
        </p:nvSpPr>
        <p:spPr>
          <a:xfrm>
            <a:off x="3877056" y="2514600"/>
            <a:ext cx="914400" cy="777240"/>
          </a:xfrm>
          <a:prstGeom prst="rect">
            <a:avLst/>
          </a:prstGeom>
          <a:solidFill>
            <a:srgbClr val="E7EDE1"/>
          </a:solidFill>
          <a:ln>
            <a:noFill/>
          </a:ln>
        </p:spPr>
        <p:txBody>
          <a:bodyPr rtlCol="0" anchor="ctr"/>
          <a:lstStyle/>
          <a:p>
            <a:pPr algn="ctr"/>
          </a:p>
        </p:txBody>
      </p:sp>
      <p:sp>
        <p:nvSpPr>
          <p:cNvPr id="15" name="TextBox 14"/>
          <p:cNvSpPr txBox="1"/>
          <p:nvPr/>
        </p:nvSpPr>
        <p:spPr>
          <a:xfrm>
            <a:off x="3941064" y="2752344"/>
            <a:ext cx="786384" cy="411480"/>
          </a:xfrm>
          <a:prstGeom prst="rect">
            <a:avLst/>
          </a:prstGeom>
          <a:noFill/>
        </p:spPr>
        <p:txBody>
          <a:bodyPr wrap="square" tIns="0" lIns="0" rIns="0" bIns="0">
            <a:spAutoFit/>
          </a:bodyPr>
          <a:lstStyle/>
          <a:p>
            <a:pPr>
              <a:lnSpc>
                <a:spcPct val="110000"/>
              </a:lnSpc>
              <a:spcAft>
                <a:spcPts val="0"/>
              </a:spcAft>
              <a:defRPr sz="2200" b="1">
                <a:solidFill>
                  <a:srgbClr val="364653"/>
                </a:solidFill>
                <a:latin typeface="Consolas"/>
              </a:defRPr>
            </a:pPr>
            <a:r>
              <a:t>user</a:t>
            </a:r>
          </a:p>
        </p:txBody>
      </p:sp>
      <p:cxnSp>
        <p:nvCxnSpPr>
          <p:cNvPr id="16" name="Connector 15"/>
          <p:cNvCxnSpPr/>
          <p:nvPr/>
        </p:nvCxnSpPr>
        <p:spPr>
          <a:xfrm>
            <a:off x="4334256" y="3291840"/>
            <a:ext cx="0" cy="502920"/>
          </a:xfrm>
          <a:prstGeom prst="line">
            <a:avLst/>
          </a:prstGeom>
          <a:ln w="15240">
            <a:solidFill>
              <a:srgbClr val="456B88"/>
            </a:solidFill>
          </a:ln>
        </p:spPr>
      </p:cxnSp>
      <p:sp>
        <p:nvSpPr>
          <p:cNvPr id="17" name="TextBox 16"/>
          <p:cNvSpPr txBox="1"/>
          <p:nvPr/>
        </p:nvSpPr>
        <p:spPr>
          <a:xfrm>
            <a:off x="3877056" y="3950208"/>
            <a:ext cx="914400" cy="548640"/>
          </a:xfrm>
          <a:prstGeom prst="rect">
            <a:avLst/>
          </a:prstGeom>
          <a:noFill/>
        </p:spPr>
        <p:txBody>
          <a:bodyPr wrap="square" tIns="0" lIns="0" rIns="0" bIns="0">
            <a:spAutoFit/>
          </a:bodyPr>
          <a:lstStyle/>
          <a:p>
            <a:pPr algn="ctr">
              <a:lnSpc>
                <a:spcPct val="110000"/>
              </a:lnSpc>
              <a:spcAft>
                <a:spcPts val="0"/>
              </a:spcAft>
              <a:defRPr sz="1700" b="0">
                <a:solidFill>
                  <a:srgbClr val="5B6870"/>
                </a:solidFill>
                <a:latin typeface="Segoe UI"/>
              </a:defRPr>
            </a:pPr>
            <a:r>
              <a:t>Owner</a:t>
            </a:r>
          </a:p>
        </p:txBody>
      </p:sp>
      <p:sp>
        <p:nvSpPr>
          <p:cNvPr id="18" name="Rectangle 17"/>
          <p:cNvSpPr/>
          <p:nvPr/>
        </p:nvSpPr>
        <p:spPr>
          <a:xfrm>
            <a:off x="4901184" y="2514600"/>
            <a:ext cx="1097280" cy="777240"/>
          </a:xfrm>
          <a:prstGeom prst="rect">
            <a:avLst/>
          </a:prstGeom>
          <a:solidFill>
            <a:srgbClr val="E7EDE1"/>
          </a:solidFill>
          <a:ln>
            <a:noFill/>
          </a:ln>
        </p:spPr>
        <p:txBody>
          <a:bodyPr rtlCol="0" anchor="ctr"/>
          <a:lstStyle/>
          <a:p>
            <a:pPr algn="ctr"/>
          </a:p>
        </p:txBody>
      </p:sp>
      <p:sp>
        <p:nvSpPr>
          <p:cNvPr id="19" name="TextBox 18"/>
          <p:cNvSpPr txBox="1"/>
          <p:nvPr/>
        </p:nvSpPr>
        <p:spPr>
          <a:xfrm>
            <a:off x="4965192" y="2752344"/>
            <a:ext cx="969264" cy="411480"/>
          </a:xfrm>
          <a:prstGeom prst="rect">
            <a:avLst/>
          </a:prstGeom>
          <a:noFill/>
        </p:spPr>
        <p:txBody>
          <a:bodyPr wrap="square" tIns="0" lIns="0" rIns="0" bIns="0">
            <a:spAutoFit/>
          </a:bodyPr>
          <a:lstStyle/>
          <a:p>
            <a:pPr>
              <a:lnSpc>
                <a:spcPct val="110000"/>
              </a:lnSpc>
              <a:spcAft>
                <a:spcPts val="0"/>
              </a:spcAft>
              <a:defRPr sz="2200" b="1">
                <a:solidFill>
                  <a:srgbClr val="364653"/>
                </a:solidFill>
                <a:latin typeface="Consolas"/>
              </a:defRPr>
            </a:pPr>
            <a:r>
              <a:t>group</a:t>
            </a:r>
          </a:p>
        </p:txBody>
      </p:sp>
      <p:cxnSp>
        <p:nvCxnSpPr>
          <p:cNvPr id="20" name="Connector 19"/>
          <p:cNvCxnSpPr/>
          <p:nvPr/>
        </p:nvCxnSpPr>
        <p:spPr>
          <a:xfrm>
            <a:off x="5449824" y="3291840"/>
            <a:ext cx="0" cy="502920"/>
          </a:xfrm>
          <a:prstGeom prst="line">
            <a:avLst/>
          </a:prstGeom>
          <a:ln w="15240">
            <a:solidFill>
              <a:srgbClr val="456B88"/>
            </a:solidFill>
          </a:ln>
        </p:spPr>
      </p:cxnSp>
      <p:sp>
        <p:nvSpPr>
          <p:cNvPr id="21" name="TextBox 20"/>
          <p:cNvSpPr txBox="1"/>
          <p:nvPr/>
        </p:nvSpPr>
        <p:spPr>
          <a:xfrm>
            <a:off x="4901184" y="3950208"/>
            <a:ext cx="1097280" cy="548640"/>
          </a:xfrm>
          <a:prstGeom prst="rect">
            <a:avLst/>
          </a:prstGeom>
          <a:noFill/>
        </p:spPr>
        <p:txBody>
          <a:bodyPr wrap="square" tIns="0" lIns="0" rIns="0" bIns="0">
            <a:spAutoFit/>
          </a:bodyPr>
          <a:lstStyle/>
          <a:p>
            <a:pPr algn="ctr">
              <a:lnSpc>
                <a:spcPct val="110000"/>
              </a:lnSpc>
              <a:spcAft>
                <a:spcPts val="0"/>
              </a:spcAft>
              <a:defRPr sz="1700" b="0">
                <a:solidFill>
                  <a:srgbClr val="5B6870"/>
                </a:solidFill>
                <a:latin typeface="Segoe UI"/>
              </a:defRPr>
            </a:pPr>
            <a:r>
              <a:t>Group</a:t>
            </a:r>
          </a:p>
        </p:txBody>
      </p:sp>
      <p:sp>
        <p:nvSpPr>
          <p:cNvPr id="22" name="Rectangle 21"/>
          <p:cNvSpPr/>
          <p:nvPr/>
        </p:nvSpPr>
        <p:spPr>
          <a:xfrm>
            <a:off x="6108192" y="2514600"/>
            <a:ext cx="731520" cy="777240"/>
          </a:xfrm>
          <a:prstGeom prst="rect">
            <a:avLst/>
          </a:prstGeom>
          <a:solidFill>
            <a:srgbClr val="F1E3D8"/>
          </a:solidFill>
          <a:ln>
            <a:noFill/>
          </a:ln>
        </p:spPr>
        <p:txBody>
          <a:bodyPr rtlCol="0" anchor="ctr"/>
          <a:lstStyle/>
          <a:p>
            <a:pPr algn="ctr"/>
          </a:p>
        </p:txBody>
      </p:sp>
      <p:sp>
        <p:nvSpPr>
          <p:cNvPr id="23" name="TextBox 22"/>
          <p:cNvSpPr txBox="1"/>
          <p:nvPr/>
        </p:nvSpPr>
        <p:spPr>
          <a:xfrm>
            <a:off x="6172200" y="2752344"/>
            <a:ext cx="603504" cy="411480"/>
          </a:xfrm>
          <a:prstGeom prst="rect">
            <a:avLst/>
          </a:prstGeom>
          <a:noFill/>
        </p:spPr>
        <p:txBody>
          <a:bodyPr wrap="square" tIns="0" lIns="0" rIns="0" bIns="0">
            <a:spAutoFit/>
          </a:bodyPr>
          <a:lstStyle/>
          <a:p>
            <a:pPr>
              <a:lnSpc>
                <a:spcPct val="110000"/>
              </a:lnSpc>
              <a:spcAft>
                <a:spcPts val="0"/>
              </a:spcAft>
              <a:defRPr sz="2200" b="1">
                <a:solidFill>
                  <a:srgbClr val="364653"/>
                </a:solidFill>
                <a:latin typeface="Consolas"/>
              </a:defRPr>
            </a:pPr>
            <a:r>
              <a:t>29</a:t>
            </a:r>
          </a:p>
        </p:txBody>
      </p:sp>
      <p:cxnSp>
        <p:nvCxnSpPr>
          <p:cNvPr id="24" name="Connector 23"/>
          <p:cNvCxnSpPr/>
          <p:nvPr/>
        </p:nvCxnSpPr>
        <p:spPr>
          <a:xfrm>
            <a:off x="6473952" y="3291840"/>
            <a:ext cx="0" cy="502920"/>
          </a:xfrm>
          <a:prstGeom prst="line">
            <a:avLst/>
          </a:prstGeom>
          <a:ln w="15240">
            <a:solidFill>
              <a:srgbClr val="456B88"/>
            </a:solidFill>
          </a:ln>
        </p:spPr>
      </p:cxnSp>
      <p:sp>
        <p:nvSpPr>
          <p:cNvPr id="25" name="TextBox 24"/>
          <p:cNvSpPr txBox="1"/>
          <p:nvPr/>
        </p:nvSpPr>
        <p:spPr>
          <a:xfrm>
            <a:off x="6108192" y="3950208"/>
            <a:ext cx="731520" cy="548640"/>
          </a:xfrm>
          <a:prstGeom prst="rect">
            <a:avLst/>
          </a:prstGeom>
          <a:noFill/>
        </p:spPr>
        <p:txBody>
          <a:bodyPr wrap="square" tIns="0" lIns="0" rIns="0" bIns="0">
            <a:spAutoFit/>
          </a:bodyPr>
          <a:lstStyle/>
          <a:p>
            <a:pPr algn="ctr">
              <a:lnSpc>
                <a:spcPct val="110000"/>
              </a:lnSpc>
              <a:spcAft>
                <a:spcPts val="0"/>
              </a:spcAft>
              <a:defRPr sz="1700" b="0">
                <a:solidFill>
                  <a:srgbClr val="5B6870"/>
                </a:solidFill>
                <a:latin typeface="Segoe UI"/>
              </a:defRPr>
            </a:pPr>
            <a:r>
              <a:t>Bytes</a:t>
            </a:r>
          </a:p>
        </p:txBody>
      </p:sp>
      <p:sp>
        <p:nvSpPr>
          <p:cNvPr id="26" name="Rectangle 25"/>
          <p:cNvSpPr/>
          <p:nvPr/>
        </p:nvSpPr>
        <p:spPr>
          <a:xfrm>
            <a:off x="6949440" y="2514600"/>
            <a:ext cx="2331720" cy="777240"/>
          </a:xfrm>
          <a:prstGeom prst="rect">
            <a:avLst/>
          </a:prstGeom>
          <a:solidFill>
            <a:srgbClr val="EAE6EF"/>
          </a:solidFill>
          <a:ln>
            <a:noFill/>
          </a:ln>
        </p:spPr>
        <p:txBody>
          <a:bodyPr rtlCol="0" anchor="ctr"/>
          <a:lstStyle/>
          <a:p>
            <a:pPr algn="ctr"/>
          </a:p>
        </p:txBody>
      </p:sp>
      <p:sp>
        <p:nvSpPr>
          <p:cNvPr id="27" name="TextBox 26"/>
          <p:cNvSpPr txBox="1"/>
          <p:nvPr/>
        </p:nvSpPr>
        <p:spPr>
          <a:xfrm>
            <a:off x="7013448" y="2752344"/>
            <a:ext cx="2203703" cy="411480"/>
          </a:xfrm>
          <a:prstGeom prst="rect">
            <a:avLst/>
          </a:prstGeom>
          <a:noFill/>
        </p:spPr>
        <p:txBody>
          <a:bodyPr wrap="square" tIns="0" lIns="0" rIns="0" bIns="0">
            <a:spAutoFit/>
          </a:bodyPr>
          <a:lstStyle/>
          <a:p>
            <a:pPr>
              <a:lnSpc>
                <a:spcPct val="110000"/>
              </a:lnSpc>
              <a:spcAft>
                <a:spcPts val="0"/>
              </a:spcAft>
              <a:defRPr sz="2200" b="1">
                <a:solidFill>
                  <a:srgbClr val="364653"/>
                </a:solidFill>
                <a:latin typeface="Consolas"/>
              </a:defRPr>
            </a:pPr>
            <a:r>
              <a:t>Oct 16 10:00</a:t>
            </a:r>
          </a:p>
        </p:txBody>
      </p:sp>
      <p:cxnSp>
        <p:nvCxnSpPr>
          <p:cNvPr id="28" name="Connector 27"/>
          <p:cNvCxnSpPr/>
          <p:nvPr/>
        </p:nvCxnSpPr>
        <p:spPr>
          <a:xfrm>
            <a:off x="8115300" y="3291840"/>
            <a:ext cx="0" cy="502920"/>
          </a:xfrm>
          <a:prstGeom prst="line">
            <a:avLst/>
          </a:prstGeom>
          <a:ln w="15240">
            <a:solidFill>
              <a:srgbClr val="456B88"/>
            </a:solidFill>
          </a:ln>
        </p:spPr>
      </p:cxnSp>
      <p:sp>
        <p:nvSpPr>
          <p:cNvPr id="29" name="TextBox 28"/>
          <p:cNvSpPr txBox="1"/>
          <p:nvPr/>
        </p:nvSpPr>
        <p:spPr>
          <a:xfrm>
            <a:off x="6949440" y="3950208"/>
            <a:ext cx="2331720" cy="548640"/>
          </a:xfrm>
          <a:prstGeom prst="rect">
            <a:avLst/>
          </a:prstGeom>
          <a:noFill/>
        </p:spPr>
        <p:txBody>
          <a:bodyPr wrap="square" tIns="0" lIns="0" rIns="0" bIns="0">
            <a:spAutoFit/>
          </a:bodyPr>
          <a:lstStyle/>
          <a:p>
            <a:pPr algn="ctr">
              <a:lnSpc>
                <a:spcPct val="110000"/>
              </a:lnSpc>
              <a:spcAft>
                <a:spcPts val="0"/>
              </a:spcAft>
              <a:defRPr sz="1700" b="0">
                <a:solidFill>
                  <a:srgbClr val="5B6870"/>
                </a:solidFill>
                <a:latin typeface="Segoe UI"/>
              </a:defRPr>
            </a:pPr>
            <a:r>
              <a:t>mtime</a:t>
            </a:r>
          </a:p>
        </p:txBody>
      </p:sp>
      <p:sp>
        <p:nvSpPr>
          <p:cNvPr id="30" name="Rectangle 29"/>
          <p:cNvSpPr/>
          <p:nvPr/>
        </p:nvSpPr>
        <p:spPr>
          <a:xfrm>
            <a:off x="9390888" y="2514600"/>
            <a:ext cx="1325880" cy="777240"/>
          </a:xfrm>
          <a:prstGeom prst="rect">
            <a:avLst/>
          </a:prstGeom>
          <a:solidFill>
            <a:srgbClr val="E6EDF1"/>
          </a:solidFill>
          <a:ln>
            <a:noFill/>
          </a:ln>
        </p:spPr>
        <p:txBody>
          <a:bodyPr rtlCol="0" anchor="ctr"/>
          <a:lstStyle/>
          <a:p>
            <a:pPr algn="ctr"/>
          </a:p>
        </p:txBody>
      </p:sp>
      <p:sp>
        <p:nvSpPr>
          <p:cNvPr id="31" name="TextBox 30"/>
          <p:cNvSpPr txBox="1"/>
          <p:nvPr/>
        </p:nvSpPr>
        <p:spPr>
          <a:xfrm>
            <a:off x="9454896" y="2752344"/>
            <a:ext cx="1197864" cy="411480"/>
          </a:xfrm>
          <a:prstGeom prst="rect">
            <a:avLst/>
          </a:prstGeom>
          <a:noFill/>
        </p:spPr>
        <p:txBody>
          <a:bodyPr wrap="square" tIns="0" lIns="0" rIns="0" bIns="0">
            <a:spAutoFit/>
          </a:bodyPr>
          <a:lstStyle/>
          <a:p>
            <a:pPr>
              <a:lnSpc>
                <a:spcPct val="110000"/>
              </a:lnSpc>
              <a:spcAft>
                <a:spcPts val="0"/>
              </a:spcAft>
              <a:defRPr sz="2200" b="1">
                <a:solidFill>
                  <a:srgbClr val="364653"/>
                </a:solidFill>
                <a:latin typeface="Consolas"/>
              </a:defRPr>
            </a:pPr>
            <a:r>
              <a:t>main.c</a:t>
            </a:r>
          </a:p>
        </p:txBody>
      </p:sp>
      <p:cxnSp>
        <p:nvCxnSpPr>
          <p:cNvPr id="32" name="Connector 31"/>
          <p:cNvCxnSpPr/>
          <p:nvPr/>
        </p:nvCxnSpPr>
        <p:spPr>
          <a:xfrm>
            <a:off x="10053828" y="3291840"/>
            <a:ext cx="0" cy="502920"/>
          </a:xfrm>
          <a:prstGeom prst="line">
            <a:avLst/>
          </a:prstGeom>
          <a:ln w="15240">
            <a:solidFill>
              <a:srgbClr val="456B88"/>
            </a:solidFill>
          </a:ln>
        </p:spPr>
      </p:cxnSp>
      <p:sp>
        <p:nvSpPr>
          <p:cNvPr id="33" name="TextBox 32"/>
          <p:cNvSpPr txBox="1"/>
          <p:nvPr/>
        </p:nvSpPr>
        <p:spPr>
          <a:xfrm>
            <a:off x="9390888" y="3950208"/>
            <a:ext cx="1325880" cy="548640"/>
          </a:xfrm>
          <a:prstGeom prst="rect">
            <a:avLst/>
          </a:prstGeom>
          <a:noFill/>
        </p:spPr>
        <p:txBody>
          <a:bodyPr wrap="square" tIns="0" lIns="0" rIns="0" bIns="0">
            <a:spAutoFit/>
          </a:bodyPr>
          <a:lstStyle/>
          <a:p>
            <a:pPr algn="ctr">
              <a:lnSpc>
                <a:spcPct val="110000"/>
              </a:lnSpc>
              <a:spcAft>
                <a:spcPts val="0"/>
              </a:spcAft>
              <a:defRPr sz="1700" b="0">
                <a:solidFill>
                  <a:srgbClr val="5B6870"/>
                </a:solidFill>
                <a:latin typeface="Segoe UI"/>
              </a:defRPr>
            </a:pPr>
            <a:r>
              <a:t>Tên</a:t>
            </a:r>
          </a:p>
        </p:txBody>
      </p:sp>
      <p:sp>
        <p:nvSpPr>
          <p:cNvPr id="34" name="TextBox 33"/>
          <p:cNvSpPr txBox="1"/>
          <p:nvPr/>
        </p:nvSpPr>
        <p:spPr>
          <a:xfrm>
            <a:off x="777240" y="5193792"/>
            <a:ext cx="5120640" cy="868680"/>
          </a:xfrm>
          <a:prstGeom prst="rect">
            <a:avLst/>
          </a:prstGeom>
          <a:noFill/>
        </p:spPr>
        <p:txBody>
          <a:bodyPr wrap="square" tIns="0" lIns="0" rIns="0" bIns="0">
            <a:spAutoFit/>
          </a:bodyPr>
          <a:lstStyle/>
          <a:p>
            <a:pPr>
              <a:lnSpc>
                <a:spcPct val="110000"/>
              </a:lnSpc>
              <a:spcAft>
                <a:spcPts val="300"/>
              </a:spcAft>
              <a:defRPr sz="2100" b="0">
                <a:solidFill>
                  <a:srgbClr val="364653"/>
                </a:solidFill>
                <a:latin typeface="Segoe UI"/>
              </a:defRPr>
            </a:pPr>
            <a:r>
              <a:t>Hai lượt: đo độ rộng → in canh cột.</a:t>
            </a:r>
          </a:p>
          <a:p>
            <a:pPr>
              <a:lnSpc>
                <a:spcPct val="110000"/>
              </a:lnSpc>
              <a:spcAft>
                <a:spcPts val="0"/>
              </a:spcAft>
              <a:defRPr sz="2100" b="0">
                <a:solidFill>
                  <a:srgbClr val="364653"/>
                </a:solidFill>
                <a:latin typeface="Segoe UI"/>
              </a:defRPr>
            </a:pPr>
            <a:r>
              <a:t>UID/GID không có tên thì dùng số.</a:t>
            </a:r>
          </a:p>
        </p:txBody>
      </p:sp>
      <p:sp>
        <p:nvSpPr>
          <p:cNvPr id="35" name="TextBox 34"/>
          <p:cNvSpPr txBox="1"/>
          <p:nvPr/>
        </p:nvSpPr>
        <p:spPr>
          <a:xfrm>
            <a:off x="6400800" y="5193792"/>
            <a:ext cx="4937760" cy="868680"/>
          </a:xfrm>
          <a:prstGeom prst="rect">
            <a:avLst/>
          </a:prstGeom>
          <a:noFill/>
        </p:spPr>
        <p:txBody>
          <a:bodyPr wrap="square" tIns="0" lIns="0" rIns="0" bIns="0">
            <a:spAutoFit/>
          </a:bodyPr>
          <a:lstStyle/>
          <a:p>
            <a:pPr>
              <a:lnSpc>
                <a:spcPct val="110000"/>
              </a:lnSpc>
              <a:spcAft>
                <a:spcPts val="300"/>
              </a:spcAft>
              <a:defRPr sz="2100" b="1">
                <a:solidFill>
                  <a:srgbClr val="456B88"/>
                </a:solidFill>
                <a:latin typeface="Segoe UI"/>
              </a:defRPr>
            </a:pPr>
            <a:r>
              <a:t>s = SUID + execute của owner.</a:t>
            </a:r>
          </a:p>
          <a:p>
            <a:pPr>
              <a:lnSpc>
                <a:spcPct val="110000"/>
              </a:lnSpc>
              <a:spcAft>
                <a:spcPts val="0"/>
              </a:spcAft>
              <a:defRPr sz="2100" b="1">
                <a:solidFill>
                  <a:srgbClr val="456B88"/>
                </a:solidFill>
                <a:latin typeface="Segoe UI"/>
              </a:defRPr>
            </a:pPr>
            <a:r>
              <a:t>Symlink: thêm “tên → đích”.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DF0E8"/>
        </a:solidFill>
        <a:effectLst/>
      </p:bgPr>
    </p:bg>
    <p:spTree>
      <p:nvGrpSpPr>
        <p:cNvPr id="1" name=""/>
        <p:cNvGrpSpPr/>
        <p:nvPr/>
      </p:nvGrpSpPr>
      <p:grpSpPr/>
      <p:sp>
        <p:nvSpPr>
          <p:cNvPr id="2" name="TextBox 1"/>
          <p:cNvSpPr txBox="1"/>
          <p:nvPr/>
        </p:nvSpPr>
        <p:spPr>
          <a:xfrm>
            <a:off x="749808" y="429768"/>
            <a:ext cx="10698480" cy="594360"/>
          </a:xfrm>
          <a:prstGeom prst="rect">
            <a:avLst/>
          </a:prstGeom>
          <a:noFill/>
        </p:spPr>
        <p:txBody>
          <a:bodyPr wrap="square" tIns="0" lIns="0" rIns="0" bIns="0">
            <a:spAutoFit/>
          </a:bodyPr>
          <a:lstStyle/>
          <a:p>
            <a:pPr>
              <a:lnSpc>
                <a:spcPct val="110000"/>
              </a:lnSpc>
              <a:spcAft>
                <a:spcPts val="0"/>
              </a:spcAft>
              <a:defRPr sz="3000" b="1">
                <a:solidFill>
                  <a:srgbClr val="364653"/>
                </a:solidFill>
                <a:latin typeface="Segoe UI"/>
              </a:defRPr>
            </a:pPr>
            <a:r>
              <a:t>lstat() nhìn link; stat() nhìn đối tượng đích</a:t>
            </a:r>
          </a:p>
        </p:txBody>
      </p:sp>
      <p:sp>
        <p:nvSpPr>
          <p:cNvPr id="3" name="TextBox 2"/>
          <p:cNvSpPr txBox="1"/>
          <p:nvPr/>
        </p:nvSpPr>
        <p:spPr>
          <a:xfrm>
            <a:off x="777240" y="1133856"/>
            <a:ext cx="10607040" cy="502920"/>
          </a:xfrm>
          <a:prstGeom prst="rect">
            <a:avLst/>
          </a:prstGeom>
          <a:noFill/>
        </p:spPr>
        <p:txBody>
          <a:bodyPr wrap="square" tIns="0" lIns="0" rIns="0" bIns="0">
            <a:spAutoFit/>
          </a:bodyPr>
          <a:lstStyle/>
          <a:p>
            <a:pPr>
              <a:lnSpc>
                <a:spcPct val="110000"/>
              </a:lnSpc>
              <a:spcAft>
                <a:spcPts val="0"/>
              </a:spcAft>
              <a:defRPr sz="1800" b="0">
                <a:solidFill>
                  <a:srgbClr val="5B6870"/>
                </a:solidFill>
                <a:latin typeface="Segoe UI"/>
              </a:defRPr>
            </a:pPr>
            <a:r>
              <a:t>Trong cây -R: giữ metadata của link, không đi vào đích.</a:t>
            </a:r>
          </a:p>
        </p:txBody>
      </p:sp>
      <p:cxnSp>
        <p:nvCxnSpPr>
          <p:cNvPr id="4" name="Connector 3"/>
          <p:cNvCxnSpPr/>
          <p:nvPr/>
        </p:nvCxnSpPr>
        <p:spPr>
          <a:xfrm>
            <a:off x="10762488" y="6537960"/>
            <a:ext cx="237744" cy="0"/>
          </a:xfrm>
          <a:prstGeom prst="line">
            <a:avLst/>
          </a:prstGeom>
          <a:ln w="12700">
            <a:solidFill>
              <a:srgbClr val="D3D7D2"/>
            </a:solidFill>
          </a:ln>
        </p:spPr>
      </p:cxnSp>
      <p:sp>
        <p:nvSpPr>
          <p:cNvPr id="5" name="TextBox 4"/>
          <p:cNvSpPr txBox="1"/>
          <p:nvPr/>
        </p:nvSpPr>
        <p:spPr>
          <a:xfrm>
            <a:off x="11082528" y="6419088"/>
            <a:ext cx="411480" cy="274320"/>
          </a:xfrm>
          <a:prstGeom prst="rect">
            <a:avLst/>
          </a:prstGeom>
          <a:noFill/>
        </p:spPr>
        <p:txBody>
          <a:bodyPr wrap="square" tIns="0" lIns="0" rIns="0" bIns="0">
            <a:spAutoFit/>
          </a:bodyPr>
          <a:lstStyle/>
          <a:p>
            <a:pPr algn="ctr">
              <a:lnSpc>
                <a:spcPct val="110000"/>
              </a:lnSpc>
              <a:spcAft>
                <a:spcPts val="0"/>
              </a:spcAft>
              <a:defRPr sz="1000" b="0">
                <a:solidFill>
                  <a:srgbClr val="5B6870"/>
                </a:solidFill>
                <a:latin typeface="Segoe UI"/>
              </a:defRPr>
            </a:pPr>
            <a:r>
              <a:t>09</a:t>
            </a:r>
          </a:p>
        </p:txBody>
      </p:sp>
      <p:pic>
        <p:nvPicPr>
          <p:cNvPr id="6" name="Illustration: symbolic_link" descr="Minh họa tạo bằng imagegen: Một thẻ link nối với thư mục đích bằng chuỗi giấy. Không phải ảnh chụp hay dữ liệu thực nghiệm."/>
          <p:cNvPicPr>
            <a:picLocks noChangeAspect="1"/>
          </p:cNvPicPr>
          <p:nvPr/>
        </p:nvPicPr>
        <p:blipFill>
          <a:blip r:embed="rId2"/>
          <a:stretch>
            <a:fillRect/>
          </a:stretch>
        </p:blipFill>
        <p:spPr>
          <a:xfrm>
            <a:off x="883920" y="1874519"/>
            <a:ext cx="5181600" cy="3886200"/>
          </a:xfrm>
          <a:prstGeom prst="rect">
            <a:avLst/>
          </a:prstGeom>
        </p:spPr>
      </p:pic>
      <p:cxnSp>
        <p:nvCxnSpPr>
          <p:cNvPr id="7" name="Connector 6"/>
          <p:cNvCxnSpPr/>
          <p:nvPr/>
        </p:nvCxnSpPr>
        <p:spPr>
          <a:xfrm>
            <a:off x="6537960" y="1993392"/>
            <a:ext cx="0" cy="3282696"/>
          </a:xfrm>
          <a:prstGeom prst="line">
            <a:avLst/>
          </a:prstGeom>
          <a:ln w="12700">
            <a:solidFill>
              <a:srgbClr val="D3D7D2"/>
            </a:solidFill>
          </a:ln>
        </p:spPr>
      </p:cxnSp>
      <p:sp>
        <p:nvSpPr>
          <p:cNvPr id="8" name="TextBox 7"/>
          <p:cNvSpPr txBox="1"/>
          <p:nvPr/>
        </p:nvSpPr>
        <p:spPr>
          <a:xfrm>
            <a:off x="6903720" y="2084831"/>
            <a:ext cx="4389120" cy="502920"/>
          </a:xfrm>
          <a:prstGeom prst="rect">
            <a:avLst/>
          </a:prstGeom>
          <a:noFill/>
        </p:spPr>
        <p:txBody>
          <a:bodyPr wrap="square" tIns="0" lIns="0" rIns="0" bIns="0">
            <a:spAutoFit/>
          </a:bodyPr>
          <a:lstStyle/>
          <a:p>
            <a:pPr>
              <a:lnSpc>
                <a:spcPct val="110000"/>
              </a:lnSpc>
              <a:spcAft>
                <a:spcPts val="0"/>
              </a:spcAft>
              <a:defRPr sz="2600" b="1">
                <a:solidFill>
                  <a:srgbClr val="456B88"/>
                </a:solidFill>
                <a:latin typeface="Consolas"/>
              </a:defRPr>
            </a:pPr>
            <a:r>
              <a:t>stat(link_to_src)</a:t>
            </a:r>
          </a:p>
        </p:txBody>
      </p:sp>
      <p:sp>
        <p:nvSpPr>
          <p:cNvPr id="9" name="TextBox 8"/>
          <p:cNvSpPr txBox="1"/>
          <p:nvPr/>
        </p:nvSpPr>
        <p:spPr>
          <a:xfrm>
            <a:off x="6903720" y="2743200"/>
            <a:ext cx="4389120" cy="868680"/>
          </a:xfrm>
          <a:prstGeom prst="rect">
            <a:avLst/>
          </a:prstGeom>
          <a:noFill/>
        </p:spPr>
        <p:txBody>
          <a:bodyPr wrap="square" tIns="0" lIns="0" rIns="0" bIns="0">
            <a:spAutoFit/>
          </a:bodyPr>
          <a:lstStyle/>
          <a:p>
            <a:pPr>
              <a:lnSpc>
                <a:spcPct val="110000"/>
              </a:lnSpc>
              <a:spcAft>
                <a:spcPts val="300"/>
              </a:spcAft>
              <a:defRPr sz="2500" b="0">
                <a:solidFill>
                  <a:srgbClr val="364653"/>
                </a:solidFill>
                <a:latin typeface="Segoe UI"/>
              </a:defRPr>
            </a:pPr>
            <a:r>
              <a:t>Metadata của</a:t>
            </a:r>
          </a:p>
          <a:p>
            <a:pPr>
              <a:lnSpc>
                <a:spcPct val="110000"/>
              </a:lnSpc>
              <a:spcAft>
                <a:spcPts val="0"/>
              </a:spcAft>
              <a:defRPr sz="2500" b="0">
                <a:solidFill>
                  <a:srgbClr val="364653"/>
                </a:solidFill>
                <a:latin typeface="Segoe UI"/>
              </a:defRPr>
            </a:pPr>
            <a:r>
              <a:t>thư mục src_module/</a:t>
            </a:r>
          </a:p>
        </p:txBody>
      </p:sp>
      <p:sp>
        <p:nvSpPr>
          <p:cNvPr id="10" name="TextBox 9"/>
          <p:cNvSpPr txBox="1"/>
          <p:nvPr/>
        </p:nvSpPr>
        <p:spPr>
          <a:xfrm>
            <a:off x="6903720" y="3977639"/>
            <a:ext cx="4389120" cy="502920"/>
          </a:xfrm>
          <a:prstGeom prst="rect">
            <a:avLst/>
          </a:prstGeom>
          <a:noFill/>
        </p:spPr>
        <p:txBody>
          <a:bodyPr wrap="square" tIns="0" lIns="0" rIns="0" bIns="0">
            <a:spAutoFit/>
          </a:bodyPr>
          <a:lstStyle/>
          <a:p>
            <a:pPr>
              <a:lnSpc>
                <a:spcPct val="110000"/>
              </a:lnSpc>
              <a:spcAft>
                <a:spcPts val="0"/>
              </a:spcAft>
              <a:defRPr sz="2600" b="1">
                <a:solidFill>
                  <a:srgbClr val="5C7359"/>
                </a:solidFill>
                <a:latin typeface="Consolas"/>
              </a:defRPr>
            </a:pPr>
            <a:r>
              <a:t>lstat(link_to_src)</a:t>
            </a:r>
          </a:p>
        </p:txBody>
      </p:sp>
      <p:sp>
        <p:nvSpPr>
          <p:cNvPr id="11" name="TextBox 10"/>
          <p:cNvSpPr txBox="1"/>
          <p:nvPr/>
        </p:nvSpPr>
        <p:spPr>
          <a:xfrm>
            <a:off x="6903720" y="4626864"/>
            <a:ext cx="4389120" cy="868680"/>
          </a:xfrm>
          <a:prstGeom prst="rect">
            <a:avLst/>
          </a:prstGeom>
          <a:noFill/>
        </p:spPr>
        <p:txBody>
          <a:bodyPr wrap="square" tIns="0" lIns="0" rIns="0" bIns="0">
            <a:spAutoFit/>
          </a:bodyPr>
          <a:lstStyle/>
          <a:p>
            <a:pPr>
              <a:lnSpc>
                <a:spcPct val="110000"/>
              </a:lnSpc>
              <a:spcAft>
                <a:spcPts val="300"/>
              </a:spcAft>
              <a:defRPr sz="2500" b="0">
                <a:solidFill>
                  <a:srgbClr val="364653"/>
                </a:solidFill>
                <a:latin typeface="Segoe UI"/>
              </a:defRPr>
            </a:pPr>
            <a:r>
              <a:t>Metadata của</a:t>
            </a:r>
          </a:p>
          <a:p>
            <a:pPr>
              <a:lnSpc>
                <a:spcPct val="110000"/>
              </a:lnSpc>
              <a:spcAft>
                <a:spcPts val="0"/>
              </a:spcAft>
              <a:defRPr sz="2500" b="0">
                <a:solidFill>
                  <a:srgbClr val="364653"/>
                </a:solidFill>
                <a:latin typeface="Segoe UI"/>
              </a:defRPr>
            </a:pPr>
            <a:r>
              <a:t>chính symlink</a:t>
            </a:r>
          </a:p>
        </p:txBody>
      </p:sp>
      <p:sp>
        <p:nvSpPr>
          <p:cNvPr id="12" name="TextBox 11"/>
          <p:cNvSpPr txBox="1"/>
          <p:nvPr/>
        </p:nvSpPr>
        <p:spPr>
          <a:xfrm>
            <a:off x="777240" y="6035040"/>
            <a:ext cx="10607040" cy="365760"/>
          </a:xfrm>
          <a:prstGeom prst="rect">
            <a:avLst/>
          </a:prstGeom>
          <a:noFill/>
        </p:spPr>
        <p:txBody>
          <a:bodyPr wrap="square" tIns="0" lIns="0" rIns="0" bIns="0">
            <a:spAutoFit/>
          </a:bodyPr>
          <a:lstStyle/>
          <a:p>
            <a:pPr>
              <a:lnSpc>
                <a:spcPct val="110000"/>
              </a:lnSpc>
              <a:spcAft>
                <a:spcPts val="0"/>
              </a:spcAft>
              <a:defRPr sz="2000" b="0">
                <a:solidFill>
                  <a:srgbClr val="5B6870"/>
                </a:solidFill>
                <a:latin typeface="Segoe UI"/>
              </a:defRPr>
            </a:pPr>
            <a:r>
              <a:t>Operand CLI trỏ tới thư mục: không -l → duyệt đích; có -l → in link.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TextBox 1"/>
          <p:cNvSpPr txBox="1"/>
          <p:nvPr/>
        </p:nvSpPr>
        <p:spPr>
          <a:xfrm>
            <a:off x="749808" y="429768"/>
            <a:ext cx="10698480" cy="594360"/>
          </a:xfrm>
          <a:prstGeom prst="rect">
            <a:avLst/>
          </a:prstGeom>
          <a:noFill/>
        </p:spPr>
        <p:txBody>
          <a:bodyPr wrap="square" tIns="0" lIns="0" rIns="0" bIns="0">
            <a:spAutoFit/>
          </a:bodyPr>
          <a:lstStyle/>
          <a:p>
            <a:pPr>
              <a:lnSpc>
                <a:spcPct val="110000"/>
              </a:lnSpc>
              <a:spcAft>
                <a:spcPts val="0"/>
              </a:spcAft>
              <a:defRPr sz="3000" b="1">
                <a:solidFill>
                  <a:srgbClr val="364653"/>
                </a:solidFill>
                <a:latin typeface="Segoe UI"/>
              </a:defRPr>
            </a:pPr>
            <a:r>
              <a:t>-R đi theo cây thư mục thật</a:t>
            </a:r>
          </a:p>
        </p:txBody>
      </p:sp>
      <p:sp>
        <p:nvSpPr>
          <p:cNvPr id="3" name="TextBox 2"/>
          <p:cNvSpPr txBox="1"/>
          <p:nvPr/>
        </p:nvSpPr>
        <p:spPr>
          <a:xfrm>
            <a:off x="777240" y="1133856"/>
            <a:ext cx="10607040" cy="502920"/>
          </a:xfrm>
          <a:prstGeom prst="rect">
            <a:avLst/>
          </a:prstGeom>
          <a:noFill/>
        </p:spPr>
        <p:txBody>
          <a:bodyPr wrap="square" tIns="0" lIns="0" rIns="0" bIns="0">
            <a:spAutoFit/>
          </a:bodyPr>
          <a:lstStyle/>
          <a:p>
            <a:pPr>
              <a:lnSpc>
                <a:spcPct val="110000"/>
              </a:lnSpc>
              <a:spcAft>
                <a:spcPts val="0"/>
              </a:spcAft>
              <a:defRPr sz="1800" b="0">
                <a:solidFill>
                  <a:srgbClr val="5B6870"/>
                </a:solidFill>
                <a:latin typeface="Segoe UI"/>
              </a:defRPr>
            </a:pPr>
            <a:r>
              <a:t>In thư mục hiện tại → duyệt con đã sắp xếp; không theo symlink.</a:t>
            </a:r>
          </a:p>
        </p:txBody>
      </p:sp>
      <p:cxnSp>
        <p:nvCxnSpPr>
          <p:cNvPr id="4" name="Connector 3"/>
          <p:cNvCxnSpPr/>
          <p:nvPr/>
        </p:nvCxnSpPr>
        <p:spPr>
          <a:xfrm>
            <a:off x="10762488" y="6537960"/>
            <a:ext cx="237744" cy="0"/>
          </a:xfrm>
          <a:prstGeom prst="line">
            <a:avLst/>
          </a:prstGeom>
          <a:ln w="12700">
            <a:solidFill>
              <a:srgbClr val="D3D7D2"/>
            </a:solidFill>
          </a:ln>
        </p:spPr>
      </p:cxnSp>
      <p:sp>
        <p:nvSpPr>
          <p:cNvPr id="5" name="TextBox 4"/>
          <p:cNvSpPr txBox="1"/>
          <p:nvPr/>
        </p:nvSpPr>
        <p:spPr>
          <a:xfrm>
            <a:off x="11082528" y="6419088"/>
            <a:ext cx="411480" cy="274320"/>
          </a:xfrm>
          <a:prstGeom prst="rect">
            <a:avLst/>
          </a:prstGeom>
          <a:noFill/>
        </p:spPr>
        <p:txBody>
          <a:bodyPr wrap="square" tIns="0" lIns="0" rIns="0" bIns="0">
            <a:spAutoFit/>
          </a:bodyPr>
          <a:lstStyle/>
          <a:p>
            <a:pPr algn="ctr">
              <a:lnSpc>
                <a:spcPct val="110000"/>
              </a:lnSpc>
              <a:spcAft>
                <a:spcPts val="0"/>
              </a:spcAft>
              <a:defRPr sz="1000" b="0">
                <a:solidFill>
                  <a:srgbClr val="5B6870"/>
                </a:solidFill>
                <a:latin typeface="Segoe UI"/>
              </a:defRPr>
            </a:pPr>
            <a:r>
              <a:t>10</a:t>
            </a:r>
          </a:p>
        </p:txBody>
      </p:sp>
      <p:sp>
        <p:nvSpPr>
          <p:cNvPr id="6" name="Rectangle 5"/>
          <p:cNvSpPr/>
          <p:nvPr/>
        </p:nvSpPr>
        <p:spPr>
          <a:xfrm>
            <a:off x="1554480" y="1965960"/>
            <a:ext cx="384048" cy="137160"/>
          </a:xfrm>
          <a:prstGeom prst="rect">
            <a:avLst/>
          </a:prstGeom>
          <a:solidFill>
            <a:srgbClr val="456B88"/>
          </a:solidFill>
          <a:ln>
            <a:noFill/>
          </a:ln>
        </p:spPr>
        <p:txBody>
          <a:bodyPr rtlCol="0" anchor="ctr"/>
          <a:lstStyle/>
          <a:p>
            <a:pPr algn="ctr"/>
          </a:p>
        </p:txBody>
      </p:sp>
      <p:sp>
        <p:nvSpPr>
          <p:cNvPr id="7" name="Rectangle 6"/>
          <p:cNvSpPr/>
          <p:nvPr/>
        </p:nvSpPr>
        <p:spPr>
          <a:xfrm>
            <a:off x="1554480" y="2075688"/>
            <a:ext cx="914400" cy="530352"/>
          </a:xfrm>
          <a:prstGeom prst="rect">
            <a:avLst/>
          </a:prstGeom>
          <a:solidFill>
            <a:srgbClr val="456B88"/>
          </a:solidFill>
          <a:ln>
            <a:noFill/>
          </a:ln>
        </p:spPr>
        <p:txBody>
          <a:bodyPr rtlCol="0" anchor="ctr"/>
          <a:lstStyle/>
          <a:p>
            <a:pPr algn="ctr"/>
          </a:p>
        </p:txBody>
      </p:sp>
      <p:sp>
        <p:nvSpPr>
          <p:cNvPr id="8" name="TextBox 7"/>
          <p:cNvSpPr txBox="1"/>
          <p:nvPr/>
        </p:nvSpPr>
        <p:spPr>
          <a:xfrm>
            <a:off x="2724912" y="2103120"/>
            <a:ext cx="2926080" cy="457200"/>
          </a:xfrm>
          <a:prstGeom prst="rect">
            <a:avLst/>
          </a:prstGeom>
          <a:noFill/>
        </p:spPr>
        <p:txBody>
          <a:bodyPr wrap="square" tIns="0" lIns="0" rIns="0" bIns="0">
            <a:spAutoFit/>
          </a:bodyPr>
          <a:lstStyle/>
          <a:p>
            <a:pPr>
              <a:lnSpc>
                <a:spcPct val="110000"/>
              </a:lnSpc>
              <a:spcAft>
                <a:spcPts val="0"/>
              </a:spcAft>
              <a:defRPr sz="2900" b="1">
                <a:solidFill>
                  <a:srgbClr val="364653"/>
                </a:solidFill>
                <a:latin typeface="Consolas"/>
              </a:defRPr>
            </a:pPr>
            <a:r>
              <a:t>demo/</a:t>
            </a:r>
          </a:p>
        </p:txBody>
      </p:sp>
      <p:sp>
        <p:nvSpPr>
          <p:cNvPr id="9" name="Oval 8"/>
          <p:cNvSpPr/>
          <p:nvPr/>
        </p:nvSpPr>
        <p:spPr>
          <a:xfrm>
            <a:off x="777240" y="2084831"/>
            <a:ext cx="457200" cy="457200"/>
          </a:xfrm>
          <a:prstGeom prst="ellipse">
            <a:avLst/>
          </a:prstGeom>
          <a:solidFill>
            <a:srgbClr val="456B88"/>
          </a:solidFill>
          <a:ln>
            <a:noFill/>
          </a:ln>
        </p:spPr>
        <p:txBody>
          <a:bodyPr rtlCol="0" anchor="ctr"/>
          <a:lstStyle/>
          <a:p>
            <a:pPr algn="ctr"/>
          </a:p>
        </p:txBody>
      </p:sp>
      <p:sp>
        <p:nvSpPr>
          <p:cNvPr id="10" name="TextBox 9"/>
          <p:cNvSpPr txBox="1"/>
          <p:nvPr/>
        </p:nvSpPr>
        <p:spPr>
          <a:xfrm>
            <a:off x="777240" y="2135124"/>
            <a:ext cx="457200" cy="329184"/>
          </a:xfrm>
          <a:prstGeom prst="rect">
            <a:avLst/>
          </a:prstGeom>
          <a:noFill/>
        </p:spPr>
        <p:txBody>
          <a:bodyPr wrap="square" tIns="0" lIns="0" rIns="0" bIns="0">
            <a:spAutoFit/>
          </a:bodyPr>
          <a:lstStyle/>
          <a:p>
            <a:pPr algn="ctr">
              <a:lnSpc>
                <a:spcPct val="110000"/>
              </a:lnSpc>
              <a:spcAft>
                <a:spcPts val="0"/>
              </a:spcAft>
              <a:defRPr sz="1800" b="1">
                <a:solidFill>
                  <a:srgbClr val="FFFDFA"/>
                </a:solidFill>
                <a:latin typeface="Segoe UI"/>
              </a:defRPr>
            </a:pPr>
            <a:r>
              <a:t>1</a:t>
            </a:r>
          </a:p>
        </p:txBody>
      </p:sp>
      <p:cxnSp>
        <p:nvCxnSpPr>
          <p:cNvPr id="11" name="Connector 10"/>
          <p:cNvCxnSpPr/>
          <p:nvPr/>
        </p:nvCxnSpPr>
        <p:spPr>
          <a:xfrm>
            <a:off x="2011680" y="2633472"/>
            <a:ext cx="0" cy="2121408"/>
          </a:xfrm>
          <a:prstGeom prst="line">
            <a:avLst/>
          </a:prstGeom>
          <a:ln w="25400">
            <a:solidFill>
              <a:srgbClr val="456B88"/>
            </a:solidFill>
          </a:ln>
        </p:spPr>
      </p:cxnSp>
      <p:cxnSp>
        <p:nvCxnSpPr>
          <p:cNvPr id="12" name="Connector 11"/>
          <p:cNvCxnSpPr/>
          <p:nvPr/>
        </p:nvCxnSpPr>
        <p:spPr>
          <a:xfrm>
            <a:off x="2011680" y="3383280"/>
            <a:ext cx="685800" cy="0"/>
          </a:xfrm>
          <a:prstGeom prst="line">
            <a:avLst/>
          </a:prstGeom>
          <a:ln w="25400">
            <a:solidFill>
              <a:srgbClr val="456B88"/>
            </a:solidFill>
          </a:ln>
        </p:spPr>
      </p:cxnSp>
      <p:sp>
        <p:nvSpPr>
          <p:cNvPr id="13" name="Rectangle 12"/>
          <p:cNvSpPr/>
          <p:nvPr/>
        </p:nvSpPr>
        <p:spPr>
          <a:xfrm>
            <a:off x="2697480" y="3154680"/>
            <a:ext cx="288036" cy="137160"/>
          </a:xfrm>
          <a:prstGeom prst="rect">
            <a:avLst/>
          </a:prstGeom>
          <a:solidFill>
            <a:srgbClr val="456B88"/>
          </a:solidFill>
          <a:ln>
            <a:noFill/>
          </a:ln>
        </p:spPr>
        <p:txBody>
          <a:bodyPr rtlCol="0" anchor="ctr"/>
          <a:lstStyle/>
          <a:p>
            <a:pPr algn="ctr"/>
          </a:p>
        </p:txBody>
      </p:sp>
      <p:sp>
        <p:nvSpPr>
          <p:cNvPr id="14" name="Rectangle 13"/>
          <p:cNvSpPr/>
          <p:nvPr/>
        </p:nvSpPr>
        <p:spPr>
          <a:xfrm>
            <a:off x="2697480" y="3264408"/>
            <a:ext cx="685800" cy="530352"/>
          </a:xfrm>
          <a:prstGeom prst="rect">
            <a:avLst/>
          </a:prstGeom>
          <a:solidFill>
            <a:srgbClr val="456B88"/>
          </a:solidFill>
          <a:ln>
            <a:noFill/>
          </a:ln>
        </p:spPr>
        <p:txBody>
          <a:bodyPr rtlCol="0" anchor="ctr"/>
          <a:lstStyle/>
          <a:p>
            <a:pPr algn="ctr"/>
          </a:p>
        </p:txBody>
      </p:sp>
      <p:sp>
        <p:nvSpPr>
          <p:cNvPr id="15" name="TextBox 14"/>
          <p:cNvSpPr txBox="1"/>
          <p:nvPr/>
        </p:nvSpPr>
        <p:spPr>
          <a:xfrm>
            <a:off x="3611880" y="3227832"/>
            <a:ext cx="3383280" cy="457200"/>
          </a:xfrm>
          <a:prstGeom prst="rect">
            <a:avLst/>
          </a:prstGeom>
          <a:noFill/>
        </p:spPr>
        <p:txBody>
          <a:bodyPr wrap="square" tIns="0" lIns="0" rIns="0" bIns="0">
            <a:spAutoFit/>
          </a:bodyPr>
          <a:lstStyle/>
          <a:p>
            <a:pPr>
              <a:lnSpc>
                <a:spcPct val="110000"/>
              </a:lnSpc>
              <a:spcAft>
                <a:spcPts val="0"/>
              </a:spcAft>
              <a:defRPr sz="2500" b="1">
                <a:solidFill>
                  <a:srgbClr val="364653"/>
                </a:solidFill>
                <a:latin typeface="Consolas"/>
              </a:defRPr>
            </a:pPr>
            <a:r>
              <a:t>.config_hidden/</a:t>
            </a:r>
          </a:p>
        </p:txBody>
      </p:sp>
      <p:sp>
        <p:nvSpPr>
          <p:cNvPr id="16" name="Oval 15"/>
          <p:cNvSpPr/>
          <p:nvPr/>
        </p:nvSpPr>
        <p:spPr>
          <a:xfrm>
            <a:off x="7178040" y="3191256"/>
            <a:ext cx="457200" cy="457200"/>
          </a:xfrm>
          <a:prstGeom prst="ellipse">
            <a:avLst/>
          </a:prstGeom>
          <a:solidFill>
            <a:srgbClr val="456B88"/>
          </a:solidFill>
          <a:ln>
            <a:noFill/>
          </a:ln>
        </p:spPr>
        <p:txBody>
          <a:bodyPr rtlCol="0" anchor="ctr"/>
          <a:lstStyle/>
          <a:p>
            <a:pPr algn="ctr"/>
          </a:p>
        </p:txBody>
      </p:sp>
      <p:sp>
        <p:nvSpPr>
          <p:cNvPr id="17" name="TextBox 16"/>
          <p:cNvSpPr txBox="1"/>
          <p:nvPr/>
        </p:nvSpPr>
        <p:spPr>
          <a:xfrm>
            <a:off x="7178040" y="3241548"/>
            <a:ext cx="457200" cy="329184"/>
          </a:xfrm>
          <a:prstGeom prst="rect">
            <a:avLst/>
          </a:prstGeom>
          <a:noFill/>
        </p:spPr>
        <p:txBody>
          <a:bodyPr wrap="square" tIns="0" lIns="0" rIns="0" bIns="0">
            <a:spAutoFit/>
          </a:bodyPr>
          <a:lstStyle/>
          <a:p>
            <a:pPr algn="ctr">
              <a:lnSpc>
                <a:spcPct val="110000"/>
              </a:lnSpc>
              <a:spcAft>
                <a:spcPts val="0"/>
              </a:spcAft>
              <a:defRPr sz="1800" b="1">
                <a:solidFill>
                  <a:srgbClr val="FFFDFA"/>
                </a:solidFill>
                <a:latin typeface="Segoe UI"/>
              </a:defRPr>
            </a:pPr>
            <a:r>
              <a:t>2</a:t>
            </a:r>
          </a:p>
        </p:txBody>
      </p:sp>
      <p:cxnSp>
        <p:nvCxnSpPr>
          <p:cNvPr id="18" name="Connector 17"/>
          <p:cNvCxnSpPr/>
          <p:nvPr/>
        </p:nvCxnSpPr>
        <p:spPr>
          <a:xfrm>
            <a:off x="2011680" y="4498848"/>
            <a:ext cx="685800" cy="0"/>
          </a:xfrm>
          <a:prstGeom prst="line">
            <a:avLst/>
          </a:prstGeom>
          <a:ln w="25400">
            <a:solidFill>
              <a:srgbClr val="456B88"/>
            </a:solidFill>
          </a:ln>
        </p:spPr>
      </p:cxnSp>
      <p:sp>
        <p:nvSpPr>
          <p:cNvPr id="19" name="Rectangle 18"/>
          <p:cNvSpPr/>
          <p:nvPr/>
        </p:nvSpPr>
        <p:spPr>
          <a:xfrm>
            <a:off x="2697480" y="4270248"/>
            <a:ext cx="288036" cy="137160"/>
          </a:xfrm>
          <a:prstGeom prst="rect">
            <a:avLst/>
          </a:prstGeom>
          <a:solidFill>
            <a:srgbClr val="456B88"/>
          </a:solidFill>
          <a:ln>
            <a:noFill/>
          </a:ln>
        </p:spPr>
        <p:txBody>
          <a:bodyPr rtlCol="0" anchor="ctr"/>
          <a:lstStyle/>
          <a:p>
            <a:pPr algn="ctr"/>
          </a:p>
        </p:txBody>
      </p:sp>
      <p:sp>
        <p:nvSpPr>
          <p:cNvPr id="20" name="Rectangle 19"/>
          <p:cNvSpPr/>
          <p:nvPr/>
        </p:nvSpPr>
        <p:spPr>
          <a:xfrm>
            <a:off x="2697480" y="4379976"/>
            <a:ext cx="685800" cy="530352"/>
          </a:xfrm>
          <a:prstGeom prst="rect">
            <a:avLst/>
          </a:prstGeom>
          <a:solidFill>
            <a:srgbClr val="456B88"/>
          </a:solidFill>
          <a:ln>
            <a:noFill/>
          </a:ln>
        </p:spPr>
        <p:txBody>
          <a:bodyPr rtlCol="0" anchor="ctr"/>
          <a:lstStyle/>
          <a:p>
            <a:pPr algn="ctr"/>
          </a:p>
        </p:txBody>
      </p:sp>
      <p:sp>
        <p:nvSpPr>
          <p:cNvPr id="21" name="TextBox 20"/>
          <p:cNvSpPr txBox="1"/>
          <p:nvPr/>
        </p:nvSpPr>
        <p:spPr>
          <a:xfrm>
            <a:off x="3611880" y="4343400"/>
            <a:ext cx="3383280" cy="457200"/>
          </a:xfrm>
          <a:prstGeom prst="rect">
            <a:avLst/>
          </a:prstGeom>
          <a:noFill/>
        </p:spPr>
        <p:txBody>
          <a:bodyPr wrap="square" tIns="0" lIns="0" rIns="0" bIns="0">
            <a:spAutoFit/>
          </a:bodyPr>
          <a:lstStyle/>
          <a:p>
            <a:pPr>
              <a:lnSpc>
                <a:spcPct val="110000"/>
              </a:lnSpc>
              <a:spcAft>
                <a:spcPts val="0"/>
              </a:spcAft>
              <a:defRPr sz="2500" b="1">
                <a:solidFill>
                  <a:srgbClr val="364653"/>
                </a:solidFill>
                <a:latin typeface="Consolas"/>
              </a:defRPr>
            </a:pPr>
            <a:r>
              <a:t>src_module/</a:t>
            </a:r>
          </a:p>
        </p:txBody>
      </p:sp>
      <p:sp>
        <p:nvSpPr>
          <p:cNvPr id="22" name="Oval 21"/>
          <p:cNvSpPr/>
          <p:nvPr/>
        </p:nvSpPr>
        <p:spPr>
          <a:xfrm>
            <a:off x="7178040" y="4306824"/>
            <a:ext cx="457200" cy="457200"/>
          </a:xfrm>
          <a:prstGeom prst="ellipse">
            <a:avLst/>
          </a:prstGeom>
          <a:solidFill>
            <a:srgbClr val="456B88"/>
          </a:solidFill>
          <a:ln>
            <a:noFill/>
          </a:ln>
        </p:spPr>
        <p:txBody>
          <a:bodyPr rtlCol="0" anchor="ctr"/>
          <a:lstStyle/>
          <a:p>
            <a:pPr algn="ctr"/>
          </a:p>
        </p:txBody>
      </p:sp>
      <p:sp>
        <p:nvSpPr>
          <p:cNvPr id="23" name="TextBox 22"/>
          <p:cNvSpPr txBox="1"/>
          <p:nvPr/>
        </p:nvSpPr>
        <p:spPr>
          <a:xfrm>
            <a:off x="7178040" y="4357116"/>
            <a:ext cx="457200" cy="329184"/>
          </a:xfrm>
          <a:prstGeom prst="rect">
            <a:avLst/>
          </a:prstGeom>
          <a:noFill/>
        </p:spPr>
        <p:txBody>
          <a:bodyPr wrap="square" tIns="0" lIns="0" rIns="0" bIns="0">
            <a:spAutoFit/>
          </a:bodyPr>
          <a:lstStyle/>
          <a:p>
            <a:pPr algn="ctr">
              <a:lnSpc>
                <a:spcPct val="110000"/>
              </a:lnSpc>
              <a:spcAft>
                <a:spcPts val="0"/>
              </a:spcAft>
              <a:defRPr sz="1800" b="1">
                <a:solidFill>
                  <a:srgbClr val="FFFDFA"/>
                </a:solidFill>
                <a:latin typeface="Segoe UI"/>
              </a:defRPr>
            </a:pPr>
            <a:r>
              <a:t>3</a:t>
            </a:r>
          </a:p>
        </p:txBody>
      </p:sp>
      <p:cxnSp>
        <p:nvCxnSpPr>
          <p:cNvPr id="24" name="Connector 23"/>
          <p:cNvCxnSpPr/>
          <p:nvPr/>
        </p:nvCxnSpPr>
        <p:spPr>
          <a:xfrm>
            <a:off x="3040380" y="4910328"/>
            <a:ext cx="0" cy="667512"/>
          </a:xfrm>
          <a:prstGeom prst="line">
            <a:avLst/>
          </a:prstGeom>
          <a:ln w="25400">
            <a:solidFill>
              <a:srgbClr val="456B88"/>
            </a:solidFill>
          </a:ln>
        </p:spPr>
      </p:cxnSp>
      <p:cxnSp>
        <p:nvCxnSpPr>
          <p:cNvPr id="25" name="Connector 24"/>
          <p:cNvCxnSpPr/>
          <p:nvPr/>
        </p:nvCxnSpPr>
        <p:spPr>
          <a:xfrm>
            <a:off x="3040380" y="5577840"/>
            <a:ext cx="525780" cy="0"/>
          </a:xfrm>
          <a:prstGeom prst="line">
            <a:avLst/>
          </a:prstGeom>
          <a:ln w="25400">
            <a:solidFill>
              <a:srgbClr val="456B88"/>
            </a:solidFill>
          </a:ln>
        </p:spPr>
      </p:cxnSp>
      <p:sp>
        <p:nvSpPr>
          <p:cNvPr id="26" name="TextBox 25"/>
          <p:cNvSpPr txBox="1"/>
          <p:nvPr/>
        </p:nvSpPr>
        <p:spPr>
          <a:xfrm>
            <a:off x="3776472" y="5349240"/>
            <a:ext cx="4114800" cy="594360"/>
          </a:xfrm>
          <a:prstGeom prst="rect">
            <a:avLst/>
          </a:prstGeom>
          <a:noFill/>
        </p:spPr>
        <p:txBody>
          <a:bodyPr wrap="square" tIns="0" lIns="0" rIns="0" bIns="0">
            <a:spAutoFit/>
          </a:bodyPr>
          <a:lstStyle/>
          <a:p>
            <a:pPr>
              <a:lnSpc>
                <a:spcPct val="110000"/>
              </a:lnSpc>
              <a:spcAft>
                <a:spcPts val="0"/>
              </a:spcAft>
              <a:defRPr sz="2300" b="0">
                <a:solidFill>
                  <a:srgbClr val="5B6870"/>
                </a:solidFill>
                <a:latin typeface="Consolas"/>
              </a:defRPr>
            </a:pPr>
            <a:r>
              <a:t>loop_parent → ..</a:t>
            </a:r>
          </a:p>
        </p:txBody>
      </p:sp>
      <p:pic>
        <p:nvPicPr>
          <p:cNvPr id="27" name="Illustration: recursion_garden" descr="Minh họa tạo bằng imagegen: Các nhánh thư mục và một dải link rẽ ra ngoài cây. Không phải ảnh chụp hay dữ liệu thực nghiệm."/>
          <p:cNvPicPr>
            <a:picLocks noChangeAspect="1"/>
          </p:cNvPicPr>
          <p:nvPr/>
        </p:nvPicPr>
        <p:blipFill>
          <a:blip r:embed="rId2"/>
          <a:stretch>
            <a:fillRect/>
          </a:stretch>
        </p:blipFill>
        <p:spPr>
          <a:xfrm>
            <a:off x="8183879" y="1703070"/>
            <a:ext cx="3200400" cy="2400300"/>
          </a:xfrm>
          <a:prstGeom prst="rect">
            <a:avLst/>
          </a:prstGeom>
        </p:spPr>
      </p:pic>
      <p:sp>
        <p:nvSpPr>
          <p:cNvPr id="28" name="Rectangle 27"/>
          <p:cNvSpPr/>
          <p:nvPr/>
        </p:nvSpPr>
        <p:spPr>
          <a:xfrm>
            <a:off x="8183879" y="4251960"/>
            <a:ext cx="3200400" cy="1828800"/>
          </a:xfrm>
          <a:prstGeom prst="rect">
            <a:avLst/>
          </a:prstGeom>
          <a:solidFill>
            <a:srgbClr val="F1E3D8"/>
          </a:solidFill>
          <a:ln>
            <a:noFill/>
          </a:ln>
        </p:spPr>
        <p:txBody>
          <a:bodyPr rtlCol="0" anchor="ctr"/>
          <a:lstStyle/>
          <a:p>
            <a:pPr algn="ctr"/>
          </a:p>
        </p:txBody>
      </p:sp>
      <p:sp>
        <p:nvSpPr>
          <p:cNvPr id="29" name="TextBox 28"/>
          <p:cNvSpPr txBox="1"/>
          <p:nvPr/>
        </p:nvSpPr>
        <p:spPr>
          <a:xfrm>
            <a:off x="8412480" y="4443984"/>
            <a:ext cx="2743200" cy="365760"/>
          </a:xfrm>
          <a:prstGeom prst="rect">
            <a:avLst/>
          </a:prstGeom>
          <a:noFill/>
        </p:spPr>
        <p:txBody>
          <a:bodyPr wrap="square" tIns="0" lIns="0" rIns="0" bIns="0">
            <a:spAutoFit/>
          </a:bodyPr>
          <a:lstStyle/>
          <a:p>
            <a:pPr>
              <a:lnSpc>
                <a:spcPct val="110000"/>
              </a:lnSpc>
              <a:spcAft>
                <a:spcPts val="0"/>
              </a:spcAft>
              <a:defRPr sz="2000" b="1">
                <a:solidFill>
                  <a:srgbClr val="9B624B"/>
                </a:solidFill>
                <a:latin typeface="Segoe UI"/>
              </a:defRPr>
            </a:pPr>
            <a:r>
              <a:t>DỪNG TẠI</a:t>
            </a:r>
          </a:p>
        </p:txBody>
      </p:sp>
      <p:sp>
        <p:nvSpPr>
          <p:cNvPr id="30" name="TextBox 29"/>
          <p:cNvSpPr txBox="1"/>
          <p:nvPr/>
        </p:nvSpPr>
        <p:spPr>
          <a:xfrm>
            <a:off x="8412480" y="4956048"/>
            <a:ext cx="365760" cy="457200"/>
          </a:xfrm>
          <a:prstGeom prst="rect">
            <a:avLst/>
          </a:prstGeom>
          <a:noFill/>
        </p:spPr>
        <p:txBody>
          <a:bodyPr wrap="square" tIns="0" lIns="0" rIns="0" bIns="0">
            <a:spAutoFit/>
          </a:bodyPr>
          <a:lstStyle/>
          <a:p>
            <a:pPr>
              <a:lnSpc>
                <a:spcPct val="110000"/>
              </a:lnSpc>
              <a:spcAft>
                <a:spcPts val="0"/>
              </a:spcAft>
              <a:defRPr sz="2200" b="1">
                <a:solidFill>
                  <a:srgbClr val="364653"/>
                </a:solidFill>
                <a:latin typeface="Consolas"/>
              </a:defRPr>
            </a:pPr>
            <a:r>
              <a:t>.</a:t>
            </a:r>
          </a:p>
        </p:txBody>
      </p:sp>
      <p:sp>
        <p:nvSpPr>
          <p:cNvPr id="31" name="TextBox 30"/>
          <p:cNvSpPr txBox="1"/>
          <p:nvPr/>
        </p:nvSpPr>
        <p:spPr>
          <a:xfrm>
            <a:off x="9052560" y="4956048"/>
            <a:ext cx="548640" cy="457200"/>
          </a:xfrm>
          <a:prstGeom prst="rect">
            <a:avLst/>
          </a:prstGeom>
          <a:noFill/>
        </p:spPr>
        <p:txBody>
          <a:bodyPr wrap="square" tIns="0" lIns="0" rIns="0" bIns="0">
            <a:spAutoFit/>
          </a:bodyPr>
          <a:lstStyle/>
          <a:p>
            <a:pPr>
              <a:lnSpc>
                <a:spcPct val="110000"/>
              </a:lnSpc>
              <a:spcAft>
                <a:spcPts val="0"/>
              </a:spcAft>
              <a:defRPr sz="2200" b="1">
                <a:solidFill>
                  <a:srgbClr val="364653"/>
                </a:solidFill>
                <a:latin typeface="Consolas"/>
              </a:defRPr>
            </a:pPr>
            <a:r>
              <a:t>..</a:t>
            </a:r>
          </a:p>
        </p:txBody>
      </p:sp>
      <p:sp>
        <p:nvSpPr>
          <p:cNvPr id="32" name="TextBox 31"/>
          <p:cNvSpPr txBox="1"/>
          <p:nvPr/>
        </p:nvSpPr>
        <p:spPr>
          <a:xfrm>
            <a:off x="9802368" y="4956048"/>
            <a:ext cx="1371600" cy="457200"/>
          </a:xfrm>
          <a:prstGeom prst="rect">
            <a:avLst/>
          </a:prstGeom>
          <a:noFill/>
        </p:spPr>
        <p:txBody>
          <a:bodyPr wrap="square" tIns="0" lIns="0" rIns="0" bIns="0">
            <a:spAutoFit/>
          </a:bodyPr>
          <a:lstStyle/>
          <a:p>
            <a:pPr>
              <a:lnSpc>
                <a:spcPct val="110000"/>
              </a:lnSpc>
              <a:spcAft>
                <a:spcPts val="0"/>
              </a:spcAft>
              <a:defRPr sz="2200" b="1">
                <a:solidFill>
                  <a:srgbClr val="364653"/>
                </a:solidFill>
                <a:latin typeface="Consolas"/>
              </a:defRPr>
            </a:pPr>
            <a:r>
              <a:t>symlink</a:t>
            </a:r>
          </a:p>
        </p:txBody>
      </p:sp>
      <p:cxnSp>
        <p:nvCxnSpPr>
          <p:cNvPr id="33" name="Connector 32"/>
          <p:cNvCxnSpPr/>
          <p:nvPr/>
        </p:nvCxnSpPr>
        <p:spPr>
          <a:xfrm>
            <a:off x="8887968" y="4983480"/>
            <a:ext cx="0" cy="365760"/>
          </a:xfrm>
          <a:prstGeom prst="line">
            <a:avLst/>
          </a:prstGeom>
          <a:ln w="12700">
            <a:solidFill>
              <a:srgbClr val="D8C6B9"/>
            </a:solidFill>
          </a:ln>
        </p:spPr>
      </p:cxnSp>
      <p:cxnSp>
        <p:nvCxnSpPr>
          <p:cNvPr id="34" name="Connector 33"/>
          <p:cNvCxnSpPr/>
          <p:nvPr/>
        </p:nvCxnSpPr>
        <p:spPr>
          <a:xfrm>
            <a:off x="9646920" y="4983480"/>
            <a:ext cx="0" cy="365760"/>
          </a:xfrm>
          <a:prstGeom prst="line">
            <a:avLst/>
          </a:prstGeom>
          <a:ln w="12700">
            <a:solidFill>
              <a:srgbClr val="D8C6B9"/>
            </a:solidFill>
          </a:ln>
        </p:spPr>
      </p:cxnSp>
      <p:sp>
        <p:nvSpPr>
          <p:cNvPr id="35" name="TextBox 34"/>
          <p:cNvSpPr txBox="1"/>
          <p:nvPr/>
        </p:nvSpPr>
        <p:spPr>
          <a:xfrm>
            <a:off x="8412480" y="5504688"/>
            <a:ext cx="2743200" cy="457200"/>
          </a:xfrm>
          <a:prstGeom prst="rect">
            <a:avLst/>
          </a:prstGeom>
          <a:noFill/>
        </p:spPr>
        <p:txBody>
          <a:bodyPr wrap="square" tIns="0" lIns="0" rIns="0" bIns="0">
            <a:spAutoFit/>
          </a:bodyPr>
          <a:lstStyle/>
          <a:p>
            <a:pPr>
              <a:lnSpc>
                <a:spcPct val="110000"/>
              </a:lnSpc>
              <a:spcAft>
                <a:spcPts val="0"/>
              </a:spcAft>
              <a:defRPr sz="1700" b="0">
                <a:solidFill>
                  <a:srgbClr val="5B6870"/>
                </a:solidFill>
                <a:latin typeface="Segoe UI"/>
              </a:defRPr>
            </a:pPr>
            <a:r>
              <a:t>Với -aR: in, không đi vào.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TextBox 1"/>
          <p:cNvSpPr txBox="1"/>
          <p:nvPr/>
        </p:nvSpPr>
        <p:spPr>
          <a:xfrm>
            <a:off x="749808" y="429768"/>
            <a:ext cx="10698480" cy="594360"/>
          </a:xfrm>
          <a:prstGeom prst="rect">
            <a:avLst/>
          </a:prstGeom>
          <a:noFill/>
        </p:spPr>
        <p:txBody>
          <a:bodyPr wrap="square" tIns="0" lIns="0" rIns="0" bIns="0">
            <a:spAutoFit/>
          </a:bodyPr>
          <a:lstStyle/>
          <a:p>
            <a:pPr>
              <a:lnSpc>
                <a:spcPct val="110000"/>
              </a:lnSpc>
              <a:spcAft>
                <a:spcPts val="0"/>
              </a:spcAft>
              <a:defRPr sz="3000" b="1">
                <a:solidFill>
                  <a:srgbClr val="364653"/>
                </a:solidFill>
                <a:latin typeface="Segoe UI"/>
              </a:defRPr>
            </a:pPr>
            <a:r>
              <a:t>Đóng DIR* trước khi gọi đệ quy</a:t>
            </a:r>
          </a:p>
        </p:txBody>
      </p:sp>
      <p:sp>
        <p:nvSpPr>
          <p:cNvPr id="3" name="TextBox 2"/>
          <p:cNvSpPr txBox="1"/>
          <p:nvPr/>
        </p:nvSpPr>
        <p:spPr>
          <a:xfrm>
            <a:off x="777240" y="1133856"/>
            <a:ext cx="10607040" cy="502920"/>
          </a:xfrm>
          <a:prstGeom prst="rect">
            <a:avLst/>
          </a:prstGeom>
          <a:noFill/>
        </p:spPr>
        <p:txBody>
          <a:bodyPr wrap="square" tIns="0" lIns="0" rIns="0" bIns="0">
            <a:spAutoFit/>
          </a:bodyPr>
          <a:lstStyle/>
          <a:p>
            <a:pPr>
              <a:lnSpc>
                <a:spcPct val="110000"/>
              </a:lnSpc>
              <a:spcAft>
                <a:spcPts val="0"/>
              </a:spcAft>
              <a:defRPr sz="1800" b="0">
                <a:solidFill>
                  <a:srgbClr val="5B6870"/>
                </a:solidFill>
                <a:latin typeface="Segoe UI"/>
              </a:defRPr>
            </a:pPr>
            <a:r>
              <a:t>Giảm descriptor đang mở; dữ liệu cha vẫn còn trong bộ nhớ.</a:t>
            </a:r>
          </a:p>
        </p:txBody>
      </p:sp>
      <p:cxnSp>
        <p:nvCxnSpPr>
          <p:cNvPr id="4" name="Connector 3"/>
          <p:cNvCxnSpPr/>
          <p:nvPr/>
        </p:nvCxnSpPr>
        <p:spPr>
          <a:xfrm>
            <a:off x="10762488" y="6537960"/>
            <a:ext cx="237744" cy="0"/>
          </a:xfrm>
          <a:prstGeom prst="line">
            <a:avLst/>
          </a:prstGeom>
          <a:ln w="12700">
            <a:solidFill>
              <a:srgbClr val="D3D7D2"/>
            </a:solidFill>
          </a:ln>
        </p:spPr>
      </p:cxnSp>
      <p:sp>
        <p:nvSpPr>
          <p:cNvPr id="5" name="TextBox 4"/>
          <p:cNvSpPr txBox="1"/>
          <p:nvPr/>
        </p:nvSpPr>
        <p:spPr>
          <a:xfrm>
            <a:off x="11082528" y="6419088"/>
            <a:ext cx="411480" cy="274320"/>
          </a:xfrm>
          <a:prstGeom prst="rect">
            <a:avLst/>
          </a:prstGeom>
          <a:noFill/>
        </p:spPr>
        <p:txBody>
          <a:bodyPr wrap="square" tIns="0" lIns="0" rIns="0" bIns="0">
            <a:spAutoFit/>
          </a:bodyPr>
          <a:lstStyle/>
          <a:p>
            <a:pPr algn="ctr">
              <a:lnSpc>
                <a:spcPct val="110000"/>
              </a:lnSpc>
              <a:spcAft>
                <a:spcPts val="0"/>
              </a:spcAft>
              <a:defRPr sz="1000" b="0">
                <a:solidFill>
                  <a:srgbClr val="5B6870"/>
                </a:solidFill>
                <a:latin typeface="Segoe UI"/>
              </a:defRPr>
            </a:pPr>
            <a:r>
              <a:t>11</a:t>
            </a:r>
          </a:p>
        </p:txBody>
      </p:sp>
      <p:sp>
        <p:nvSpPr>
          <p:cNvPr id="6" name="TextBox 5"/>
          <p:cNvSpPr txBox="1"/>
          <p:nvPr/>
        </p:nvSpPr>
        <p:spPr>
          <a:xfrm>
            <a:off x="777240" y="2194560"/>
            <a:ext cx="1280160" cy="457200"/>
          </a:xfrm>
          <a:prstGeom prst="rect">
            <a:avLst/>
          </a:prstGeom>
          <a:noFill/>
        </p:spPr>
        <p:txBody>
          <a:bodyPr wrap="square" tIns="0" lIns="0" rIns="0" bIns="0">
            <a:spAutoFit/>
          </a:bodyPr>
          <a:lstStyle/>
          <a:p>
            <a:pPr>
              <a:lnSpc>
                <a:spcPct val="110000"/>
              </a:lnSpc>
              <a:spcAft>
                <a:spcPts val="0"/>
              </a:spcAft>
              <a:defRPr sz="2400" b="1">
                <a:solidFill>
                  <a:srgbClr val="364653"/>
                </a:solidFill>
                <a:latin typeface="Segoe UI"/>
              </a:defRPr>
            </a:pPr>
            <a:r>
              <a:t>Cha</a:t>
            </a:r>
          </a:p>
        </p:txBody>
      </p:sp>
      <p:sp>
        <p:nvSpPr>
          <p:cNvPr id="7" name="Rectangle 6"/>
          <p:cNvSpPr/>
          <p:nvPr/>
        </p:nvSpPr>
        <p:spPr>
          <a:xfrm>
            <a:off x="2139696" y="2075688"/>
            <a:ext cx="3035808" cy="694944"/>
          </a:xfrm>
          <a:prstGeom prst="rect">
            <a:avLst/>
          </a:prstGeom>
          <a:solidFill>
            <a:srgbClr val="FFFDFA"/>
          </a:solidFill>
          <a:ln>
            <a:noFill/>
          </a:ln>
        </p:spPr>
        <p:txBody>
          <a:bodyPr rtlCol="0" anchor="ctr"/>
          <a:lstStyle/>
          <a:p>
            <a:pPr algn="ctr"/>
          </a:p>
        </p:txBody>
      </p:sp>
      <p:sp>
        <p:nvSpPr>
          <p:cNvPr id="8" name="Rectangle 7"/>
          <p:cNvSpPr/>
          <p:nvPr/>
        </p:nvSpPr>
        <p:spPr>
          <a:xfrm>
            <a:off x="2286000" y="2194560"/>
            <a:ext cx="841248" cy="438912"/>
          </a:xfrm>
          <a:prstGeom prst="rect">
            <a:avLst/>
          </a:prstGeom>
          <a:solidFill>
            <a:srgbClr val="E7EDE1"/>
          </a:solidFill>
          <a:ln>
            <a:noFill/>
          </a:ln>
        </p:spPr>
        <p:txBody>
          <a:bodyPr rtlCol="0" anchor="ctr"/>
          <a:lstStyle/>
          <a:p>
            <a:pPr algn="ctr"/>
          </a:p>
        </p:txBody>
      </p:sp>
      <p:sp>
        <p:nvSpPr>
          <p:cNvPr id="9" name="TextBox 8"/>
          <p:cNvSpPr txBox="1"/>
          <p:nvPr/>
        </p:nvSpPr>
        <p:spPr>
          <a:xfrm>
            <a:off x="2331720" y="2267712"/>
            <a:ext cx="768096" cy="292608"/>
          </a:xfrm>
          <a:prstGeom prst="rect">
            <a:avLst/>
          </a:prstGeom>
          <a:noFill/>
        </p:spPr>
        <p:txBody>
          <a:bodyPr wrap="square" tIns="0" lIns="0" rIns="0" bIns="0">
            <a:spAutoFit/>
          </a:bodyPr>
          <a:lstStyle/>
          <a:p>
            <a:pPr>
              <a:lnSpc>
                <a:spcPct val="110000"/>
              </a:lnSpc>
              <a:spcAft>
                <a:spcPts val="0"/>
              </a:spcAft>
              <a:defRPr sz="1600" b="1">
                <a:solidFill>
                  <a:srgbClr val="5C7359"/>
                </a:solidFill>
                <a:latin typeface="Consolas"/>
              </a:defRPr>
            </a:pPr>
            <a:r>
              <a:t>open</a:t>
            </a:r>
          </a:p>
        </p:txBody>
      </p:sp>
      <p:cxnSp>
        <p:nvCxnSpPr>
          <p:cNvPr id="10" name="Connector 9"/>
          <p:cNvCxnSpPr/>
          <p:nvPr/>
        </p:nvCxnSpPr>
        <p:spPr>
          <a:xfrm>
            <a:off x="3127248" y="2414015"/>
            <a:ext cx="1033272" cy="0"/>
          </a:xfrm>
          <a:prstGeom prst="line">
            <a:avLst/>
          </a:prstGeom>
          <a:ln w="38100">
            <a:solidFill>
              <a:srgbClr val="456B88"/>
            </a:solidFill>
          </a:ln>
        </p:spPr>
      </p:cxnSp>
      <p:sp>
        <p:nvSpPr>
          <p:cNvPr id="11" name="Rectangle 10"/>
          <p:cNvSpPr/>
          <p:nvPr/>
        </p:nvSpPr>
        <p:spPr>
          <a:xfrm>
            <a:off x="4160520" y="2194560"/>
            <a:ext cx="868680" cy="438912"/>
          </a:xfrm>
          <a:prstGeom prst="rect">
            <a:avLst/>
          </a:prstGeom>
          <a:solidFill>
            <a:srgbClr val="F1E3D8"/>
          </a:solidFill>
          <a:ln>
            <a:noFill/>
          </a:ln>
        </p:spPr>
        <p:txBody>
          <a:bodyPr rtlCol="0" anchor="ctr"/>
          <a:lstStyle/>
          <a:p>
            <a:pPr algn="ctr"/>
          </a:p>
        </p:txBody>
      </p:sp>
      <p:sp>
        <p:nvSpPr>
          <p:cNvPr id="12" name="TextBox 11"/>
          <p:cNvSpPr txBox="1"/>
          <p:nvPr/>
        </p:nvSpPr>
        <p:spPr>
          <a:xfrm>
            <a:off x="4197096" y="2267712"/>
            <a:ext cx="804672" cy="292608"/>
          </a:xfrm>
          <a:prstGeom prst="rect">
            <a:avLst/>
          </a:prstGeom>
          <a:noFill/>
        </p:spPr>
        <p:txBody>
          <a:bodyPr wrap="square" tIns="0" lIns="0" rIns="0" bIns="0">
            <a:spAutoFit/>
          </a:bodyPr>
          <a:lstStyle/>
          <a:p>
            <a:pPr>
              <a:lnSpc>
                <a:spcPct val="110000"/>
              </a:lnSpc>
              <a:spcAft>
                <a:spcPts val="0"/>
              </a:spcAft>
              <a:defRPr sz="1600" b="1">
                <a:solidFill>
                  <a:srgbClr val="9B624B"/>
                </a:solidFill>
                <a:latin typeface="Consolas"/>
              </a:defRPr>
            </a:pPr>
            <a:r>
              <a:t>close</a:t>
            </a:r>
          </a:p>
        </p:txBody>
      </p:sp>
      <p:cxnSp>
        <p:nvCxnSpPr>
          <p:cNvPr id="13" name="Connector 12"/>
          <p:cNvCxnSpPr/>
          <p:nvPr/>
        </p:nvCxnSpPr>
        <p:spPr>
          <a:xfrm>
            <a:off x="4599431" y="2651760"/>
            <a:ext cx="155449" cy="502920"/>
          </a:xfrm>
          <a:prstGeom prst="line">
            <a:avLst/>
          </a:prstGeom>
          <a:ln w="19050">
            <a:solidFill>
              <a:srgbClr val="D3D7D2"/>
            </a:solidFill>
          </a:ln>
        </p:spPr>
      </p:cxnSp>
      <p:sp>
        <p:nvSpPr>
          <p:cNvPr id="14" name="TextBox 13"/>
          <p:cNvSpPr txBox="1"/>
          <p:nvPr/>
        </p:nvSpPr>
        <p:spPr>
          <a:xfrm>
            <a:off x="777240" y="3154680"/>
            <a:ext cx="1280160" cy="457200"/>
          </a:xfrm>
          <a:prstGeom prst="rect">
            <a:avLst/>
          </a:prstGeom>
          <a:noFill/>
        </p:spPr>
        <p:txBody>
          <a:bodyPr wrap="square" tIns="0" lIns="0" rIns="0" bIns="0">
            <a:spAutoFit/>
          </a:bodyPr>
          <a:lstStyle/>
          <a:p>
            <a:pPr>
              <a:lnSpc>
                <a:spcPct val="110000"/>
              </a:lnSpc>
              <a:spcAft>
                <a:spcPts val="0"/>
              </a:spcAft>
              <a:defRPr sz="2400" b="1">
                <a:solidFill>
                  <a:srgbClr val="364653"/>
                </a:solidFill>
                <a:latin typeface="Segoe UI"/>
              </a:defRPr>
            </a:pPr>
            <a:r>
              <a:t>Con</a:t>
            </a:r>
          </a:p>
        </p:txBody>
      </p:sp>
      <p:sp>
        <p:nvSpPr>
          <p:cNvPr id="15" name="Rectangle 14"/>
          <p:cNvSpPr/>
          <p:nvPr/>
        </p:nvSpPr>
        <p:spPr>
          <a:xfrm>
            <a:off x="4608576" y="3035808"/>
            <a:ext cx="3035808" cy="694944"/>
          </a:xfrm>
          <a:prstGeom prst="rect">
            <a:avLst/>
          </a:prstGeom>
          <a:solidFill>
            <a:srgbClr val="FFFDFA"/>
          </a:solidFill>
          <a:ln>
            <a:noFill/>
          </a:ln>
        </p:spPr>
        <p:txBody>
          <a:bodyPr rtlCol="0" anchor="ctr"/>
          <a:lstStyle/>
          <a:p>
            <a:pPr algn="ctr"/>
          </a:p>
        </p:txBody>
      </p:sp>
      <p:sp>
        <p:nvSpPr>
          <p:cNvPr id="16" name="Rectangle 15"/>
          <p:cNvSpPr/>
          <p:nvPr/>
        </p:nvSpPr>
        <p:spPr>
          <a:xfrm>
            <a:off x="4754880" y="3154680"/>
            <a:ext cx="841248" cy="438912"/>
          </a:xfrm>
          <a:prstGeom prst="rect">
            <a:avLst/>
          </a:prstGeom>
          <a:solidFill>
            <a:srgbClr val="E7EDE1"/>
          </a:solidFill>
          <a:ln>
            <a:noFill/>
          </a:ln>
        </p:spPr>
        <p:txBody>
          <a:bodyPr rtlCol="0" anchor="ctr"/>
          <a:lstStyle/>
          <a:p>
            <a:pPr algn="ctr"/>
          </a:p>
        </p:txBody>
      </p:sp>
      <p:sp>
        <p:nvSpPr>
          <p:cNvPr id="17" name="TextBox 16"/>
          <p:cNvSpPr txBox="1"/>
          <p:nvPr/>
        </p:nvSpPr>
        <p:spPr>
          <a:xfrm>
            <a:off x="4800600" y="3227832"/>
            <a:ext cx="768096" cy="292608"/>
          </a:xfrm>
          <a:prstGeom prst="rect">
            <a:avLst/>
          </a:prstGeom>
          <a:noFill/>
        </p:spPr>
        <p:txBody>
          <a:bodyPr wrap="square" tIns="0" lIns="0" rIns="0" bIns="0">
            <a:spAutoFit/>
          </a:bodyPr>
          <a:lstStyle/>
          <a:p>
            <a:pPr>
              <a:lnSpc>
                <a:spcPct val="110000"/>
              </a:lnSpc>
              <a:spcAft>
                <a:spcPts val="0"/>
              </a:spcAft>
              <a:defRPr sz="1600" b="1">
                <a:solidFill>
                  <a:srgbClr val="5C7359"/>
                </a:solidFill>
                <a:latin typeface="Consolas"/>
              </a:defRPr>
            </a:pPr>
            <a:r>
              <a:t>open</a:t>
            </a:r>
          </a:p>
        </p:txBody>
      </p:sp>
      <p:cxnSp>
        <p:nvCxnSpPr>
          <p:cNvPr id="18" name="Connector 17"/>
          <p:cNvCxnSpPr/>
          <p:nvPr/>
        </p:nvCxnSpPr>
        <p:spPr>
          <a:xfrm>
            <a:off x="5596128" y="3374136"/>
            <a:ext cx="1033272" cy="0"/>
          </a:xfrm>
          <a:prstGeom prst="line">
            <a:avLst/>
          </a:prstGeom>
          <a:ln w="38100">
            <a:solidFill>
              <a:srgbClr val="456B88"/>
            </a:solidFill>
          </a:ln>
        </p:spPr>
      </p:cxnSp>
      <p:sp>
        <p:nvSpPr>
          <p:cNvPr id="19" name="Rectangle 18"/>
          <p:cNvSpPr/>
          <p:nvPr/>
        </p:nvSpPr>
        <p:spPr>
          <a:xfrm>
            <a:off x="6629400" y="3154680"/>
            <a:ext cx="868680" cy="438912"/>
          </a:xfrm>
          <a:prstGeom prst="rect">
            <a:avLst/>
          </a:prstGeom>
          <a:solidFill>
            <a:srgbClr val="F1E3D8"/>
          </a:solidFill>
          <a:ln>
            <a:noFill/>
          </a:ln>
        </p:spPr>
        <p:txBody>
          <a:bodyPr rtlCol="0" anchor="ctr"/>
          <a:lstStyle/>
          <a:p>
            <a:pPr algn="ctr"/>
          </a:p>
        </p:txBody>
      </p:sp>
      <p:sp>
        <p:nvSpPr>
          <p:cNvPr id="20" name="TextBox 19"/>
          <p:cNvSpPr txBox="1"/>
          <p:nvPr/>
        </p:nvSpPr>
        <p:spPr>
          <a:xfrm>
            <a:off x="6665976" y="3227832"/>
            <a:ext cx="804672" cy="292608"/>
          </a:xfrm>
          <a:prstGeom prst="rect">
            <a:avLst/>
          </a:prstGeom>
          <a:noFill/>
        </p:spPr>
        <p:txBody>
          <a:bodyPr wrap="square" tIns="0" lIns="0" rIns="0" bIns="0">
            <a:spAutoFit/>
          </a:bodyPr>
          <a:lstStyle/>
          <a:p>
            <a:pPr>
              <a:lnSpc>
                <a:spcPct val="110000"/>
              </a:lnSpc>
              <a:spcAft>
                <a:spcPts val="0"/>
              </a:spcAft>
              <a:defRPr sz="1600" b="1">
                <a:solidFill>
                  <a:srgbClr val="9B624B"/>
                </a:solidFill>
                <a:latin typeface="Consolas"/>
              </a:defRPr>
            </a:pPr>
            <a:r>
              <a:t>close</a:t>
            </a:r>
          </a:p>
        </p:txBody>
      </p:sp>
      <p:cxnSp>
        <p:nvCxnSpPr>
          <p:cNvPr id="21" name="Connector 20"/>
          <p:cNvCxnSpPr/>
          <p:nvPr/>
        </p:nvCxnSpPr>
        <p:spPr>
          <a:xfrm>
            <a:off x="7068312" y="3611880"/>
            <a:ext cx="155448" cy="502920"/>
          </a:xfrm>
          <a:prstGeom prst="line">
            <a:avLst/>
          </a:prstGeom>
          <a:ln w="19050">
            <a:solidFill>
              <a:srgbClr val="D3D7D2"/>
            </a:solidFill>
          </a:ln>
        </p:spPr>
      </p:cxnSp>
      <p:sp>
        <p:nvSpPr>
          <p:cNvPr id="22" name="TextBox 21"/>
          <p:cNvSpPr txBox="1"/>
          <p:nvPr/>
        </p:nvSpPr>
        <p:spPr>
          <a:xfrm>
            <a:off x="777240" y="4114800"/>
            <a:ext cx="1280160" cy="457200"/>
          </a:xfrm>
          <a:prstGeom prst="rect">
            <a:avLst/>
          </a:prstGeom>
          <a:noFill/>
        </p:spPr>
        <p:txBody>
          <a:bodyPr wrap="square" tIns="0" lIns="0" rIns="0" bIns="0">
            <a:spAutoFit/>
          </a:bodyPr>
          <a:lstStyle/>
          <a:p>
            <a:pPr>
              <a:lnSpc>
                <a:spcPct val="110000"/>
              </a:lnSpc>
              <a:spcAft>
                <a:spcPts val="0"/>
              </a:spcAft>
              <a:defRPr sz="2400" b="1">
                <a:solidFill>
                  <a:srgbClr val="364653"/>
                </a:solidFill>
                <a:latin typeface="Segoe UI"/>
              </a:defRPr>
            </a:pPr>
            <a:r>
              <a:t>Cháu</a:t>
            </a:r>
          </a:p>
        </p:txBody>
      </p:sp>
      <p:sp>
        <p:nvSpPr>
          <p:cNvPr id="23" name="Rectangle 22"/>
          <p:cNvSpPr/>
          <p:nvPr/>
        </p:nvSpPr>
        <p:spPr>
          <a:xfrm>
            <a:off x="7077456" y="3995928"/>
            <a:ext cx="3035808" cy="694944"/>
          </a:xfrm>
          <a:prstGeom prst="rect">
            <a:avLst/>
          </a:prstGeom>
          <a:solidFill>
            <a:srgbClr val="FFFDFA"/>
          </a:solidFill>
          <a:ln>
            <a:noFill/>
          </a:ln>
        </p:spPr>
        <p:txBody>
          <a:bodyPr rtlCol="0" anchor="ctr"/>
          <a:lstStyle/>
          <a:p>
            <a:pPr algn="ctr"/>
          </a:p>
        </p:txBody>
      </p:sp>
      <p:sp>
        <p:nvSpPr>
          <p:cNvPr id="24" name="Rectangle 23"/>
          <p:cNvSpPr/>
          <p:nvPr/>
        </p:nvSpPr>
        <p:spPr>
          <a:xfrm>
            <a:off x="7223760" y="4114800"/>
            <a:ext cx="841248" cy="438912"/>
          </a:xfrm>
          <a:prstGeom prst="rect">
            <a:avLst/>
          </a:prstGeom>
          <a:solidFill>
            <a:srgbClr val="E7EDE1"/>
          </a:solidFill>
          <a:ln>
            <a:noFill/>
          </a:ln>
        </p:spPr>
        <p:txBody>
          <a:bodyPr rtlCol="0" anchor="ctr"/>
          <a:lstStyle/>
          <a:p>
            <a:pPr algn="ctr"/>
          </a:p>
        </p:txBody>
      </p:sp>
      <p:sp>
        <p:nvSpPr>
          <p:cNvPr id="25" name="TextBox 24"/>
          <p:cNvSpPr txBox="1"/>
          <p:nvPr/>
        </p:nvSpPr>
        <p:spPr>
          <a:xfrm>
            <a:off x="7269480" y="4187952"/>
            <a:ext cx="768096" cy="292608"/>
          </a:xfrm>
          <a:prstGeom prst="rect">
            <a:avLst/>
          </a:prstGeom>
          <a:noFill/>
        </p:spPr>
        <p:txBody>
          <a:bodyPr wrap="square" tIns="0" lIns="0" rIns="0" bIns="0">
            <a:spAutoFit/>
          </a:bodyPr>
          <a:lstStyle/>
          <a:p>
            <a:pPr>
              <a:lnSpc>
                <a:spcPct val="110000"/>
              </a:lnSpc>
              <a:spcAft>
                <a:spcPts val="0"/>
              </a:spcAft>
              <a:defRPr sz="1600" b="1">
                <a:solidFill>
                  <a:srgbClr val="5C7359"/>
                </a:solidFill>
                <a:latin typeface="Consolas"/>
              </a:defRPr>
            </a:pPr>
            <a:r>
              <a:t>open</a:t>
            </a:r>
          </a:p>
        </p:txBody>
      </p:sp>
      <p:cxnSp>
        <p:nvCxnSpPr>
          <p:cNvPr id="26" name="Connector 25"/>
          <p:cNvCxnSpPr/>
          <p:nvPr/>
        </p:nvCxnSpPr>
        <p:spPr>
          <a:xfrm>
            <a:off x="8065008" y="4334256"/>
            <a:ext cx="1033272" cy="0"/>
          </a:xfrm>
          <a:prstGeom prst="line">
            <a:avLst/>
          </a:prstGeom>
          <a:ln w="38100">
            <a:solidFill>
              <a:srgbClr val="456B88"/>
            </a:solidFill>
          </a:ln>
        </p:spPr>
      </p:cxnSp>
      <p:sp>
        <p:nvSpPr>
          <p:cNvPr id="27" name="Rectangle 26"/>
          <p:cNvSpPr/>
          <p:nvPr/>
        </p:nvSpPr>
        <p:spPr>
          <a:xfrm>
            <a:off x="9098280" y="4114800"/>
            <a:ext cx="868680" cy="438912"/>
          </a:xfrm>
          <a:prstGeom prst="rect">
            <a:avLst/>
          </a:prstGeom>
          <a:solidFill>
            <a:srgbClr val="F1E3D8"/>
          </a:solidFill>
          <a:ln>
            <a:noFill/>
          </a:ln>
        </p:spPr>
        <p:txBody>
          <a:bodyPr rtlCol="0" anchor="ctr"/>
          <a:lstStyle/>
          <a:p>
            <a:pPr algn="ctr"/>
          </a:p>
        </p:txBody>
      </p:sp>
      <p:sp>
        <p:nvSpPr>
          <p:cNvPr id="28" name="TextBox 27"/>
          <p:cNvSpPr txBox="1"/>
          <p:nvPr/>
        </p:nvSpPr>
        <p:spPr>
          <a:xfrm>
            <a:off x="9134856" y="4187952"/>
            <a:ext cx="804672" cy="292608"/>
          </a:xfrm>
          <a:prstGeom prst="rect">
            <a:avLst/>
          </a:prstGeom>
          <a:noFill/>
        </p:spPr>
        <p:txBody>
          <a:bodyPr wrap="square" tIns="0" lIns="0" rIns="0" bIns="0">
            <a:spAutoFit/>
          </a:bodyPr>
          <a:lstStyle/>
          <a:p>
            <a:pPr>
              <a:lnSpc>
                <a:spcPct val="110000"/>
              </a:lnSpc>
              <a:spcAft>
                <a:spcPts val="0"/>
              </a:spcAft>
              <a:defRPr sz="1600" b="1">
                <a:solidFill>
                  <a:srgbClr val="9B624B"/>
                </a:solidFill>
                <a:latin typeface="Consolas"/>
              </a:defRPr>
            </a:pPr>
            <a:r>
              <a:t>close</a:t>
            </a:r>
          </a:p>
        </p:txBody>
      </p:sp>
      <p:sp>
        <p:nvSpPr>
          <p:cNvPr id="29" name="TextBox 28"/>
          <p:cNvSpPr txBox="1"/>
          <p:nvPr/>
        </p:nvSpPr>
        <p:spPr>
          <a:xfrm>
            <a:off x="777240" y="5486400"/>
            <a:ext cx="5029200" cy="777240"/>
          </a:xfrm>
          <a:prstGeom prst="rect">
            <a:avLst/>
          </a:prstGeom>
          <a:noFill/>
        </p:spPr>
        <p:txBody>
          <a:bodyPr wrap="square" tIns="0" lIns="0" rIns="0" bIns="0">
            <a:spAutoFit/>
          </a:bodyPr>
          <a:lstStyle/>
          <a:p>
            <a:pPr>
              <a:lnSpc>
                <a:spcPct val="110000"/>
              </a:lnSpc>
              <a:spcAft>
                <a:spcPts val="300"/>
              </a:spcAft>
              <a:defRPr sz="2100" b="0">
                <a:solidFill>
                  <a:srgbClr val="364653"/>
                </a:solidFill>
                <a:latin typeface="Segoe UI"/>
              </a:defRPr>
            </a:pPr>
            <a:r>
              <a:t>FD: không giữ DIR* theo mỗi độ sâu.</a:t>
            </a:r>
          </a:p>
          <a:p>
            <a:pPr>
              <a:lnSpc>
                <a:spcPct val="110000"/>
              </a:lnSpc>
              <a:spcAft>
                <a:spcPts val="0"/>
              </a:spcAft>
              <a:defRPr sz="2100" b="0">
                <a:solidFill>
                  <a:srgbClr val="364653"/>
                </a:solidFill>
                <a:latin typeface="Segoe UI"/>
              </a:defRPr>
            </a:pPr>
            <a:r>
              <a:t>Stack lời gọi: vẫn tăng theo độ sâu.</a:t>
            </a:r>
          </a:p>
        </p:txBody>
      </p:sp>
      <p:sp>
        <p:nvSpPr>
          <p:cNvPr id="30" name="TextBox 29"/>
          <p:cNvSpPr txBox="1"/>
          <p:nvPr/>
        </p:nvSpPr>
        <p:spPr>
          <a:xfrm>
            <a:off x="6400800" y="5486400"/>
            <a:ext cx="4937760" cy="777240"/>
          </a:xfrm>
          <a:prstGeom prst="rect">
            <a:avLst/>
          </a:prstGeom>
          <a:noFill/>
        </p:spPr>
        <p:txBody>
          <a:bodyPr wrap="square" tIns="0" lIns="0" rIns="0" bIns="0">
            <a:spAutoFit/>
          </a:bodyPr>
          <a:lstStyle/>
          <a:p>
            <a:pPr>
              <a:lnSpc>
                <a:spcPct val="110000"/>
              </a:lnSpc>
              <a:spcAft>
                <a:spcPts val="300"/>
              </a:spcAft>
              <a:defRPr sz="2100" b="1">
                <a:solidFill>
                  <a:srgbClr val="456B88"/>
                </a:solidFill>
                <a:latin typeface="Segoe UI"/>
              </a:defRPr>
            </a:pPr>
            <a:r>
              <a:t>RAM: tổng EntryList còn sống</a:t>
            </a:r>
          </a:p>
          <a:p>
            <a:pPr>
              <a:lnSpc>
                <a:spcPct val="110000"/>
              </a:lnSpc>
              <a:spcAft>
                <a:spcPts val="0"/>
              </a:spcAft>
              <a:defRPr sz="2100" b="1">
                <a:solidFill>
                  <a:srgbClr val="456B88"/>
                </a:solidFill>
                <a:latin typeface="Segoe UI"/>
              </a:defRPr>
            </a:pPr>
            <a:r>
              <a:t>trên nhánh, cộng chuỗi đường dẫn.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TextBox 1"/>
          <p:cNvSpPr txBox="1"/>
          <p:nvPr/>
        </p:nvSpPr>
        <p:spPr>
          <a:xfrm>
            <a:off x="749808" y="429768"/>
            <a:ext cx="10698480" cy="594360"/>
          </a:xfrm>
          <a:prstGeom prst="rect">
            <a:avLst/>
          </a:prstGeom>
          <a:noFill/>
        </p:spPr>
        <p:txBody>
          <a:bodyPr wrap="square" tIns="0" lIns="0" rIns="0" bIns="0">
            <a:spAutoFit/>
          </a:bodyPr>
          <a:lstStyle/>
          <a:p>
            <a:pPr>
              <a:lnSpc>
                <a:spcPct val="110000"/>
              </a:lnSpc>
              <a:spcAft>
                <a:spcPts val="0"/>
              </a:spcAft>
              <a:defRPr sz="3000" b="1">
                <a:solidFill>
                  <a:srgbClr val="364653"/>
                </a:solidFill>
                <a:latin typeface="Segoe UI"/>
              </a:defRPr>
            </a:pPr>
            <a:r>
              <a:t>Báo lỗi nhưng vẫn xử lý operand hợp lệ</a:t>
            </a:r>
          </a:p>
        </p:txBody>
      </p:sp>
      <p:sp>
        <p:nvSpPr>
          <p:cNvPr id="3" name="TextBox 2"/>
          <p:cNvSpPr txBox="1"/>
          <p:nvPr/>
        </p:nvSpPr>
        <p:spPr>
          <a:xfrm>
            <a:off x="777240" y="1133856"/>
            <a:ext cx="10607040" cy="502920"/>
          </a:xfrm>
          <a:prstGeom prst="rect">
            <a:avLst/>
          </a:prstGeom>
          <a:noFill/>
        </p:spPr>
        <p:txBody>
          <a:bodyPr wrap="square" tIns="0" lIns="0" rIns="0" bIns="0">
            <a:spAutoFit/>
          </a:bodyPr>
          <a:lstStyle/>
          <a:p>
            <a:pPr>
              <a:lnSpc>
                <a:spcPct val="110000"/>
              </a:lnSpc>
              <a:spcAft>
                <a:spcPts val="0"/>
              </a:spcAft>
              <a:defRPr sz="1800" b="0">
                <a:solidFill>
                  <a:srgbClr val="5B6870"/>
                </a:solidFill>
                <a:latin typeface="Segoe UI"/>
              </a:defRPr>
            </a:pPr>
            <a:r>
              <a:t>Mã thoát giữ mức nghiêm trọng cao nhất đã gặp.</a:t>
            </a:r>
          </a:p>
        </p:txBody>
      </p:sp>
      <p:cxnSp>
        <p:nvCxnSpPr>
          <p:cNvPr id="4" name="Connector 3"/>
          <p:cNvCxnSpPr/>
          <p:nvPr/>
        </p:nvCxnSpPr>
        <p:spPr>
          <a:xfrm>
            <a:off x="10762488" y="6537960"/>
            <a:ext cx="237744" cy="0"/>
          </a:xfrm>
          <a:prstGeom prst="line">
            <a:avLst/>
          </a:prstGeom>
          <a:ln w="12700">
            <a:solidFill>
              <a:srgbClr val="D3D7D2"/>
            </a:solidFill>
          </a:ln>
        </p:spPr>
      </p:cxnSp>
      <p:sp>
        <p:nvSpPr>
          <p:cNvPr id="5" name="TextBox 4"/>
          <p:cNvSpPr txBox="1"/>
          <p:nvPr/>
        </p:nvSpPr>
        <p:spPr>
          <a:xfrm>
            <a:off x="11082528" y="6419088"/>
            <a:ext cx="411480" cy="274320"/>
          </a:xfrm>
          <a:prstGeom prst="rect">
            <a:avLst/>
          </a:prstGeom>
          <a:noFill/>
        </p:spPr>
        <p:txBody>
          <a:bodyPr wrap="square" tIns="0" lIns="0" rIns="0" bIns="0">
            <a:spAutoFit/>
          </a:bodyPr>
          <a:lstStyle/>
          <a:p>
            <a:pPr algn="ctr">
              <a:lnSpc>
                <a:spcPct val="110000"/>
              </a:lnSpc>
              <a:spcAft>
                <a:spcPts val="0"/>
              </a:spcAft>
              <a:defRPr sz="1000" b="0">
                <a:solidFill>
                  <a:srgbClr val="5B6870"/>
                </a:solidFill>
                <a:latin typeface="Segoe UI"/>
              </a:defRPr>
            </a:pPr>
            <a:r>
              <a:t>12</a:t>
            </a:r>
          </a:p>
        </p:txBody>
      </p:sp>
      <p:sp>
        <p:nvSpPr>
          <p:cNvPr id="6" name="Oval 5"/>
          <p:cNvSpPr/>
          <p:nvPr/>
        </p:nvSpPr>
        <p:spPr>
          <a:xfrm>
            <a:off x="777240" y="1901952"/>
            <a:ext cx="868680" cy="868680"/>
          </a:xfrm>
          <a:prstGeom prst="ellipse">
            <a:avLst/>
          </a:prstGeom>
          <a:solidFill>
            <a:srgbClr val="E6EDF1"/>
          </a:solidFill>
          <a:ln>
            <a:noFill/>
          </a:ln>
        </p:spPr>
        <p:txBody>
          <a:bodyPr rtlCol="0" anchor="ctr"/>
          <a:lstStyle/>
          <a:p>
            <a:pPr algn="ctr"/>
          </a:p>
        </p:txBody>
      </p:sp>
      <p:sp>
        <p:nvSpPr>
          <p:cNvPr id="7" name="TextBox 6"/>
          <p:cNvSpPr txBox="1"/>
          <p:nvPr/>
        </p:nvSpPr>
        <p:spPr>
          <a:xfrm>
            <a:off x="777240" y="1929384"/>
            <a:ext cx="868680" cy="777240"/>
          </a:xfrm>
          <a:prstGeom prst="rect">
            <a:avLst/>
          </a:prstGeom>
          <a:noFill/>
        </p:spPr>
        <p:txBody>
          <a:bodyPr wrap="square" tIns="0" lIns="0" rIns="0" bIns="0">
            <a:spAutoFit/>
          </a:bodyPr>
          <a:lstStyle/>
          <a:p>
            <a:pPr algn="ctr">
              <a:lnSpc>
                <a:spcPct val="110000"/>
              </a:lnSpc>
              <a:spcAft>
                <a:spcPts val="0"/>
              </a:spcAft>
              <a:defRPr sz="4400" b="1">
                <a:solidFill>
                  <a:srgbClr val="456B88"/>
                </a:solidFill>
                <a:latin typeface="Consolas"/>
              </a:defRPr>
            </a:pPr>
            <a:r>
              <a:t>0</a:t>
            </a:r>
          </a:p>
        </p:txBody>
      </p:sp>
      <p:sp>
        <p:nvSpPr>
          <p:cNvPr id="8" name="TextBox 7"/>
          <p:cNvSpPr txBox="1"/>
          <p:nvPr/>
        </p:nvSpPr>
        <p:spPr>
          <a:xfrm>
            <a:off x="1828800" y="2057400"/>
            <a:ext cx="2423160" cy="822960"/>
          </a:xfrm>
          <a:prstGeom prst="rect">
            <a:avLst/>
          </a:prstGeom>
          <a:noFill/>
        </p:spPr>
        <p:txBody>
          <a:bodyPr wrap="square" tIns="0" lIns="0" rIns="0" bIns="0">
            <a:spAutoFit/>
          </a:bodyPr>
          <a:lstStyle/>
          <a:p>
            <a:pPr>
              <a:lnSpc>
                <a:spcPct val="110000"/>
              </a:lnSpc>
              <a:spcAft>
                <a:spcPts val="0"/>
              </a:spcAft>
              <a:defRPr sz="2400" b="1">
                <a:solidFill>
                  <a:srgbClr val="364653"/>
                </a:solidFill>
                <a:latin typeface="Segoe UI"/>
              </a:defRPr>
            </a:pPr>
            <a:r>
              <a:t>Hoàn tất</a:t>
            </a:r>
          </a:p>
        </p:txBody>
      </p:sp>
      <p:sp>
        <p:nvSpPr>
          <p:cNvPr id="9" name="TextBox 8"/>
          <p:cNvSpPr txBox="1"/>
          <p:nvPr/>
        </p:nvSpPr>
        <p:spPr>
          <a:xfrm>
            <a:off x="777240" y="3108960"/>
            <a:ext cx="3474720" cy="731520"/>
          </a:xfrm>
          <a:prstGeom prst="rect">
            <a:avLst/>
          </a:prstGeom>
          <a:noFill/>
        </p:spPr>
        <p:txBody>
          <a:bodyPr wrap="square" tIns="0" lIns="0" rIns="0" bIns="0">
            <a:spAutoFit/>
          </a:bodyPr>
          <a:lstStyle/>
          <a:p>
            <a:pPr>
              <a:lnSpc>
                <a:spcPct val="110000"/>
              </a:lnSpc>
              <a:spcAft>
                <a:spcPts val="0"/>
              </a:spcAft>
              <a:defRPr sz="2100" b="0">
                <a:solidFill>
                  <a:srgbClr val="5B6870"/>
                </a:solidFill>
                <a:latin typeface="Segoe UI"/>
              </a:defRPr>
            </a:pPr>
            <a:r>
              <a:t>Không ghi nhận lỗi</a:t>
            </a:r>
          </a:p>
        </p:txBody>
      </p:sp>
      <p:sp>
        <p:nvSpPr>
          <p:cNvPr id="10" name="Oval 9"/>
          <p:cNvSpPr/>
          <p:nvPr/>
        </p:nvSpPr>
        <p:spPr>
          <a:xfrm>
            <a:off x="4480559" y="1901952"/>
            <a:ext cx="868680" cy="868680"/>
          </a:xfrm>
          <a:prstGeom prst="ellipse">
            <a:avLst/>
          </a:prstGeom>
          <a:solidFill>
            <a:srgbClr val="E7EDE1"/>
          </a:solidFill>
          <a:ln>
            <a:noFill/>
          </a:ln>
        </p:spPr>
        <p:txBody>
          <a:bodyPr rtlCol="0" anchor="ctr"/>
          <a:lstStyle/>
          <a:p>
            <a:pPr algn="ctr"/>
          </a:p>
        </p:txBody>
      </p:sp>
      <p:sp>
        <p:nvSpPr>
          <p:cNvPr id="11" name="TextBox 10"/>
          <p:cNvSpPr txBox="1"/>
          <p:nvPr/>
        </p:nvSpPr>
        <p:spPr>
          <a:xfrm>
            <a:off x="4480559" y="1929384"/>
            <a:ext cx="868680" cy="777240"/>
          </a:xfrm>
          <a:prstGeom prst="rect">
            <a:avLst/>
          </a:prstGeom>
          <a:noFill/>
        </p:spPr>
        <p:txBody>
          <a:bodyPr wrap="square" tIns="0" lIns="0" rIns="0" bIns="0">
            <a:spAutoFit/>
          </a:bodyPr>
          <a:lstStyle/>
          <a:p>
            <a:pPr algn="ctr">
              <a:lnSpc>
                <a:spcPct val="110000"/>
              </a:lnSpc>
              <a:spcAft>
                <a:spcPts val="0"/>
              </a:spcAft>
              <a:defRPr sz="4400" b="1">
                <a:solidFill>
                  <a:srgbClr val="927134"/>
                </a:solidFill>
                <a:latin typeface="Consolas"/>
              </a:defRPr>
            </a:pPr>
            <a:r>
              <a:t>1</a:t>
            </a:r>
          </a:p>
        </p:txBody>
      </p:sp>
      <p:sp>
        <p:nvSpPr>
          <p:cNvPr id="12" name="TextBox 11"/>
          <p:cNvSpPr txBox="1"/>
          <p:nvPr/>
        </p:nvSpPr>
        <p:spPr>
          <a:xfrm>
            <a:off x="5532119" y="2057400"/>
            <a:ext cx="2423160" cy="822960"/>
          </a:xfrm>
          <a:prstGeom prst="rect">
            <a:avLst/>
          </a:prstGeom>
          <a:noFill/>
        </p:spPr>
        <p:txBody>
          <a:bodyPr wrap="square" tIns="0" lIns="0" rIns="0" bIns="0">
            <a:spAutoFit/>
          </a:bodyPr>
          <a:lstStyle/>
          <a:p>
            <a:pPr>
              <a:lnSpc>
                <a:spcPct val="110000"/>
              </a:lnSpc>
              <a:spcAft>
                <a:spcPts val="0"/>
              </a:spcAft>
              <a:defRPr sz="2400" b="1">
                <a:solidFill>
                  <a:srgbClr val="364653"/>
                </a:solidFill>
                <a:latin typeface="Segoe UI"/>
              </a:defRPr>
            </a:pPr>
            <a:r>
              <a:t>Lỗi khi duyệt</a:t>
            </a:r>
          </a:p>
        </p:txBody>
      </p:sp>
      <p:sp>
        <p:nvSpPr>
          <p:cNvPr id="13" name="TextBox 12"/>
          <p:cNvSpPr txBox="1"/>
          <p:nvPr/>
        </p:nvSpPr>
        <p:spPr>
          <a:xfrm>
            <a:off x="4480559" y="3108960"/>
            <a:ext cx="3474720" cy="731520"/>
          </a:xfrm>
          <a:prstGeom prst="rect">
            <a:avLst/>
          </a:prstGeom>
          <a:noFill/>
        </p:spPr>
        <p:txBody>
          <a:bodyPr wrap="square" tIns="0" lIns="0" rIns="0" bIns="0">
            <a:spAutoFit/>
          </a:bodyPr>
          <a:lstStyle/>
          <a:p>
            <a:pPr>
              <a:lnSpc>
                <a:spcPct val="110000"/>
              </a:lnSpc>
              <a:spcAft>
                <a:spcPts val="0"/>
              </a:spcAft>
              <a:defRPr sz="2100" b="0">
                <a:solidFill>
                  <a:srgbClr val="5B6870"/>
                </a:solidFill>
                <a:latin typeface="Segoe UI"/>
              </a:defRPr>
            </a:pPr>
            <a:r>
              <a:t>Entry / thư mục con</a:t>
            </a:r>
          </a:p>
        </p:txBody>
      </p:sp>
      <p:sp>
        <p:nvSpPr>
          <p:cNvPr id="14" name="Oval 13"/>
          <p:cNvSpPr/>
          <p:nvPr/>
        </p:nvSpPr>
        <p:spPr>
          <a:xfrm>
            <a:off x="8183879" y="1901952"/>
            <a:ext cx="868680" cy="868680"/>
          </a:xfrm>
          <a:prstGeom prst="ellipse">
            <a:avLst/>
          </a:prstGeom>
          <a:solidFill>
            <a:srgbClr val="F1E3D8"/>
          </a:solidFill>
          <a:ln>
            <a:noFill/>
          </a:ln>
        </p:spPr>
        <p:txBody>
          <a:bodyPr rtlCol="0" anchor="ctr"/>
          <a:lstStyle/>
          <a:p>
            <a:pPr algn="ctr"/>
          </a:p>
        </p:txBody>
      </p:sp>
      <p:sp>
        <p:nvSpPr>
          <p:cNvPr id="15" name="TextBox 14"/>
          <p:cNvSpPr txBox="1"/>
          <p:nvPr/>
        </p:nvSpPr>
        <p:spPr>
          <a:xfrm>
            <a:off x="8183879" y="1929384"/>
            <a:ext cx="868680" cy="777240"/>
          </a:xfrm>
          <a:prstGeom prst="rect">
            <a:avLst/>
          </a:prstGeom>
          <a:noFill/>
        </p:spPr>
        <p:txBody>
          <a:bodyPr wrap="square" tIns="0" lIns="0" rIns="0" bIns="0">
            <a:spAutoFit/>
          </a:bodyPr>
          <a:lstStyle/>
          <a:p>
            <a:pPr algn="ctr">
              <a:lnSpc>
                <a:spcPct val="110000"/>
              </a:lnSpc>
              <a:spcAft>
                <a:spcPts val="0"/>
              </a:spcAft>
              <a:defRPr sz="4400" b="1">
                <a:solidFill>
                  <a:srgbClr val="A75445"/>
                </a:solidFill>
                <a:latin typeface="Consolas"/>
              </a:defRPr>
            </a:pPr>
            <a:r>
              <a:t>2</a:t>
            </a:r>
          </a:p>
        </p:txBody>
      </p:sp>
      <p:sp>
        <p:nvSpPr>
          <p:cNvPr id="16" name="TextBox 15"/>
          <p:cNvSpPr txBox="1"/>
          <p:nvPr/>
        </p:nvSpPr>
        <p:spPr>
          <a:xfrm>
            <a:off x="9235440" y="2057400"/>
            <a:ext cx="2423160" cy="822960"/>
          </a:xfrm>
          <a:prstGeom prst="rect">
            <a:avLst/>
          </a:prstGeom>
          <a:noFill/>
        </p:spPr>
        <p:txBody>
          <a:bodyPr wrap="square" tIns="0" lIns="0" rIns="0" bIns="0">
            <a:spAutoFit/>
          </a:bodyPr>
          <a:lstStyle/>
          <a:p>
            <a:pPr>
              <a:lnSpc>
                <a:spcPct val="110000"/>
              </a:lnSpc>
              <a:spcAft>
                <a:spcPts val="300"/>
              </a:spcAft>
              <a:defRPr sz="2400" b="1">
                <a:solidFill>
                  <a:srgbClr val="364653"/>
                </a:solidFill>
                <a:latin typeface="Segoe UI"/>
              </a:defRPr>
            </a:pPr>
            <a:r>
              <a:t>Lỗi</a:t>
            </a:r>
          </a:p>
          <a:p>
            <a:pPr>
              <a:lnSpc>
                <a:spcPct val="110000"/>
              </a:lnSpc>
              <a:spcAft>
                <a:spcPts val="0"/>
              </a:spcAft>
              <a:defRPr sz="2400" b="1">
                <a:solidFill>
                  <a:srgbClr val="364653"/>
                </a:solidFill>
                <a:latin typeface="Segoe UI"/>
              </a:defRPr>
            </a:pPr>
            <a:r>
              <a:t>nghiêm trọng</a:t>
            </a:r>
          </a:p>
        </p:txBody>
      </p:sp>
      <p:sp>
        <p:nvSpPr>
          <p:cNvPr id="17" name="TextBox 16"/>
          <p:cNvSpPr txBox="1"/>
          <p:nvPr/>
        </p:nvSpPr>
        <p:spPr>
          <a:xfrm>
            <a:off x="8183879" y="3108960"/>
            <a:ext cx="3474720" cy="731520"/>
          </a:xfrm>
          <a:prstGeom prst="rect">
            <a:avLst/>
          </a:prstGeom>
          <a:noFill/>
        </p:spPr>
        <p:txBody>
          <a:bodyPr wrap="square" tIns="0" lIns="0" rIns="0" bIns="0">
            <a:spAutoFit/>
          </a:bodyPr>
          <a:lstStyle/>
          <a:p>
            <a:pPr>
              <a:lnSpc>
                <a:spcPct val="110000"/>
              </a:lnSpc>
              <a:spcAft>
                <a:spcPts val="0"/>
              </a:spcAft>
              <a:defRPr sz="2100" b="0">
                <a:solidFill>
                  <a:srgbClr val="5B6870"/>
                </a:solidFill>
                <a:latin typeface="Segoe UI"/>
              </a:defRPr>
            </a:pPr>
            <a:r>
              <a:t>CLI · bộ nhớ · stdout</a:t>
            </a:r>
          </a:p>
        </p:txBody>
      </p:sp>
      <p:sp>
        <p:nvSpPr>
          <p:cNvPr id="18" name="Rectangle 17"/>
          <p:cNvSpPr/>
          <p:nvPr/>
        </p:nvSpPr>
        <p:spPr>
          <a:xfrm>
            <a:off x="777240" y="3950208"/>
            <a:ext cx="10588752" cy="2011680"/>
          </a:xfrm>
          <a:prstGeom prst="rect">
            <a:avLst/>
          </a:prstGeom>
          <a:solidFill>
            <a:srgbClr val="FFFDFA"/>
          </a:solidFill>
          <a:ln w="12700">
            <a:solidFill>
              <a:srgbClr val="D3D7D2"/>
            </a:solidFill>
          </a:ln>
        </p:spPr>
        <p:txBody>
          <a:bodyPr rtlCol="0" anchor="ctr"/>
          <a:lstStyle/>
          <a:p>
            <a:pPr algn="ctr"/>
          </a:p>
        </p:txBody>
      </p:sp>
      <p:sp>
        <p:nvSpPr>
          <p:cNvPr id="19" name="Rectangle 18"/>
          <p:cNvSpPr/>
          <p:nvPr/>
        </p:nvSpPr>
        <p:spPr>
          <a:xfrm>
            <a:off x="777240" y="3950208"/>
            <a:ext cx="10588752" cy="594360"/>
          </a:xfrm>
          <a:prstGeom prst="rect">
            <a:avLst/>
          </a:prstGeom>
          <a:solidFill>
            <a:srgbClr val="E6EDF1"/>
          </a:solidFill>
          <a:ln>
            <a:noFill/>
          </a:ln>
        </p:spPr>
        <p:txBody>
          <a:bodyPr rtlCol="0" anchor="ctr"/>
          <a:lstStyle/>
          <a:p>
            <a:pPr algn="ctr"/>
          </a:p>
        </p:txBody>
      </p:sp>
      <p:sp>
        <p:nvSpPr>
          <p:cNvPr id="20" name="TextBox 19"/>
          <p:cNvSpPr txBox="1"/>
          <p:nvPr/>
        </p:nvSpPr>
        <p:spPr>
          <a:xfrm>
            <a:off x="1005840" y="4087368"/>
            <a:ext cx="10131552" cy="411480"/>
          </a:xfrm>
          <a:prstGeom prst="rect">
            <a:avLst/>
          </a:prstGeom>
          <a:noFill/>
        </p:spPr>
        <p:txBody>
          <a:bodyPr wrap="square" tIns="0" lIns="0" rIns="0" bIns="0">
            <a:spAutoFit/>
          </a:bodyPr>
          <a:lstStyle/>
          <a:p>
            <a:pPr>
              <a:lnSpc>
                <a:spcPct val="110000"/>
              </a:lnSpc>
              <a:spcAft>
                <a:spcPts val="0"/>
              </a:spcAft>
              <a:defRPr sz="1700" b="1">
                <a:solidFill>
                  <a:srgbClr val="456B88"/>
                </a:solidFill>
                <a:latin typeface="Consolas"/>
              </a:defRPr>
            </a:pPr>
            <a:r>
              <a:t>$ ./myls missing_path.txt src_module</a:t>
            </a:r>
          </a:p>
        </p:txBody>
      </p:sp>
      <p:sp>
        <p:nvSpPr>
          <p:cNvPr id="21" name="TextBox 20"/>
          <p:cNvSpPr txBox="1"/>
          <p:nvPr/>
        </p:nvSpPr>
        <p:spPr>
          <a:xfrm>
            <a:off x="1005840" y="4736592"/>
            <a:ext cx="10131552" cy="1133856"/>
          </a:xfrm>
          <a:prstGeom prst="rect">
            <a:avLst/>
          </a:prstGeom>
          <a:noFill/>
        </p:spPr>
        <p:txBody>
          <a:bodyPr wrap="square" tIns="0" lIns="0" rIns="0" bIns="0">
            <a:spAutoFit/>
          </a:bodyPr>
          <a:lstStyle/>
          <a:p>
            <a:pPr>
              <a:lnSpc>
                <a:spcPct val="105000"/>
              </a:lnSpc>
              <a:spcAft>
                <a:spcPts val="0"/>
              </a:spcAft>
              <a:defRPr sz="1700" b="0">
                <a:solidFill>
                  <a:srgbClr val="364653"/>
                </a:solidFill>
                <a:latin typeface="Consolas"/>
              </a:defRPr>
            </a:pPr>
            <a:r>
              <a:t>myls: cannot access 'missing_path.txt': No such file or directory</a:t>
            </a:r>
          </a:p>
          <a:p>
            <a:pPr>
              <a:lnSpc>
                <a:spcPct val="105000"/>
              </a:lnSpc>
              <a:spcAft>
                <a:spcPts val="0"/>
              </a:spcAft>
              <a:defRPr sz="1700" b="0">
                <a:solidFill>
                  <a:srgbClr val="364653"/>
                </a:solidFill>
                <a:latin typeface="Consolas"/>
              </a:defRPr>
            </a:pPr>
            <a:r>
              <a:t>src_module:</a:t>
            </a:r>
          </a:p>
          <a:p>
            <a:pPr>
              <a:lnSpc>
                <a:spcPct val="105000"/>
              </a:lnSpc>
              <a:spcAft>
                <a:spcPts val="0"/>
              </a:spcAft>
              <a:defRPr sz="1700" b="0">
                <a:solidFill>
                  <a:srgbClr val="364653"/>
                </a:solidFill>
                <a:latin typeface="Consolas"/>
              </a:defRPr>
            </a:pPr>
            <a:r>
              <a:t>loop_parent</a:t>
            </a:r>
          </a:p>
          <a:p>
            <a:pPr>
              <a:lnSpc>
                <a:spcPct val="105000"/>
              </a:lnSpc>
              <a:spcAft>
                <a:spcPts val="0"/>
              </a:spcAft>
              <a:defRPr sz="1700" b="0">
                <a:solidFill>
                  <a:srgbClr val="364653"/>
                </a:solidFill>
                <a:latin typeface="Consolas"/>
              </a:defRPr>
            </a:pPr>
            <a:r>
              <a:t>main.c</a:t>
            </a:r>
          </a:p>
        </p:txBody>
      </p:sp>
      <p:sp>
        <p:nvSpPr>
          <p:cNvPr id="22" name="TextBox 21"/>
          <p:cNvSpPr txBox="1"/>
          <p:nvPr/>
        </p:nvSpPr>
        <p:spPr>
          <a:xfrm>
            <a:off x="777240" y="6071616"/>
            <a:ext cx="10607040" cy="274320"/>
          </a:xfrm>
          <a:prstGeom prst="rect">
            <a:avLst/>
          </a:prstGeom>
          <a:noFill/>
        </p:spPr>
        <p:txBody>
          <a:bodyPr wrap="square" tIns="0" lIns="0" rIns="0" bIns="0">
            <a:spAutoFit/>
          </a:bodyPr>
          <a:lstStyle/>
          <a:p>
            <a:pPr>
              <a:lnSpc>
                <a:spcPct val="110000"/>
              </a:lnSpc>
              <a:spcAft>
                <a:spcPts val="0"/>
              </a:spcAft>
              <a:defRPr sz="1800" b="1">
                <a:solidFill>
                  <a:srgbClr val="456B88"/>
                </a:solidFill>
                <a:latin typeface="Segoe UI"/>
              </a:defRPr>
            </a:pPr>
            <a:r>
              <a:t>Demo trả exit 2; lỗi ghi stderr, kết quả hợp lệ ghi stdout.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TextBox 1"/>
          <p:cNvSpPr txBox="1"/>
          <p:nvPr/>
        </p:nvSpPr>
        <p:spPr>
          <a:xfrm>
            <a:off x="749808" y="429768"/>
            <a:ext cx="10698480" cy="594360"/>
          </a:xfrm>
          <a:prstGeom prst="rect">
            <a:avLst/>
          </a:prstGeom>
          <a:noFill/>
        </p:spPr>
        <p:txBody>
          <a:bodyPr wrap="square" tIns="0" lIns="0" rIns="0" bIns="0">
            <a:spAutoFit/>
          </a:bodyPr>
          <a:lstStyle/>
          <a:p>
            <a:pPr>
              <a:lnSpc>
                <a:spcPct val="110000"/>
              </a:lnSpc>
              <a:spcAft>
                <a:spcPts val="0"/>
              </a:spcAft>
              <a:defRPr sz="3000" b="1">
                <a:solidFill>
                  <a:srgbClr val="364653"/>
                </a:solidFill>
                <a:latin typeface="Segoe UI"/>
              </a:defRPr>
            </a:pPr>
            <a:r>
              <a:t>Kiểm chứng cả hành vi lẫn đường lỗi</a:t>
            </a:r>
          </a:p>
        </p:txBody>
      </p:sp>
      <p:sp>
        <p:nvSpPr>
          <p:cNvPr id="3" name="TextBox 2"/>
          <p:cNvSpPr txBox="1"/>
          <p:nvPr/>
        </p:nvSpPr>
        <p:spPr>
          <a:xfrm>
            <a:off x="777240" y="1133856"/>
            <a:ext cx="10607040" cy="502920"/>
          </a:xfrm>
          <a:prstGeom prst="rect">
            <a:avLst/>
          </a:prstGeom>
          <a:noFill/>
        </p:spPr>
        <p:txBody>
          <a:bodyPr wrap="square" tIns="0" lIns="0" rIns="0" bIns="0">
            <a:spAutoFit/>
          </a:bodyPr>
          <a:lstStyle/>
          <a:p>
            <a:pPr>
              <a:lnSpc>
                <a:spcPct val="110000"/>
              </a:lnSpc>
              <a:spcAft>
                <a:spcPts val="0"/>
              </a:spcAft>
              <a:defRPr sz="1800" b="0">
                <a:solidFill>
                  <a:srgbClr val="5B6870"/>
                </a:solidFill>
                <a:latin typeface="Segoe UI"/>
              </a:defRPr>
            </a:pPr>
            <a:r>
              <a:t>26 ca đối chiếu GNU ls · 11 ca kiểm hợp đồng, helper và lỗi giả lập.</a:t>
            </a:r>
          </a:p>
        </p:txBody>
      </p:sp>
      <p:cxnSp>
        <p:nvCxnSpPr>
          <p:cNvPr id="4" name="Connector 3"/>
          <p:cNvCxnSpPr/>
          <p:nvPr/>
        </p:nvCxnSpPr>
        <p:spPr>
          <a:xfrm>
            <a:off x="10762488" y="6537960"/>
            <a:ext cx="237744" cy="0"/>
          </a:xfrm>
          <a:prstGeom prst="line">
            <a:avLst/>
          </a:prstGeom>
          <a:ln w="12700">
            <a:solidFill>
              <a:srgbClr val="D3D7D2"/>
            </a:solidFill>
          </a:ln>
        </p:spPr>
      </p:cxnSp>
      <p:sp>
        <p:nvSpPr>
          <p:cNvPr id="5" name="TextBox 4"/>
          <p:cNvSpPr txBox="1"/>
          <p:nvPr/>
        </p:nvSpPr>
        <p:spPr>
          <a:xfrm>
            <a:off x="11082528" y="6419088"/>
            <a:ext cx="411480" cy="274320"/>
          </a:xfrm>
          <a:prstGeom prst="rect">
            <a:avLst/>
          </a:prstGeom>
          <a:noFill/>
        </p:spPr>
        <p:txBody>
          <a:bodyPr wrap="square" tIns="0" lIns="0" rIns="0" bIns="0">
            <a:spAutoFit/>
          </a:bodyPr>
          <a:lstStyle/>
          <a:p>
            <a:pPr algn="ctr">
              <a:lnSpc>
                <a:spcPct val="110000"/>
              </a:lnSpc>
              <a:spcAft>
                <a:spcPts val="0"/>
              </a:spcAft>
              <a:defRPr sz="1000" b="0">
                <a:solidFill>
                  <a:srgbClr val="5B6870"/>
                </a:solidFill>
                <a:latin typeface="Segoe UI"/>
              </a:defRPr>
            </a:pPr>
            <a:r>
              <a:t>13</a:t>
            </a:r>
          </a:p>
        </p:txBody>
      </p:sp>
      <p:sp>
        <p:nvSpPr>
          <p:cNvPr id="6" name="TextBox 5"/>
          <p:cNvSpPr txBox="1"/>
          <p:nvPr/>
        </p:nvSpPr>
        <p:spPr>
          <a:xfrm>
            <a:off x="777240" y="2148840"/>
            <a:ext cx="3337560" cy="960120"/>
          </a:xfrm>
          <a:prstGeom prst="rect">
            <a:avLst/>
          </a:prstGeom>
          <a:noFill/>
        </p:spPr>
        <p:txBody>
          <a:bodyPr wrap="square" tIns="0" lIns="0" rIns="0" bIns="0">
            <a:spAutoFit/>
          </a:bodyPr>
          <a:lstStyle/>
          <a:p>
            <a:pPr>
              <a:lnSpc>
                <a:spcPct val="110000"/>
              </a:lnSpc>
              <a:spcAft>
                <a:spcPts val="0"/>
              </a:spcAft>
              <a:defRPr sz="4900" b="1">
                <a:solidFill>
                  <a:srgbClr val="456B88"/>
                </a:solidFill>
                <a:latin typeface="Segoe UI"/>
              </a:defRPr>
            </a:pPr>
            <a:r>
              <a:t>37 / 37</a:t>
            </a:r>
          </a:p>
        </p:txBody>
      </p:sp>
      <p:sp>
        <p:nvSpPr>
          <p:cNvPr id="7" name="TextBox 6"/>
          <p:cNvSpPr txBox="1"/>
          <p:nvPr/>
        </p:nvSpPr>
        <p:spPr>
          <a:xfrm>
            <a:off x="777240" y="3255264"/>
            <a:ext cx="3383280" cy="640080"/>
          </a:xfrm>
          <a:prstGeom prst="rect">
            <a:avLst/>
          </a:prstGeom>
          <a:noFill/>
        </p:spPr>
        <p:txBody>
          <a:bodyPr wrap="square" tIns="0" lIns="0" rIns="0" bIns="0">
            <a:spAutoFit/>
          </a:bodyPr>
          <a:lstStyle/>
          <a:p>
            <a:pPr>
              <a:lnSpc>
                <a:spcPct val="110000"/>
              </a:lnSpc>
              <a:spcAft>
                <a:spcPts val="0"/>
              </a:spcAft>
              <a:defRPr sz="2200" b="1">
                <a:solidFill>
                  <a:srgbClr val="364653"/>
                </a:solidFill>
                <a:latin typeface="Segoe UI"/>
              </a:defRPr>
            </a:pPr>
            <a:r>
              <a:t>Bản thường</a:t>
            </a:r>
          </a:p>
        </p:txBody>
      </p:sp>
      <p:sp>
        <p:nvSpPr>
          <p:cNvPr id="8" name="TextBox 7"/>
          <p:cNvSpPr txBox="1"/>
          <p:nvPr/>
        </p:nvSpPr>
        <p:spPr>
          <a:xfrm>
            <a:off x="4480560" y="2148840"/>
            <a:ext cx="3337560" cy="960120"/>
          </a:xfrm>
          <a:prstGeom prst="rect">
            <a:avLst/>
          </a:prstGeom>
          <a:noFill/>
        </p:spPr>
        <p:txBody>
          <a:bodyPr wrap="square" tIns="0" lIns="0" rIns="0" bIns="0">
            <a:spAutoFit/>
          </a:bodyPr>
          <a:lstStyle/>
          <a:p>
            <a:pPr>
              <a:lnSpc>
                <a:spcPct val="110000"/>
              </a:lnSpc>
              <a:spcAft>
                <a:spcPts val="0"/>
              </a:spcAft>
              <a:defRPr sz="4900" b="1">
                <a:solidFill>
                  <a:srgbClr val="456B88"/>
                </a:solidFill>
                <a:latin typeface="Segoe UI"/>
              </a:defRPr>
            </a:pPr>
            <a:r>
              <a:t>37 / 37</a:t>
            </a:r>
          </a:p>
        </p:txBody>
      </p:sp>
      <p:sp>
        <p:nvSpPr>
          <p:cNvPr id="9" name="TextBox 8"/>
          <p:cNvSpPr txBox="1"/>
          <p:nvPr/>
        </p:nvSpPr>
        <p:spPr>
          <a:xfrm>
            <a:off x="4480560" y="3255264"/>
            <a:ext cx="3383280" cy="640080"/>
          </a:xfrm>
          <a:prstGeom prst="rect">
            <a:avLst/>
          </a:prstGeom>
          <a:noFill/>
        </p:spPr>
        <p:txBody>
          <a:bodyPr wrap="square" tIns="0" lIns="0" rIns="0" bIns="0">
            <a:spAutoFit/>
          </a:bodyPr>
          <a:lstStyle/>
          <a:p>
            <a:pPr>
              <a:lnSpc>
                <a:spcPct val="110000"/>
              </a:lnSpc>
              <a:spcAft>
                <a:spcPts val="0"/>
              </a:spcAft>
              <a:defRPr sz="2200" b="1">
                <a:solidFill>
                  <a:srgbClr val="364653"/>
                </a:solidFill>
                <a:latin typeface="Segoe UI"/>
              </a:defRPr>
            </a:pPr>
            <a:r>
              <a:t>ASan + UBSan + LSan</a:t>
            </a:r>
          </a:p>
        </p:txBody>
      </p:sp>
      <p:pic>
        <p:nvPicPr>
          <p:cNvPr id="10" name="Illustration: testing_workbench" descr="Minh họa tạo bằng imagegen: Bàn kiểm thử với laptop và checklist; số liệu kết quả là text thật trên slide. Không phải ảnh chụp hay dữ liệu thực nghiệm."/>
          <p:cNvPicPr>
            <a:picLocks noChangeAspect="1"/>
          </p:cNvPicPr>
          <p:nvPr/>
        </p:nvPicPr>
        <p:blipFill>
          <a:blip r:embed="rId2"/>
          <a:stretch>
            <a:fillRect/>
          </a:stretch>
        </p:blipFill>
        <p:spPr>
          <a:xfrm>
            <a:off x="8191499" y="1847088"/>
            <a:ext cx="3048000" cy="2286000"/>
          </a:xfrm>
          <a:prstGeom prst="rect">
            <a:avLst/>
          </a:prstGeom>
        </p:spPr>
      </p:pic>
      <p:sp>
        <p:nvSpPr>
          <p:cNvPr id="11" name="Rectangle 10"/>
          <p:cNvSpPr/>
          <p:nvPr/>
        </p:nvSpPr>
        <p:spPr>
          <a:xfrm>
            <a:off x="777240" y="4453128"/>
            <a:ext cx="4578919" cy="685800"/>
          </a:xfrm>
          <a:prstGeom prst="rect">
            <a:avLst/>
          </a:prstGeom>
          <a:solidFill>
            <a:srgbClr val="456B88"/>
          </a:solidFill>
          <a:ln>
            <a:noFill/>
          </a:ln>
        </p:spPr>
        <p:txBody>
          <a:bodyPr rtlCol="0" anchor="ctr"/>
          <a:lstStyle/>
          <a:p>
            <a:pPr algn="ctr"/>
          </a:p>
        </p:txBody>
      </p:sp>
      <p:sp>
        <p:nvSpPr>
          <p:cNvPr id="12" name="TextBox 11"/>
          <p:cNvSpPr txBox="1"/>
          <p:nvPr/>
        </p:nvSpPr>
        <p:spPr>
          <a:xfrm>
            <a:off x="905256" y="4636008"/>
            <a:ext cx="4322887" cy="365760"/>
          </a:xfrm>
          <a:prstGeom prst="rect">
            <a:avLst/>
          </a:prstGeom>
          <a:noFill/>
        </p:spPr>
        <p:txBody>
          <a:bodyPr wrap="square" tIns="0" lIns="0" rIns="0" bIns="0">
            <a:spAutoFit/>
          </a:bodyPr>
          <a:lstStyle/>
          <a:p>
            <a:pPr>
              <a:lnSpc>
                <a:spcPct val="110000"/>
              </a:lnSpc>
              <a:spcAft>
                <a:spcPts val="0"/>
              </a:spcAft>
              <a:defRPr sz="2300" b="1">
                <a:solidFill>
                  <a:srgbClr val="FFFDFA"/>
                </a:solidFill>
                <a:latin typeface="Segoe UI"/>
              </a:defRPr>
            </a:pPr>
            <a:r>
              <a:t>16</a:t>
            </a:r>
          </a:p>
        </p:txBody>
      </p:sp>
      <p:sp>
        <p:nvSpPr>
          <p:cNvPr id="13" name="TextBox 12"/>
          <p:cNvSpPr txBox="1"/>
          <p:nvPr/>
        </p:nvSpPr>
        <p:spPr>
          <a:xfrm>
            <a:off x="777240" y="5385816"/>
            <a:ext cx="4487479" cy="594360"/>
          </a:xfrm>
          <a:prstGeom prst="rect">
            <a:avLst/>
          </a:prstGeom>
          <a:noFill/>
        </p:spPr>
        <p:txBody>
          <a:bodyPr wrap="square" tIns="0" lIns="0" rIns="0" bIns="0">
            <a:spAutoFit/>
          </a:bodyPr>
          <a:lstStyle/>
          <a:p>
            <a:pPr>
              <a:lnSpc>
                <a:spcPct val="110000"/>
              </a:lnSpc>
              <a:spcAft>
                <a:spcPts val="0"/>
              </a:spcAft>
              <a:defRPr sz="1900" b="1">
                <a:solidFill>
                  <a:srgbClr val="364653"/>
                </a:solidFill>
                <a:latin typeface="Segoe UI"/>
              </a:defRPr>
            </a:pPr>
            <a:r>
              <a:t>Tổ hợp 4 cờ</a:t>
            </a:r>
          </a:p>
        </p:txBody>
      </p:sp>
      <p:sp>
        <p:nvSpPr>
          <p:cNvPr id="14" name="Rectangle 13"/>
          <p:cNvSpPr/>
          <p:nvPr/>
        </p:nvSpPr>
        <p:spPr>
          <a:xfrm>
            <a:off x="5356159" y="4453128"/>
            <a:ext cx="2861824" cy="685800"/>
          </a:xfrm>
          <a:prstGeom prst="rect">
            <a:avLst/>
          </a:prstGeom>
          <a:solidFill>
            <a:srgbClr val="5C7359"/>
          </a:solidFill>
          <a:ln>
            <a:noFill/>
          </a:ln>
        </p:spPr>
        <p:txBody>
          <a:bodyPr rtlCol="0" anchor="ctr"/>
          <a:lstStyle/>
          <a:p>
            <a:pPr algn="ctr"/>
          </a:p>
        </p:txBody>
      </p:sp>
      <p:sp>
        <p:nvSpPr>
          <p:cNvPr id="15" name="TextBox 14"/>
          <p:cNvSpPr txBox="1"/>
          <p:nvPr/>
        </p:nvSpPr>
        <p:spPr>
          <a:xfrm>
            <a:off x="5484175" y="4636008"/>
            <a:ext cx="2605792" cy="365760"/>
          </a:xfrm>
          <a:prstGeom prst="rect">
            <a:avLst/>
          </a:prstGeom>
          <a:noFill/>
        </p:spPr>
        <p:txBody>
          <a:bodyPr wrap="square" tIns="0" lIns="0" rIns="0" bIns="0">
            <a:spAutoFit/>
          </a:bodyPr>
          <a:lstStyle/>
          <a:p>
            <a:pPr>
              <a:lnSpc>
                <a:spcPct val="110000"/>
              </a:lnSpc>
              <a:spcAft>
                <a:spcPts val="0"/>
              </a:spcAft>
              <a:defRPr sz="2300" b="1">
                <a:solidFill>
                  <a:srgbClr val="FFFDFA"/>
                </a:solidFill>
                <a:latin typeface="Segoe UI"/>
              </a:defRPr>
            </a:pPr>
            <a:r>
              <a:t>10</a:t>
            </a:r>
          </a:p>
        </p:txBody>
      </p:sp>
      <p:sp>
        <p:nvSpPr>
          <p:cNvPr id="16" name="TextBox 15"/>
          <p:cNvSpPr txBox="1"/>
          <p:nvPr/>
        </p:nvSpPr>
        <p:spPr>
          <a:xfrm>
            <a:off x="5356159" y="5385816"/>
            <a:ext cx="2770384" cy="594360"/>
          </a:xfrm>
          <a:prstGeom prst="rect">
            <a:avLst/>
          </a:prstGeom>
          <a:noFill/>
        </p:spPr>
        <p:txBody>
          <a:bodyPr wrap="square" tIns="0" lIns="0" rIns="0" bIns="0">
            <a:spAutoFit/>
          </a:bodyPr>
          <a:lstStyle/>
          <a:p>
            <a:pPr>
              <a:lnSpc>
                <a:spcPct val="110000"/>
              </a:lnSpc>
              <a:spcAft>
                <a:spcPts val="0"/>
              </a:spcAft>
              <a:defRPr sz="1900" b="1">
                <a:solidFill>
                  <a:srgbClr val="364653"/>
                </a:solidFill>
                <a:latin typeface="Segoe UI"/>
              </a:defRPr>
            </a:pPr>
            <a:r>
              <a:t>GNU: ca biên</a:t>
            </a:r>
          </a:p>
        </p:txBody>
      </p:sp>
      <p:sp>
        <p:nvSpPr>
          <p:cNvPr id="17" name="Rectangle 16"/>
          <p:cNvSpPr/>
          <p:nvPr/>
        </p:nvSpPr>
        <p:spPr>
          <a:xfrm>
            <a:off x="8217984" y="4453128"/>
            <a:ext cx="3148007" cy="685800"/>
          </a:xfrm>
          <a:prstGeom prst="rect">
            <a:avLst/>
          </a:prstGeom>
          <a:solidFill>
            <a:srgbClr val="9B624B"/>
          </a:solidFill>
          <a:ln>
            <a:noFill/>
          </a:ln>
        </p:spPr>
        <p:txBody>
          <a:bodyPr rtlCol="0" anchor="ctr"/>
          <a:lstStyle/>
          <a:p>
            <a:pPr algn="ctr"/>
          </a:p>
        </p:txBody>
      </p:sp>
      <p:sp>
        <p:nvSpPr>
          <p:cNvPr id="18" name="TextBox 17"/>
          <p:cNvSpPr txBox="1"/>
          <p:nvPr/>
        </p:nvSpPr>
        <p:spPr>
          <a:xfrm>
            <a:off x="8346000" y="4636008"/>
            <a:ext cx="2891975" cy="365760"/>
          </a:xfrm>
          <a:prstGeom prst="rect">
            <a:avLst/>
          </a:prstGeom>
          <a:noFill/>
        </p:spPr>
        <p:txBody>
          <a:bodyPr wrap="square" tIns="0" lIns="0" rIns="0" bIns="0">
            <a:spAutoFit/>
          </a:bodyPr>
          <a:lstStyle/>
          <a:p>
            <a:pPr>
              <a:lnSpc>
                <a:spcPct val="110000"/>
              </a:lnSpc>
              <a:spcAft>
                <a:spcPts val="0"/>
              </a:spcAft>
              <a:defRPr sz="2300" b="1">
                <a:solidFill>
                  <a:srgbClr val="FFFDFA"/>
                </a:solidFill>
                <a:latin typeface="Segoe UI"/>
              </a:defRPr>
            </a:pPr>
            <a:r>
              <a:t>11</a:t>
            </a:r>
          </a:p>
        </p:txBody>
      </p:sp>
      <p:sp>
        <p:nvSpPr>
          <p:cNvPr id="19" name="TextBox 18"/>
          <p:cNvSpPr txBox="1"/>
          <p:nvPr/>
        </p:nvSpPr>
        <p:spPr>
          <a:xfrm>
            <a:off x="8217984" y="5385816"/>
            <a:ext cx="3056567" cy="594360"/>
          </a:xfrm>
          <a:prstGeom prst="rect">
            <a:avLst/>
          </a:prstGeom>
          <a:noFill/>
        </p:spPr>
        <p:txBody>
          <a:bodyPr wrap="square" tIns="0" lIns="0" rIns="0" bIns="0">
            <a:spAutoFit/>
          </a:bodyPr>
          <a:lstStyle/>
          <a:p>
            <a:pPr>
              <a:lnSpc>
                <a:spcPct val="110000"/>
              </a:lnSpc>
              <a:spcAft>
                <a:spcPts val="0"/>
              </a:spcAft>
              <a:defRPr sz="1900" b="1">
                <a:solidFill>
                  <a:srgbClr val="364653"/>
                </a:solidFill>
                <a:latin typeface="Segoe UI"/>
              </a:defRPr>
            </a:pPr>
            <a:r>
              <a:t>Hợp đồng / fault / unit</a:t>
            </a:r>
          </a:p>
        </p:txBody>
      </p:sp>
      <p:sp>
        <p:nvSpPr>
          <p:cNvPr id="20" name="TextBox 19"/>
          <p:cNvSpPr txBox="1"/>
          <p:nvPr/>
        </p:nvSpPr>
        <p:spPr>
          <a:xfrm>
            <a:off x="777240" y="6117336"/>
            <a:ext cx="10607040" cy="292608"/>
          </a:xfrm>
          <a:prstGeom prst="rect">
            <a:avLst/>
          </a:prstGeom>
          <a:noFill/>
        </p:spPr>
        <p:txBody>
          <a:bodyPr wrap="square" tIns="0" lIns="0" rIns="0" bIns="0">
            <a:spAutoFit/>
          </a:bodyPr>
          <a:lstStyle/>
          <a:p>
            <a:pPr>
              <a:lnSpc>
                <a:spcPct val="110000"/>
              </a:lnSpc>
              <a:spcAft>
                <a:spcPts val="0"/>
              </a:spcAft>
              <a:defRPr sz="1600" b="0">
                <a:solidFill>
                  <a:srgbClr val="5B6870"/>
                </a:solidFill>
                <a:latin typeface="Segoe UI"/>
              </a:defRPr>
            </a:pPr>
            <a:r>
              <a:t>Bản thường / sanitizer: FAIL 0 / 0 · SKIP 0 / 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F0E8"/>
        </a:solidFill>
        <a:effectLst/>
      </p:bgPr>
    </p:bg>
    <p:spTree>
      <p:nvGrpSpPr>
        <p:cNvPr id="1" name=""/>
        <p:cNvGrpSpPr/>
        <p:nvPr/>
      </p:nvGrpSpPr>
      <p:grpSpPr/>
      <p:sp>
        <p:nvSpPr>
          <p:cNvPr id="2" name="TextBox 1"/>
          <p:cNvSpPr txBox="1"/>
          <p:nvPr/>
        </p:nvSpPr>
        <p:spPr>
          <a:xfrm>
            <a:off x="749808" y="429768"/>
            <a:ext cx="10698480" cy="594360"/>
          </a:xfrm>
          <a:prstGeom prst="rect">
            <a:avLst/>
          </a:prstGeom>
          <a:noFill/>
        </p:spPr>
        <p:txBody>
          <a:bodyPr wrap="square" tIns="0" lIns="0" rIns="0" bIns="0">
            <a:spAutoFit/>
          </a:bodyPr>
          <a:lstStyle/>
          <a:p>
            <a:pPr>
              <a:lnSpc>
                <a:spcPct val="110000"/>
              </a:lnSpc>
              <a:spcAft>
                <a:spcPts val="0"/>
              </a:spcAft>
              <a:defRPr sz="3000" b="1">
                <a:solidFill>
                  <a:srgbClr val="364653"/>
                </a:solidFill>
                <a:latin typeface="Segoe UI"/>
              </a:defRPr>
            </a:pPr>
            <a:r>
              <a:t>Demo: bốn thay đổi có thể quan sát</a:t>
            </a:r>
          </a:p>
        </p:txBody>
      </p:sp>
      <p:sp>
        <p:nvSpPr>
          <p:cNvPr id="3" name="TextBox 2"/>
          <p:cNvSpPr txBox="1"/>
          <p:nvPr/>
        </p:nvSpPr>
        <p:spPr>
          <a:xfrm>
            <a:off x="777240" y="1133856"/>
            <a:ext cx="10607040" cy="502920"/>
          </a:xfrm>
          <a:prstGeom prst="rect">
            <a:avLst/>
          </a:prstGeom>
          <a:noFill/>
        </p:spPr>
        <p:txBody>
          <a:bodyPr wrap="square" tIns="0" lIns="0" rIns="0" bIns="0">
            <a:spAutoFit/>
          </a:bodyPr>
          <a:lstStyle/>
          <a:p>
            <a:pPr>
              <a:lnSpc>
                <a:spcPct val="110000"/>
              </a:lnSpc>
              <a:spcAft>
                <a:spcPts val="0"/>
              </a:spcAft>
              <a:defRPr sz="1800" b="0">
                <a:solidFill>
                  <a:srgbClr val="5B6870"/>
                </a:solidFill>
                <a:latin typeface="Segoe UI"/>
              </a:defRPr>
            </a:pPr>
            <a:r>
              <a:t>Mục ẩn → thứ tự → đệ quy → xử lý lỗi.</a:t>
            </a:r>
          </a:p>
        </p:txBody>
      </p:sp>
      <p:cxnSp>
        <p:nvCxnSpPr>
          <p:cNvPr id="4" name="Connector 3"/>
          <p:cNvCxnSpPr/>
          <p:nvPr/>
        </p:nvCxnSpPr>
        <p:spPr>
          <a:xfrm>
            <a:off x="10762488" y="6537960"/>
            <a:ext cx="237744" cy="0"/>
          </a:xfrm>
          <a:prstGeom prst="line">
            <a:avLst/>
          </a:prstGeom>
          <a:ln w="12700">
            <a:solidFill>
              <a:srgbClr val="D3D7D2"/>
            </a:solidFill>
          </a:ln>
        </p:spPr>
      </p:cxnSp>
      <p:sp>
        <p:nvSpPr>
          <p:cNvPr id="5" name="TextBox 4"/>
          <p:cNvSpPr txBox="1"/>
          <p:nvPr/>
        </p:nvSpPr>
        <p:spPr>
          <a:xfrm>
            <a:off x="11082528" y="6419088"/>
            <a:ext cx="411480" cy="274320"/>
          </a:xfrm>
          <a:prstGeom prst="rect">
            <a:avLst/>
          </a:prstGeom>
          <a:noFill/>
        </p:spPr>
        <p:txBody>
          <a:bodyPr wrap="square" tIns="0" lIns="0" rIns="0" bIns="0">
            <a:spAutoFit/>
          </a:bodyPr>
          <a:lstStyle/>
          <a:p>
            <a:pPr algn="ctr">
              <a:lnSpc>
                <a:spcPct val="110000"/>
              </a:lnSpc>
              <a:spcAft>
                <a:spcPts val="0"/>
              </a:spcAft>
              <a:defRPr sz="1000" b="0">
                <a:solidFill>
                  <a:srgbClr val="5B6870"/>
                </a:solidFill>
                <a:latin typeface="Segoe UI"/>
              </a:defRPr>
            </a:pPr>
            <a:r>
              <a:t>14</a:t>
            </a:r>
          </a:p>
        </p:txBody>
      </p:sp>
      <p:pic>
        <p:nvPicPr>
          <p:cNvPr id="6" name="Illustration: live_terminal" descr="Minh họa tạo bằng imagegen: Trạm terminal dành cho phần chạy demo trực tiếp. Không phải ảnh chụp hay dữ liệu thực nghiệm."/>
          <p:cNvPicPr>
            <a:picLocks noChangeAspect="1"/>
          </p:cNvPicPr>
          <p:nvPr/>
        </p:nvPicPr>
        <p:blipFill>
          <a:blip r:embed="rId2"/>
          <a:stretch>
            <a:fillRect/>
          </a:stretch>
        </p:blipFill>
        <p:spPr>
          <a:xfrm>
            <a:off x="594360" y="2407158"/>
            <a:ext cx="3383280" cy="2537460"/>
          </a:xfrm>
          <a:prstGeom prst="rect">
            <a:avLst/>
          </a:prstGeom>
        </p:spPr>
      </p:pic>
      <p:sp>
        <p:nvSpPr>
          <p:cNvPr id="7" name="TextBox 6"/>
          <p:cNvSpPr txBox="1"/>
          <p:nvPr/>
        </p:nvSpPr>
        <p:spPr>
          <a:xfrm>
            <a:off x="932688" y="5504688"/>
            <a:ext cx="2743200" cy="457200"/>
          </a:xfrm>
          <a:prstGeom prst="rect">
            <a:avLst/>
          </a:prstGeom>
          <a:noFill/>
        </p:spPr>
        <p:txBody>
          <a:bodyPr wrap="square" tIns="0" lIns="0" rIns="0" bIns="0">
            <a:spAutoFit/>
          </a:bodyPr>
          <a:lstStyle/>
          <a:p>
            <a:pPr>
              <a:lnSpc>
                <a:spcPct val="110000"/>
              </a:lnSpc>
              <a:spcAft>
                <a:spcPts val="0"/>
              </a:spcAft>
              <a:defRPr sz="2700" b="1">
                <a:solidFill>
                  <a:srgbClr val="5C7359"/>
                </a:solidFill>
                <a:latin typeface="Consolas"/>
              </a:defRPr>
            </a:pPr>
            <a:r>
              <a:t>make demo</a:t>
            </a:r>
          </a:p>
        </p:txBody>
      </p:sp>
      <p:sp>
        <p:nvSpPr>
          <p:cNvPr id="8" name="Oval 7"/>
          <p:cNvSpPr/>
          <p:nvPr/>
        </p:nvSpPr>
        <p:spPr>
          <a:xfrm>
            <a:off x="4251960" y="1901952"/>
            <a:ext cx="402336" cy="402336"/>
          </a:xfrm>
          <a:prstGeom prst="ellipse">
            <a:avLst/>
          </a:prstGeom>
          <a:solidFill>
            <a:srgbClr val="456B88"/>
          </a:solidFill>
          <a:ln>
            <a:noFill/>
          </a:ln>
        </p:spPr>
        <p:txBody>
          <a:bodyPr rtlCol="0" anchor="ctr"/>
          <a:lstStyle/>
          <a:p>
            <a:pPr algn="ctr"/>
          </a:p>
        </p:txBody>
      </p:sp>
      <p:sp>
        <p:nvSpPr>
          <p:cNvPr id="9" name="TextBox 8"/>
          <p:cNvSpPr txBox="1"/>
          <p:nvPr/>
        </p:nvSpPr>
        <p:spPr>
          <a:xfrm>
            <a:off x="4251960" y="1952244"/>
            <a:ext cx="402336" cy="329184"/>
          </a:xfrm>
          <a:prstGeom prst="rect">
            <a:avLst/>
          </a:prstGeom>
          <a:noFill/>
        </p:spPr>
        <p:txBody>
          <a:bodyPr wrap="square" tIns="0" lIns="0" rIns="0" bIns="0">
            <a:spAutoFit/>
          </a:bodyPr>
          <a:lstStyle/>
          <a:p>
            <a:pPr algn="ctr">
              <a:lnSpc>
                <a:spcPct val="110000"/>
              </a:lnSpc>
              <a:spcAft>
                <a:spcPts val="0"/>
              </a:spcAft>
              <a:defRPr sz="1800" b="1">
                <a:solidFill>
                  <a:srgbClr val="FFFDFA"/>
                </a:solidFill>
                <a:latin typeface="Segoe UI"/>
              </a:defRPr>
            </a:pPr>
            <a:r>
              <a:t>1</a:t>
            </a:r>
          </a:p>
        </p:txBody>
      </p:sp>
      <p:sp>
        <p:nvSpPr>
          <p:cNvPr id="10" name="TextBox 9"/>
          <p:cNvSpPr txBox="1"/>
          <p:nvPr/>
        </p:nvSpPr>
        <p:spPr>
          <a:xfrm>
            <a:off x="4882896" y="1883664"/>
            <a:ext cx="6510528" cy="457200"/>
          </a:xfrm>
          <a:prstGeom prst="rect">
            <a:avLst/>
          </a:prstGeom>
          <a:noFill/>
        </p:spPr>
        <p:txBody>
          <a:bodyPr wrap="square" tIns="0" lIns="0" rIns="0" bIns="0">
            <a:spAutoFit/>
          </a:bodyPr>
          <a:lstStyle/>
          <a:p>
            <a:pPr>
              <a:lnSpc>
                <a:spcPct val="110000"/>
              </a:lnSpc>
              <a:spcAft>
                <a:spcPts val="0"/>
              </a:spcAft>
              <a:defRPr sz="2200" b="1">
                <a:solidFill>
                  <a:srgbClr val="364653"/>
                </a:solidFill>
                <a:latin typeface="Consolas"/>
              </a:defRPr>
            </a:pPr>
            <a:r>
              <a:t>./myls → ./myls -a</a:t>
            </a:r>
          </a:p>
        </p:txBody>
      </p:sp>
      <p:sp>
        <p:nvSpPr>
          <p:cNvPr id="11" name="TextBox 10"/>
          <p:cNvSpPr txBox="1"/>
          <p:nvPr/>
        </p:nvSpPr>
        <p:spPr>
          <a:xfrm>
            <a:off x="4882896" y="2404872"/>
            <a:ext cx="6510528" cy="420624"/>
          </a:xfrm>
          <a:prstGeom prst="rect">
            <a:avLst/>
          </a:prstGeom>
          <a:noFill/>
        </p:spPr>
        <p:txBody>
          <a:bodyPr wrap="square" tIns="0" lIns="0" rIns="0" bIns="0">
            <a:spAutoFit/>
          </a:bodyPr>
          <a:lstStyle/>
          <a:p>
            <a:pPr>
              <a:lnSpc>
                <a:spcPct val="110000"/>
              </a:lnSpc>
              <a:spcAft>
                <a:spcPts val="0"/>
              </a:spcAft>
              <a:defRPr sz="2000" b="0">
                <a:solidFill>
                  <a:srgbClr val="5B6870"/>
                </a:solidFill>
                <a:latin typeface="Segoe UI"/>
              </a:defRPr>
            </a:pPr>
            <a:r>
              <a:t>Xuất hiện mục ẩn, . và ..</a:t>
            </a:r>
          </a:p>
        </p:txBody>
      </p:sp>
      <p:cxnSp>
        <p:nvCxnSpPr>
          <p:cNvPr id="12" name="Connector 11"/>
          <p:cNvCxnSpPr/>
          <p:nvPr/>
        </p:nvCxnSpPr>
        <p:spPr>
          <a:xfrm>
            <a:off x="4882896" y="2816352"/>
            <a:ext cx="6492240" cy="0"/>
          </a:xfrm>
          <a:prstGeom prst="line">
            <a:avLst/>
          </a:prstGeom>
          <a:ln w="12700">
            <a:solidFill>
              <a:srgbClr val="D3D7D2"/>
            </a:solidFill>
          </a:ln>
        </p:spPr>
      </p:cxnSp>
      <p:sp>
        <p:nvSpPr>
          <p:cNvPr id="13" name="Oval 12"/>
          <p:cNvSpPr/>
          <p:nvPr/>
        </p:nvSpPr>
        <p:spPr>
          <a:xfrm>
            <a:off x="4251960" y="2935224"/>
            <a:ext cx="402336" cy="402336"/>
          </a:xfrm>
          <a:prstGeom prst="ellipse">
            <a:avLst/>
          </a:prstGeom>
          <a:solidFill>
            <a:srgbClr val="5C7359"/>
          </a:solidFill>
          <a:ln>
            <a:noFill/>
          </a:ln>
        </p:spPr>
        <p:txBody>
          <a:bodyPr rtlCol="0" anchor="ctr"/>
          <a:lstStyle/>
          <a:p>
            <a:pPr algn="ctr"/>
          </a:p>
        </p:txBody>
      </p:sp>
      <p:sp>
        <p:nvSpPr>
          <p:cNvPr id="14" name="TextBox 13"/>
          <p:cNvSpPr txBox="1"/>
          <p:nvPr/>
        </p:nvSpPr>
        <p:spPr>
          <a:xfrm>
            <a:off x="4251960" y="2985516"/>
            <a:ext cx="402336" cy="329184"/>
          </a:xfrm>
          <a:prstGeom prst="rect">
            <a:avLst/>
          </a:prstGeom>
          <a:noFill/>
        </p:spPr>
        <p:txBody>
          <a:bodyPr wrap="square" tIns="0" lIns="0" rIns="0" bIns="0">
            <a:spAutoFit/>
          </a:bodyPr>
          <a:lstStyle/>
          <a:p>
            <a:pPr algn="ctr">
              <a:lnSpc>
                <a:spcPct val="110000"/>
              </a:lnSpc>
              <a:spcAft>
                <a:spcPts val="0"/>
              </a:spcAft>
              <a:defRPr sz="1800" b="1">
                <a:solidFill>
                  <a:srgbClr val="FFFDFA"/>
                </a:solidFill>
                <a:latin typeface="Segoe UI"/>
              </a:defRPr>
            </a:pPr>
            <a:r>
              <a:t>2</a:t>
            </a:r>
          </a:p>
        </p:txBody>
      </p:sp>
      <p:sp>
        <p:nvSpPr>
          <p:cNvPr id="15" name="TextBox 14"/>
          <p:cNvSpPr txBox="1"/>
          <p:nvPr/>
        </p:nvSpPr>
        <p:spPr>
          <a:xfrm>
            <a:off x="4882896" y="2916936"/>
            <a:ext cx="6510528" cy="457200"/>
          </a:xfrm>
          <a:prstGeom prst="rect">
            <a:avLst/>
          </a:prstGeom>
          <a:noFill/>
        </p:spPr>
        <p:txBody>
          <a:bodyPr wrap="square" tIns="0" lIns="0" rIns="0" bIns="0">
            <a:spAutoFit/>
          </a:bodyPr>
          <a:lstStyle/>
          <a:p>
            <a:pPr>
              <a:lnSpc>
                <a:spcPct val="110000"/>
              </a:lnSpc>
              <a:spcAft>
                <a:spcPts val="0"/>
              </a:spcAft>
              <a:defRPr sz="2200" b="1">
                <a:solidFill>
                  <a:srgbClr val="364653"/>
                </a:solidFill>
                <a:latin typeface="Consolas"/>
              </a:defRPr>
            </a:pPr>
            <a:r>
              <a:t>./myls -lS</a:t>
            </a:r>
          </a:p>
        </p:txBody>
      </p:sp>
      <p:sp>
        <p:nvSpPr>
          <p:cNvPr id="16" name="TextBox 15"/>
          <p:cNvSpPr txBox="1"/>
          <p:nvPr/>
        </p:nvSpPr>
        <p:spPr>
          <a:xfrm>
            <a:off x="4882896" y="3438144"/>
            <a:ext cx="6510528" cy="420624"/>
          </a:xfrm>
          <a:prstGeom prst="rect">
            <a:avLst/>
          </a:prstGeom>
          <a:noFill/>
        </p:spPr>
        <p:txBody>
          <a:bodyPr wrap="square" tIns="0" lIns="0" rIns="0" bIns="0">
            <a:spAutoFit/>
          </a:bodyPr>
          <a:lstStyle/>
          <a:p>
            <a:pPr>
              <a:lnSpc>
                <a:spcPct val="110000"/>
              </a:lnSpc>
              <a:spcAft>
                <a:spcPts val="0"/>
              </a:spcAft>
              <a:defRPr sz="2000" b="0">
                <a:solidFill>
                  <a:srgbClr val="5B6870"/>
                </a:solidFill>
                <a:latin typeface="Segoe UI"/>
              </a:defRPr>
            </a:pPr>
            <a:r>
              <a:t>Size giảm; hai tệp 512 byte phá hòa theo tên</a:t>
            </a:r>
          </a:p>
        </p:txBody>
      </p:sp>
      <p:cxnSp>
        <p:nvCxnSpPr>
          <p:cNvPr id="17" name="Connector 16"/>
          <p:cNvCxnSpPr/>
          <p:nvPr/>
        </p:nvCxnSpPr>
        <p:spPr>
          <a:xfrm>
            <a:off x="4882896" y="3849624"/>
            <a:ext cx="6492240" cy="0"/>
          </a:xfrm>
          <a:prstGeom prst="line">
            <a:avLst/>
          </a:prstGeom>
          <a:ln w="12700">
            <a:solidFill>
              <a:srgbClr val="D3D7D2"/>
            </a:solidFill>
          </a:ln>
        </p:spPr>
      </p:cxnSp>
      <p:sp>
        <p:nvSpPr>
          <p:cNvPr id="18" name="Oval 17"/>
          <p:cNvSpPr/>
          <p:nvPr/>
        </p:nvSpPr>
        <p:spPr>
          <a:xfrm>
            <a:off x="4251960" y="3968496"/>
            <a:ext cx="402336" cy="402336"/>
          </a:xfrm>
          <a:prstGeom prst="ellipse">
            <a:avLst/>
          </a:prstGeom>
          <a:solidFill>
            <a:srgbClr val="9B624B"/>
          </a:solidFill>
          <a:ln>
            <a:noFill/>
          </a:ln>
        </p:spPr>
        <p:txBody>
          <a:bodyPr rtlCol="0" anchor="ctr"/>
          <a:lstStyle/>
          <a:p>
            <a:pPr algn="ctr"/>
          </a:p>
        </p:txBody>
      </p:sp>
      <p:sp>
        <p:nvSpPr>
          <p:cNvPr id="19" name="TextBox 18"/>
          <p:cNvSpPr txBox="1"/>
          <p:nvPr/>
        </p:nvSpPr>
        <p:spPr>
          <a:xfrm>
            <a:off x="4251960" y="4018787"/>
            <a:ext cx="402336" cy="329184"/>
          </a:xfrm>
          <a:prstGeom prst="rect">
            <a:avLst/>
          </a:prstGeom>
          <a:noFill/>
        </p:spPr>
        <p:txBody>
          <a:bodyPr wrap="square" tIns="0" lIns="0" rIns="0" bIns="0">
            <a:spAutoFit/>
          </a:bodyPr>
          <a:lstStyle/>
          <a:p>
            <a:pPr algn="ctr">
              <a:lnSpc>
                <a:spcPct val="110000"/>
              </a:lnSpc>
              <a:spcAft>
                <a:spcPts val="0"/>
              </a:spcAft>
              <a:defRPr sz="1800" b="1">
                <a:solidFill>
                  <a:srgbClr val="FFFDFA"/>
                </a:solidFill>
                <a:latin typeface="Segoe UI"/>
              </a:defRPr>
            </a:pPr>
            <a:r>
              <a:t>3</a:t>
            </a:r>
          </a:p>
        </p:txBody>
      </p:sp>
      <p:sp>
        <p:nvSpPr>
          <p:cNvPr id="20" name="TextBox 19"/>
          <p:cNvSpPr txBox="1"/>
          <p:nvPr/>
        </p:nvSpPr>
        <p:spPr>
          <a:xfrm>
            <a:off x="4882896" y="3950208"/>
            <a:ext cx="6510528" cy="457200"/>
          </a:xfrm>
          <a:prstGeom prst="rect">
            <a:avLst/>
          </a:prstGeom>
          <a:noFill/>
        </p:spPr>
        <p:txBody>
          <a:bodyPr wrap="square" tIns="0" lIns="0" rIns="0" bIns="0">
            <a:spAutoFit/>
          </a:bodyPr>
          <a:lstStyle/>
          <a:p>
            <a:pPr>
              <a:lnSpc>
                <a:spcPct val="110000"/>
              </a:lnSpc>
              <a:spcAft>
                <a:spcPts val="0"/>
              </a:spcAft>
              <a:defRPr sz="2200" b="1">
                <a:solidFill>
                  <a:srgbClr val="364653"/>
                </a:solidFill>
                <a:latin typeface="Consolas"/>
              </a:defRPr>
            </a:pPr>
            <a:r>
              <a:t>./myls -alRS</a:t>
            </a:r>
          </a:p>
        </p:txBody>
      </p:sp>
      <p:sp>
        <p:nvSpPr>
          <p:cNvPr id="21" name="TextBox 20"/>
          <p:cNvSpPr txBox="1"/>
          <p:nvPr/>
        </p:nvSpPr>
        <p:spPr>
          <a:xfrm>
            <a:off x="4882896" y="4471416"/>
            <a:ext cx="6510528" cy="420624"/>
          </a:xfrm>
          <a:prstGeom prst="rect">
            <a:avLst/>
          </a:prstGeom>
          <a:noFill/>
        </p:spPr>
        <p:txBody>
          <a:bodyPr wrap="square" tIns="0" lIns="0" rIns="0" bIns="0">
            <a:spAutoFit/>
          </a:bodyPr>
          <a:lstStyle/>
          <a:p>
            <a:pPr>
              <a:lnSpc>
                <a:spcPct val="110000"/>
              </a:lnSpc>
              <a:spcAft>
                <a:spcPts val="0"/>
              </a:spcAft>
              <a:defRPr sz="2000" b="0">
                <a:solidFill>
                  <a:srgbClr val="5B6870"/>
                </a:solidFill>
                <a:latin typeface="Segoe UI"/>
              </a:defRPr>
            </a:pPr>
            <a:r>
              <a:t>Vào thư mục ẩn, không theo link tới ..</a:t>
            </a:r>
          </a:p>
        </p:txBody>
      </p:sp>
      <p:cxnSp>
        <p:nvCxnSpPr>
          <p:cNvPr id="22" name="Connector 21"/>
          <p:cNvCxnSpPr/>
          <p:nvPr/>
        </p:nvCxnSpPr>
        <p:spPr>
          <a:xfrm>
            <a:off x="4882896" y="4882896"/>
            <a:ext cx="6492240" cy="0"/>
          </a:xfrm>
          <a:prstGeom prst="line">
            <a:avLst/>
          </a:prstGeom>
          <a:ln w="12700">
            <a:solidFill>
              <a:srgbClr val="D3D7D2"/>
            </a:solidFill>
          </a:ln>
        </p:spPr>
      </p:cxnSp>
      <p:sp>
        <p:nvSpPr>
          <p:cNvPr id="23" name="Oval 22"/>
          <p:cNvSpPr/>
          <p:nvPr/>
        </p:nvSpPr>
        <p:spPr>
          <a:xfrm>
            <a:off x="4251960" y="5001768"/>
            <a:ext cx="402336" cy="402336"/>
          </a:xfrm>
          <a:prstGeom prst="ellipse">
            <a:avLst/>
          </a:prstGeom>
          <a:solidFill>
            <a:srgbClr val="456B88"/>
          </a:solidFill>
          <a:ln>
            <a:noFill/>
          </a:ln>
        </p:spPr>
        <p:txBody>
          <a:bodyPr rtlCol="0" anchor="ctr"/>
          <a:lstStyle/>
          <a:p>
            <a:pPr algn="ctr"/>
          </a:p>
        </p:txBody>
      </p:sp>
      <p:sp>
        <p:nvSpPr>
          <p:cNvPr id="24" name="TextBox 23"/>
          <p:cNvSpPr txBox="1"/>
          <p:nvPr/>
        </p:nvSpPr>
        <p:spPr>
          <a:xfrm>
            <a:off x="4251960" y="5052059"/>
            <a:ext cx="402336" cy="329184"/>
          </a:xfrm>
          <a:prstGeom prst="rect">
            <a:avLst/>
          </a:prstGeom>
          <a:noFill/>
        </p:spPr>
        <p:txBody>
          <a:bodyPr wrap="square" tIns="0" lIns="0" rIns="0" bIns="0">
            <a:spAutoFit/>
          </a:bodyPr>
          <a:lstStyle/>
          <a:p>
            <a:pPr algn="ctr">
              <a:lnSpc>
                <a:spcPct val="110000"/>
              </a:lnSpc>
              <a:spcAft>
                <a:spcPts val="0"/>
              </a:spcAft>
              <a:defRPr sz="1800" b="1">
                <a:solidFill>
                  <a:srgbClr val="FFFDFA"/>
                </a:solidFill>
                <a:latin typeface="Segoe UI"/>
              </a:defRPr>
            </a:pPr>
            <a:r>
              <a:t>4</a:t>
            </a:r>
          </a:p>
        </p:txBody>
      </p:sp>
      <p:sp>
        <p:nvSpPr>
          <p:cNvPr id="25" name="TextBox 24"/>
          <p:cNvSpPr txBox="1"/>
          <p:nvPr/>
        </p:nvSpPr>
        <p:spPr>
          <a:xfrm>
            <a:off x="4882896" y="4983480"/>
            <a:ext cx="6510528" cy="457200"/>
          </a:xfrm>
          <a:prstGeom prst="rect">
            <a:avLst/>
          </a:prstGeom>
          <a:noFill/>
        </p:spPr>
        <p:txBody>
          <a:bodyPr wrap="square" tIns="0" lIns="0" rIns="0" bIns="0">
            <a:spAutoFit/>
          </a:bodyPr>
          <a:lstStyle/>
          <a:p>
            <a:pPr>
              <a:lnSpc>
                <a:spcPct val="110000"/>
              </a:lnSpc>
              <a:spcAft>
                <a:spcPts val="0"/>
              </a:spcAft>
              <a:defRPr sz="2200" b="1">
                <a:solidFill>
                  <a:srgbClr val="364653"/>
                </a:solidFill>
                <a:latin typeface="Consolas"/>
              </a:defRPr>
            </a:pPr>
            <a:r>
              <a:t>./myls missing_path.txt src_module</a:t>
            </a:r>
          </a:p>
        </p:txBody>
      </p:sp>
      <p:sp>
        <p:nvSpPr>
          <p:cNvPr id="26" name="TextBox 25"/>
          <p:cNvSpPr txBox="1"/>
          <p:nvPr/>
        </p:nvSpPr>
        <p:spPr>
          <a:xfrm>
            <a:off x="4882896" y="5504688"/>
            <a:ext cx="6510528" cy="420624"/>
          </a:xfrm>
          <a:prstGeom prst="rect">
            <a:avLst/>
          </a:prstGeom>
          <a:noFill/>
        </p:spPr>
        <p:txBody>
          <a:bodyPr wrap="square" tIns="0" lIns="0" rIns="0" bIns="0">
            <a:spAutoFit/>
          </a:bodyPr>
          <a:lstStyle/>
          <a:p>
            <a:pPr>
              <a:lnSpc>
                <a:spcPct val="110000"/>
              </a:lnSpc>
              <a:spcAft>
                <a:spcPts val="0"/>
              </a:spcAft>
              <a:defRPr sz="2000" b="0">
                <a:solidFill>
                  <a:srgbClr val="5B6870"/>
                </a:solidFill>
                <a:latin typeface="Segoe UI"/>
              </a:defRPr>
            </a:pPr>
            <a:r>
              <a:t>Có lỗi, vẫn in operand hợp lệ; exit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TextBox 1"/>
          <p:cNvSpPr txBox="1"/>
          <p:nvPr/>
        </p:nvSpPr>
        <p:spPr>
          <a:xfrm>
            <a:off x="749808" y="429768"/>
            <a:ext cx="10698480" cy="594360"/>
          </a:xfrm>
          <a:prstGeom prst="rect">
            <a:avLst/>
          </a:prstGeom>
          <a:noFill/>
        </p:spPr>
        <p:txBody>
          <a:bodyPr wrap="square" tIns="0" lIns="0" rIns="0" bIns="0">
            <a:spAutoFit/>
          </a:bodyPr>
          <a:lstStyle/>
          <a:p>
            <a:pPr>
              <a:lnSpc>
                <a:spcPct val="110000"/>
              </a:lnSpc>
              <a:spcAft>
                <a:spcPts val="0"/>
              </a:spcAft>
              <a:defRPr sz="3000" b="1">
                <a:solidFill>
                  <a:srgbClr val="364653"/>
                </a:solidFill>
                <a:latin typeface="Segoe UI"/>
              </a:defRPr>
            </a:pPr>
            <a:r>
              <a:t>Phạm vi rõ giúp đánh giá kết quả đúng</a:t>
            </a:r>
          </a:p>
        </p:txBody>
      </p:sp>
      <p:sp>
        <p:nvSpPr>
          <p:cNvPr id="3" name="TextBox 2"/>
          <p:cNvSpPr txBox="1"/>
          <p:nvPr/>
        </p:nvSpPr>
        <p:spPr>
          <a:xfrm>
            <a:off x="777240" y="1133856"/>
            <a:ext cx="10607040" cy="502920"/>
          </a:xfrm>
          <a:prstGeom prst="rect">
            <a:avLst/>
          </a:prstGeom>
          <a:noFill/>
        </p:spPr>
        <p:txBody>
          <a:bodyPr wrap="square" tIns="0" lIns="0" rIns="0" bIns="0">
            <a:spAutoFit/>
          </a:bodyPr>
          <a:lstStyle/>
          <a:p>
            <a:pPr>
              <a:lnSpc>
                <a:spcPct val="110000"/>
              </a:lnSpc>
              <a:spcAft>
                <a:spcPts val="0"/>
              </a:spcAft>
              <a:defRPr sz="1800" b="0">
                <a:solidFill>
                  <a:srgbClr val="5B6870"/>
                </a:solidFill>
                <a:latin typeface="Segoe UI"/>
              </a:defRPr>
            </a:pPr>
            <a:r>
              <a:t>Tái hiện bốn cờ trong hợp đồng đã công bố; vẫn có khác biệt với GNU ls.</a:t>
            </a:r>
          </a:p>
        </p:txBody>
      </p:sp>
      <p:cxnSp>
        <p:nvCxnSpPr>
          <p:cNvPr id="4" name="Connector 3"/>
          <p:cNvCxnSpPr/>
          <p:nvPr/>
        </p:nvCxnSpPr>
        <p:spPr>
          <a:xfrm>
            <a:off x="10762488" y="6537960"/>
            <a:ext cx="237744" cy="0"/>
          </a:xfrm>
          <a:prstGeom prst="line">
            <a:avLst/>
          </a:prstGeom>
          <a:ln w="12700">
            <a:solidFill>
              <a:srgbClr val="D3D7D2"/>
            </a:solidFill>
          </a:ln>
        </p:spPr>
      </p:cxnSp>
      <p:sp>
        <p:nvSpPr>
          <p:cNvPr id="5" name="TextBox 4"/>
          <p:cNvSpPr txBox="1"/>
          <p:nvPr/>
        </p:nvSpPr>
        <p:spPr>
          <a:xfrm>
            <a:off x="11082528" y="6419088"/>
            <a:ext cx="411480" cy="274320"/>
          </a:xfrm>
          <a:prstGeom prst="rect">
            <a:avLst/>
          </a:prstGeom>
          <a:noFill/>
        </p:spPr>
        <p:txBody>
          <a:bodyPr wrap="square" tIns="0" lIns="0" rIns="0" bIns="0">
            <a:spAutoFit/>
          </a:bodyPr>
          <a:lstStyle/>
          <a:p>
            <a:pPr algn="ctr">
              <a:lnSpc>
                <a:spcPct val="110000"/>
              </a:lnSpc>
              <a:spcAft>
                <a:spcPts val="0"/>
              </a:spcAft>
              <a:defRPr sz="1000" b="0">
                <a:solidFill>
                  <a:srgbClr val="5B6870"/>
                </a:solidFill>
                <a:latin typeface="Segoe UI"/>
              </a:defRPr>
            </a:pPr>
            <a:r>
              <a:t>15</a:t>
            </a:r>
          </a:p>
        </p:txBody>
      </p:sp>
      <p:sp>
        <p:nvSpPr>
          <p:cNvPr id="6" name="Rectangle 5"/>
          <p:cNvSpPr/>
          <p:nvPr/>
        </p:nvSpPr>
        <p:spPr>
          <a:xfrm>
            <a:off x="777240" y="1874519"/>
            <a:ext cx="64008" cy="932688"/>
          </a:xfrm>
          <a:prstGeom prst="rect">
            <a:avLst/>
          </a:prstGeom>
          <a:solidFill>
            <a:srgbClr val="456B88"/>
          </a:solidFill>
          <a:ln>
            <a:noFill/>
          </a:ln>
        </p:spPr>
        <p:txBody>
          <a:bodyPr rtlCol="0" anchor="ctr"/>
          <a:lstStyle/>
          <a:p>
            <a:pPr algn="ctr"/>
          </a:p>
        </p:txBody>
      </p:sp>
      <p:sp>
        <p:nvSpPr>
          <p:cNvPr id="7" name="TextBox 6"/>
          <p:cNvSpPr txBox="1"/>
          <p:nvPr/>
        </p:nvSpPr>
        <p:spPr>
          <a:xfrm>
            <a:off x="1005840" y="1874519"/>
            <a:ext cx="1965960" cy="502920"/>
          </a:xfrm>
          <a:prstGeom prst="rect">
            <a:avLst/>
          </a:prstGeom>
          <a:noFill/>
        </p:spPr>
        <p:txBody>
          <a:bodyPr wrap="square" tIns="0" lIns="0" rIns="0" bIns="0">
            <a:spAutoFit/>
          </a:bodyPr>
          <a:lstStyle/>
          <a:p>
            <a:pPr>
              <a:lnSpc>
                <a:spcPct val="110000"/>
              </a:lnSpc>
              <a:spcAft>
                <a:spcPts val="0"/>
              </a:spcAft>
              <a:defRPr sz="2100" b="1">
                <a:solidFill>
                  <a:srgbClr val="456B88"/>
                </a:solidFill>
                <a:latin typeface="Segoe UI"/>
              </a:defRPr>
            </a:pPr>
            <a:r>
              <a:t>HIỂN THỊ</a:t>
            </a:r>
          </a:p>
        </p:txBody>
      </p:sp>
      <p:sp>
        <p:nvSpPr>
          <p:cNvPr id="8" name="TextBox 7"/>
          <p:cNvSpPr txBox="1"/>
          <p:nvPr/>
        </p:nvSpPr>
        <p:spPr>
          <a:xfrm>
            <a:off x="3108960" y="1874519"/>
            <a:ext cx="8156448" cy="548640"/>
          </a:xfrm>
          <a:prstGeom prst="rect">
            <a:avLst/>
          </a:prstGeom>
          <a:noFill/>
        </p:spPr>
        <p:txBody>
          <a:bodyPr wrap="square" tIns="0" lIns="0" rIns="0" bIns="0">
            <a:spAutoFit/>
          </a:bodyPr>
          <a:lstStyle/>
          <a:p>
            <a:pPr>
              <a:lnSpc>
                <a:spcPct val="110000"/>
              </a:lnSpc>
              <a:spcAft>
                <a:spcPts val="0"/>
              </a:spcAft>
              <a:defRPr sz="2200" b="1">
                <a:solidFill>
                  <a:srgbClr val="364653"/>
                </a:solidFill>
                <a:latin typeface="Segoe UI"/>
              </a:defRPr>
            </a:pPr>
            <a:r>
              <a:t>Một tên mỗi dòng; LC_ALL=C, so tên theo byte.</a:t>
            </a:r>
          </a:p>
        </p:txBody>
      </p:sp>
      <p:sp>
        <p:nvSpPr>
          <p:cNvPr id="9" name="TextBox 8"/>
          <p:cNvSpPr txBox="1"/>
          <p:nvPr/>
        </p:nvSpPr>
        <p:spPr>
          <a:xfrm>
            <a:off x="3108960" y="2468879"/>
            <a:ext cx="8156448" cy="594360"/>
          </a:xfrm>
          <a:prstGeom prst="rect">
            <a:avLst/>
          </a:prstGeom>
          <a:noFill/>
        </p:spPr>
        <p:txBody>
          <a:bodyPr wrap="square" tIns="0" lIns="0" rIns="0" bIns="0">
            <a:spAutoFit/>
          </a:bodyPr>
          <a:lstStyle/>
          <a:p>
            <a:pPr>
              <a:lnSpc>
                <a:spcPct val="110000"/>
              </a:lnSpc>
              <a:spcAft>
                <a:spcPts val="0"/>
              </a:spcAft>
              <a:defRPr sz="2000" b="0">
                <a:solidFill>
                  <a:srgbClr val="5B6870"/>
                </a:solidFill>
                <a:latin typeface="Segoe UI"/>
              </a:defRPr>
            </a:pPr>
            <a:r>
              <a:t>Chưa có nhiều cột, màu, quoting ký tự điều khiển.</a:t>
            </a:r>
          </a:p>
        </p:txBody>
      </p:sp>
      <p:cxnSp>
        <p:nvCxnSpPr>
          <p:cNvPr id="10" name="Connector 9"/>
          <p:cNvCxnSpPr/>
          <p:nvPr/>
        </p:nvCxnSpPr>
        <p:spPr>
          <a:xfrm>
            <a:off x="3108960" y="2980944"/>
            <a:ext cx="8247888" cy="0"/>
          </a:xfrm>
          <a:prstGeom prst="line">
            <a:avLst/>
          </a:prstGeom>
          <a:ln w="12700">
            <a:solidFill>
              <a:srgbClr val="D3D7D2"/>
            </a:solidFill>
          </a:ln>
        </p:spPr>
      </p:cxnSp>
      <p:sp>
        <p:nvSpPr>
          <p:cNvPr id="11" name="Rectangle 10"/>
          <p:cNvSpPr/>
          <p:nvPr/>
        </p:nvSpPr>
        <p:spPr>
          <a:xfrm>
            <a:off x="777240" y="3182111"/>
            <a:ext cx="64008" cy="932688"/>
          </a:xfrm>
          <a:prstGeom prst="rect">
            <a:avLst/>
          </a:prstGeom>
          <a:solidFill>
            <a:srgbClr val="5C7359"/>
          </a:solidFill>
          <a:ln>
            <a:noFill/>
          </a:ln>
        </p:spPr>
        <p:txBody>
          <a:bodyPr rtlCol="0" anchor="ctr"/>
          <a:lstStyle/>
          <a:p>
            <a:pPr algn="ctr"/>
          </a:p>
        </p:txBody>
      </p:sp>
      <p:sp>
        <p:nvSpPr>
          <p:cNvPr id="12" name="TextBox 11"/>
          <p:cNvSpPr txBox="1"/>
          <p:nvPr/>
        </p:nvSpPr>
        <p:spPr>
          <a:xfrm>
            <a:off x="1005840" y="3182111"/>
            <a:ext cx="1965960" cy="502920"/>
          </a:xfrm>
          <a:prstGeom prst="rect">
            <a:avLst/>
          </a:prstGeom>
          <a:noFill/>
        </p:spPr>
        <p:txBody>
          <a:bodyPr wrap="square" tIns="0" lIns="0" rIns="0" bIns="0">
            <a:spAutoFit/>
          </a:bodyPr>
          <a:lstStyle/>
          <a:p>
            <a:pPr>
              <a:lnSpc>
                <a:spcPct val="110000"/>
              </a:lnSpc>
              <a:spcAft>
                <a:spcPts val="0"/>
              </a:spcAft>
              <a:defRPr sz="2100" b="1">
                <a:solidFill>
                  <a:srgbClr val="5C7359"/>
                </a:solidFill>
                <a:latin typeface="Segoe UI"/>
              </a:defRPr>
            </a:pPr>
            <a:r>
              <a:t>METADATA</a:t>
            </a:r>
          </a:p>
        </p:txBody>
      </p:sp>
      <p:sp>
        <p:nvSpPr>
          <p:cNvPr id="13" name="TextBox 12"/>
          <p:cNvSpPr txBox="1"/>
          <p:nvPr/>
        </p:nvSpPr>
        <p:spPr>
          <a:xfrm>
            <a:off x="3108960" y="3182111"/>
            <a:ext cx="8156448" cy="548640"/>
          </a:xfrm>
          <a:prstGeom prst="rect">
            <a:avLst/>
          </a:prstGeom>
          <a:noFill/>
        </p:spPr>
        <p:txBody>
          <a:bodyPr wrap="square" tIns="0" lIns="0" rIns="0" bIns="0">
            <a:spAutoFit/>
          </a:bodyPr>
          <a:lstStyle/>
          <a:p>
            <a:pPr>
              <a:lnSpc>
                <a:spcPct val="110000"/>
              </a:lnSpc>
              <a:spcAft>
                <a:spcPts val="0"/>
              </a:spcAft>
              <a:defRPr sz="2200" b="1">
                <a:solidFill>
                  <a:srgbClr val="364653"/>
                </a:solidFill>
                <a:latin typeface="Segoe UI"/>
              </a:defRPr>
            </a:pPr>
            <a:r>
              <a:t>Quyền Unix, link, device, size, time và total.</a:t>
            </a:r>
          </a:p>
        </p:txBody>
      </p:sp>
      <p:sp>
        <p:nvSpPr>
          <p:cNvPr id="14" name="TextBox 13"/>
          <p:cNvSpPr txBox="1"/>
          <p:nvPr/>
        </p:nvSpPr>
        <p:spPr>
          <a:xfrm>
            <a:off x="3108960" y="3776472"/>
            <a:ext cx="8156448" cy="594360"/>
          </a:xfrm>
          <a:prstGeom prst="rect">
            <a:avLst/>
          </a:prstGeom>
          <a:noFill/>
        </p:spPr>
        <p:txBody>
          <a:bodyPr wrap="square" tIns="0" lIns="0" rIns="0" bIns="0">
            <a:spAutoFit/>
          </a:bodyPr>
          <a:lstStyle/>
          <a:p>
            <a:pPr>
              <a:lnSpc>
                <a:spcPct val="110000"/>
              </a:lnSpc>
              <a:spcAft>
                <a:spcPts val="0"/>
              </a:spcAft>
              <a:defRPr sz="2000" b="0">
                <a:solidFill>
                  <a:srgbClr val="5B6870"/>
                </a:solidFill>
                <a:latin typeface="Segoe UI"/>
              </a:defRPr>
            </a:pPr>
            <a:r>
              <a:t>Chưa có ACL/SELinux; phụ thuộc metadata filesystem.</a:t>
            </a:r>
          </a:p>
        </p:txBody>
      </p:sp>
      <p:cxnSp>
        <p:nvCxnSpPr>
          <p:cNvPr id="15" name="Connector 14"/>
          <p:cNvCxnSpPr/>
          <p:nvPr/>
        </p:nvCxnSpPr>
        <p:spPr>
          <a:xfrm>
            <a:off x="3108960" y="4288536"/>
            <a:ext cx="8247888" cy="0"/>
          </a:xfrm>
          <a:prstGeom prst="line">
            <a:avLst/>
          </a:prstGeom>
          <a:ln w="12700">
            <a:solidFill>
              <a:srgbClr val="D3D7D2"/>
            </a:solidFill>
          </a:ln>
        </p:spPr>
      </p:cxnSp>
      <p:sp>
        <p:nvSpPr>
          <p:cNvPr id="16" name="Rectangle 15"/>
          <p:cNvSpPr/>
          <p:nvPr/>
        </p:nvSpPr>
        <p:spPr>
          <a:xfrm>
            <a:off x="777240" y="4489704"/>
            <a:ext cx="64008" cy="932688"/>
          </a:xfrm>
          <a:prstGeom prst="rect">
            <a:avLst/>
          </a:prstGeom>
          <a:solidFill>
            <a:srgbClr val="9B624B"/>
          </a:solidFill>
          <a:ln>
            <a:noFill/>
          </a:ln>
        </p:spPr>
        <p:txBody>
          <a:bodyPr rtlCol="0" anchor="ctr"/>
          <a:lstStyle/>
          <a:p>
            <a:pPr algn="ctr"/>
          </a:p>
        </p:txBody>
      </p:sp>
      <p:sp>
        <p:nvSpPr>
          <p:cNvPr id="17" name="TextBox 16"/>
          <p:cNvSpPr txBox="1"/>
          <p:nvPr/>
        </p:nvSpPr>
        <p:spPr>
          <a:xfrm>
            <a:off x="1005840" y="4489704"/>
            <a:ext cx="1965960" cy="502920"/>
          </a:xfrm>
          <a:prstGeom prst="rect">
            <a:avLst/>
          </a:prstGeom>
          <a:noFill/>
        </p:spPr>
        <p:txBody>
          <a:bodyPr wrap="square" tIns="0" lIns="0" rIns="0" bIns="0">
            <a:spAutoFit/>
          </a:bodyPr>
          <a:lstStyle/>
          <a:p>
            <a:pPr>
              <a:lnSpc>
                <a:spcPct val="110000"/>
              </a:lnSpc>
              <a:spcAft>
                <a:spcPts val="0"/>
              </a:spcAft>
              <a:defRPr sz="2100" b="1">
                <a:solidFill>
                  <a:srgbClr val="9B624B"/>
                </a:solidFill>
                <a:latin typeface="Segoe UI"/>
              </a:defRPr>
            </a:pPr>
            <a:r>
              <a:t>DUYỆT CÂY</a:t>
            </a:r>
          </a:p>
        </p:txBody>
      </p:sp>
      <p:sp>
        <p:nvSpPr>
          <p:cNvPr id="18" name="TextBox 17"/>
          <p:cNvSpPr txBox="1"/>
          <p:nvPr/>
        </p:nvSpPr>
        <p:spPr>
          <a:xfrm>
            <a:off x="3108960" y="4489704"/>
            <a:ext cx="8156448" cy="548640"/>
          </a:xfrm>
          <a:prstGeom prst="rect">
            <a:avLst/>
          </a:prstGeom>
          <a:noFill/>
        </p:spPr>
        <p:txBody>
          <a:bodyPr wrap="square" tIns="0" lIns="0" rIns="0" bIns="0">
            <a:spAutoFit/>
          </a:bodyPr>
          <a:lstStyle/>
          <a:p>
            <a:pPr>
              <a:lnSpc>
                <a:spcPct val="110000"/>
              </a:lnSpc>
              <a:spcAft>
                <a:spcPts val="0"/>
              </a:spcAft>
              <a:defRPr sz="2200" b="1">
                <a:solidFill>
                  <a:srgbClr val="364653"/>
                </a:solidFill>
                <a:latin typeface="Segoe UI"/>
              </a:defRPr>
            </a:pPr>
            <a:r>
              <a:t>Bỏ . / ..; không theo symlink khi đi xuống.</a:t>
            </a:r>
          </a:p>
        </p:txBody>
      </p:sp>
      <p:sp>
        <p:nvSpPr>
          <p:cNvPr id="19" name="TextBox 18"/>
          <p:cNvSpPr txBox="1"/>
          <p:nvPr/>
        </p:nvSpPr>
        <p:spPr>
          <a:xfrm>
            <a:off x="3108960" y="5084064"/>
            <a:ext cx="8156448" cy="594360"/>
          </a:xfrm>
          <a:prstGeom prst="rect">
            <a:avLst/>
          </a:prstGeom>
          <a:noFill/>
        </p:spPr>
        <p:txBody>
          <a:bodyPr wrap="square" tIns="0" lIns="0" rIns="0" bIns="0">
            <a:spAutoFit/>
          </a:bodyPr>
          <a:lstStyle/>
          <a:p>
            <a:pPr>
              <a:lnSpc>
                <a:spcPct val="110000"/>
              </a:lnSpc>
              <a:spcAft>
                <a:spcPts val="0"/>
              </a:spcAft>
              <a:defRPr sz="2000" b="0">
                <a:solidFill>
                  <a:srgbClr val="5B6870"/>
                </a:solidFill>
                <a:latin typeface="Segoe UI"/>
              </a:defRPr>
            </a:pPr>
            <a:r>
              <a:t>Chưa có tập tổ tiên (st_dev, st_ino) để chặn vòng bind mount.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2EEE4"/>
        </a:solidFill>
        <a:effectLst/>
      </p:bgPr>
    </p:bg>
    <p:spTree>
      <p:nvGrpSpPr>
        <p:cNvPr id="1" name=""/>
        <p:cNvGrpSpPr/>
        <p:nvPr/>
      </p:nvGrpSpPr>
      <p:grpSpPr/>
      <p:sp>
        <p:nvSpPr>
          <p:cNvPr id="2" name="TextBox 1"/>
          <p:cNvSpPr txBox="1"/>
          <p:nvPr/>
        </p:nvSpPr>
        <p:spPr>
          <a:xfrm>
            <a:off x="749808" y="429768"/>
            <a:ext cx="10698480" cy="594360"/>
          </a:xfrm>
          <a:prstGeom prst="rect">
            <a:avLst/>
          </a:prstGeom>
          <a:noFill/>
        </p:spPr>
        <p:txBody>
          <a:bodyPr wrap="square" tIns="0" lIns="0" rIns="0" bIns="0">
            <a:spAutoFit/>
          </a:bodyPr>
          <a:lstStyle/>
          <a:p>
            <a:pPr>
              <a:lnSpc>
                <a:spcPct val="110000"/>
              </a:lnSpc>
              <a:spcAft>
                <a:spcPts val="0"/>
              </a:spcAft>
              <a:defRPr sz="3000" b="1">
                <a:solidFill>
                  <a:srgbClr val="364653"/>
                </a:solidFill>
                <a:latin typeface="Segoe UI"/>
              </a:defRPr>
            </a:pPr>
            <a:r>
              <a:t>Từ một lệnh quen thuộc đến cơ chế hệ thống</a:t>
            </a:r>
          </a:p>
        </p:txBody>
      </p:sp>
      <p:cxnSp>
        <p:nvCxnSpPr>
          <p:cNvPr id="3" name="Connector 2"/>
          <p:cNvCxnSpPr/>
          <p:nvPr/>
        </p:nvCxnSpPr>
        <p:spPr>
          <a:xfrm>
            <a:off x="10762488" y="6537960"/>
            <a:ext cx="237744" cy="0"/>
          </a:xfrm>
          <a:prstGeom prst="line">
            <a:avLst/>
          </a:prstGeom>
          <a:ln w="12700">
            <a:solidFill>
              <a:srgbClr val="D3D7D2"/>
            </a:solidFill>
          </a:ln>
        </p:spPr>
      </p:cxnSp>
      <p:sp>
        <p:nvSpPr>
          <p:cNvPr id="4" name="TextBox 3"/>
          <p:cNvSpPr txBox="1"/>
          <p:nvPr/>
        </p:nvSpPr>
        <p:spPr>
          <a:xfrm>
            <a:off x="11082528" y="6419088"/>
            <a:ext cx="411480" cy="274320"/>
          </a:xfrm>
          <a:prstGeom prst="rect">
            <a:avLst/>
          </a:prstGeom>
          <a:noFill/>
        </p:spPr>
        <p:txBody>
          <a:bodyPr wrap="square" tIns="0" lIns="0" rIns="0" bIns="0">
            <a:spAutoFit/>
          </a:bodyPr>
          <a:lstStyle/>
          <a:p>
            <a:pPr algn="ctr">
              <a:lnSpc>
                <a:spcPct val="110000"/>
              </a:lnSpc>
              <a:spcAft>
                <a:spcPts val="0"/>
              </a:spcAft>
              <a:defRPr sz="1000" b="0">
                <a:solidFill>
                  <a:srgbClr val="5B6870"/>
                </a:solidFill>
                <a:latin typeface="Segoe UI"/>
              </a:defRPr>
            </a:pPr>
            <a:r>
              <a:t>16</a:t>
            </a:r>
          </a:p>
        </p:txBody>
      </p:sp>
      <p:sp>
        <p:nvSpPr>
          <p:cNvPr id="5" name="TextBox 4"/>
          <p:cNvSpPr txBox="1"/>
          <p:nvPr/>
        </p:nvSpPr>
        <p:spPr>
          <a:xfrm>
            <a:off x="777240" y="1581912"/>
            <a:ext cx="6583680" cy="1508760"/>
          </a:xfrm>
          <a:prstGeom prst="rect">
            <a:avLst/>
          </a:prstGeom>
          <a:noFill/>
        </p:spPr>
        <p:txBody>
          <a:bodyPr wrap="square" tIns="0" lIns="0" rIns="0" bIns="0">
            <a:spAutoFit/>
          </a:bodyPr>
          <a:lstStyle/>
          <a:p>
            <a:pPr>
              <a:lnSpc>
                <a:spcPct val="110000"/>
              </a:lnSpc>
              <a:spcAft>
                <a:spcPts val="300"/>
              </a:spcAft>
              <a:defRPr sz="4200" b="1">
                <a:solidFill>
                  <a:srgbClr val="364653"/>
                </a:solidFill>
                <a:latin typeface="Segoe UI"/>
              </a:defRPr>
            </a:pPr>
            <a:r>
              <a:t>Đọc đúng. In đúng.</a:t>
            </a:r>
          </a:p>
          <a:p>
            <a:pPr>
              <a:lnSpc>
                <a:spcPct val="110000"/>
              </a:lnSpc>
              <a:spcAft>
                <a:spcPts val="0"/>
              </a:spcAft>
              <a:defRPr sz="4200" b="1">
                <a:solidFill>
                  <a:srgbClr val="364653"/>
                </a:solidFill>
                <a:latin typeface="Segoe UI"/>
              </a:defRPr>
            </a:pPr>
            <a:r>
              <a:t>Giải phóng đúng.</a:t>
            </a:r>
          </a:p>
        </p:txBody>
      </p:sp>
      <p:pic>
        <p:nvPicPr>
          <p:cNvPr id="6" name="Illustration: closing_archive" descr="Minh họa tạo bằng imagegen: Tập hồ sơ, sách và kính lúp kết lại việc tìm hiểu và kiểm chứng chương trình. Không phải ảnh chụp hay dữ liệu thực nghiệm."/>
          <p:cNvPicPr>
            <a:picLocks noChangeAspect="1"/>
          </p:cNvPicPr>
          <p:nvPr/>
        </p:nvPicPr>
        <p:blipFill>
          <a:blip r:embed="rId2"/>
          <a:stretch>
            <a:fillRect/>
          </a:stretch>
        </p:blipFill>
        <p:spPr>
          <a:xfrm>
            <a:off x="7178040" y="2326005"/>
            <a:ext cx="4343400" cy="3257550"/>
          </a:xfrm>
          <a:prstGeom prst="rect">
            <a:avLst/>
          </a:prstGeom>
        </p:spPr>
      </p:pic>
      <p:cxnSp>
        <p:nvCxnSpPr>
          <p:cNvPr id="7" name="Connector 6"/>
          <p:cNvCxnSpPr/>
          <p:nvPr/>
        </p:nvCxnSpPr>
        <p:spPr>
          <a:xfrm>
            <a:off x="777240" y="3319272"/>
            <a:ext cx="6245352" cy="0"/>
          </a:xfrm>
          <a:prstGeom prst="line">
            <a:avLst/>
          </a:prstGeom>
          <a:ln w="12700">
            <a:solidFill>
              <a:srgbClr val="D3D7D2"/>
            </a:solidFill>
          </a:ln>
        </p:spPr>
      </p:cxnSp>
      <p:sp>
        <p:nvSpPr>
          <p:cNvPr id="8" name="TextBox 7"/>
          <p:cNvSpPr txBox="1"/>
          <p:nvPr/>
        </p:nvSpPr>
        <p:spPr>
          <a:xfrm>
            <a:off x="777240" y="3429000"/>
            <a:ext cx="2011680" cy="457200"/>
          </a:xfrm>
          <a:prstGeom prst="rect">
            <a:avLst/>
          </a:prstGeom>
          <a:noFill/>
        </p:spPr>
        <p:txBody>
          <a:bodyPr wrap="square" tIns="0" lIns="0" rIns="0" bIns="0">
            <a:spAutoFit/>
          </a:bodyPr>
          <a:lstStyle/>
          <a:p>
            <a:pPr>
              <a:lnSpc>
                <a:spcPct val="110000"/>
              </a:lnSpc>
              <a:spcAft>
                <a:spcPts val="0"/>
              </a:spcAft>
              <a:defRPr sz="1800" b="1">
                <a:solidFill>
                  <a:srgbClr val="456B88"/>
                </a:solidFill>
                <a:latin typeface="Segoe UI"/>
              </a:defRPr>
            </a:pPr>
            <a:r>
              <a:t>HÀNH VI</a:t>
            </a:r>
          </a:p>
        </p:txBody>
      </p:sp>
      <p:sp>
        <p:nvSpPr>
          <p:cNvPr id="9" name="TextBox 8"/>
          <p:cNvSpPr txBox="1"/>
          <p:nvPr/>
        </p:nvSpPr>
        <p:spPr>
          <a:xfrm>
            <a:off x="2834640" y="3429000"/>
            <a:ext cx="4206240" cy="658368"/>
          </a:xfrm>
          <a:prstGeom prst="rect">
            <a:avLst/>
          </a:prstGeom>
          <a:noFill/>
        </p:spPr>
        <p:txBody>
          <a:bodyPr wrap="square" tIns="0" lIns="0" rIns="0" bIns="0">
            <a:spAutoFit/>
          </a:bodyPr>
          <a:lstStyle/>
          <a:p>
            <a:pPr>
              <a:lnSpc>
                <a:spcPct val="110000"/>
              </a:lnSpc>
              <a:spcAft>
                <a:spcPts val="0"/>
              </a:spcAft>
              <a:defRPr sz="2100" b="0">
                <a:solidFill>
                  <a:srgbClr val="364653"/>
                </a:solidFill>
                <a:latin typeface="Segoe UI"/>
              </a:defRPr>
            </a:pPr>
            <a:r>
              <a:t>4 cờ, 16 tổ hợp, cả ca lỗi</a:t>
            </a:r>
          </a:p>
        </p:txBody>
      </p:sp>
      <p:cxnSp>
        <p:nvCxnSpPr>
          <p:cNvPr id="10" name="Connector 9"/>
          <p:cNvCxnSpPr/>
          <p:nvPr/>
        </p:nvCxnSpPr>
        <p:spPr>
          <a:xfrm>
            <a:off x="777240" y="4105656"/>
            <a:ext cx="6245352" cy="0"/>
          </a:xfrm>
          <a:prstGeom prst="line">
            <a:avLst/>
          </a:prstGeom>
          <a:ln w="12700">
            <a:solidFill>
              <a:srgbClr val="D3D7D2"/>
            </a:solidFill>
          </a:ln>
        </p:spPr>
      </p:cxnSp>
      <p:sp>
        <p:nvSpPr>
          <p:cNvPr id="11" name="TextBox 10"/>
          <p:cNvSpPr txBox="1"/>
          <p:nvPr/>
        </p:nvSpPr>
        <p:spPr>
          <a:xfrm>
            <a:off x="777240" y="4215384"/>
            <a:ext cx="2011680" cy="457200"/>
          </a:xfrm>
          <a:prstGeom prst="rect">
            <a:avLst/>
          </a:prstGeom>
          <a:noFill/>
        </p:spPr>
        <p:txBody>
          <a:bodyPr wrap="square" tIns="0" lIns="0" rIns="0" bIns="0">
            <a:spAutoFit/>
          </a:bodyPr>
          <a:lstStyle/>
          <a:p>
            <a:pPr>
              <a:lnSpc>
                <a:spcPct val="110000"/>
              </a:lnSpc>
              <a:spcAft>
                <a:spcPts val="0"/>
              </a:spcAft>
              <a:defRPr sz="1800" b="1">
                <a:solidFill>
                  <a:srgbClr val="5C7359"/>
                </a:solidFill>
                <a:latin typeface="Segoe UI"/>
              </a:defRPr>
            </a:pPr>
            <a:r>
              <a:t>CƠ CHẾ</a:t>
            </a:r>
          </a:p>
        </p:txBody>
      </p:sp>
      <p:sp>
        <p:nvSpPr>
          <p:cNvPr id="12" name="TextBox 11"/>
          <p:cNvSpPr txBox="1"/>
          <p:nvPr/>
        </p:nvSpPr>
        <p:spPr>
          <a:xfrm>
            <a:off x="2834640" y="4215384"/>
            <a:ext cx="4206240" cy="658368"/>
          </a:xfrm>
          <a:prstGeom prst="rect">
            <a:avLst/>
          </a:prstGeom>
          <a:noFill/>
        </p:spPr>
        <p:txBody>
          <a:bodyPr wrap="square" tIns="0" lIns="0" rIns="0" bIns="0">
            <a:spAutoFit/>
          </a:bodyPr>
          <a:lstStyle/>
          <a:p>
            <a:pPr>
              <a:lnSpc>
                <a:spcPct val="110000"/>
              </a:lnSpc>
              <a:spcAft>
                <a:spcPts val="0"/>
              </a:spcAft>
              <a:defRPr sz="2100" b="0">
                <a:solidFill>
                  <a:srgbClr val="364653"/>
                </a:solidFill>
                <a:latin typeface="Segoe UI"/>
              </a:defRPr>
            </a:pPr>
            <a:r>
              <a:t>dirent · stat · heap · descriptor</a:t>
            </a:r>
          </a:p>
        </p:txBody>
      </p:sp>
      <p:cxnSp>
        <p:nvCxnSpPr>
          <p:cNvPr id="13" name="Connector 12"/>
          <p:cNvCxnSpPr/>
          <p:nvPr/>
        </p:nvCxnSpPr>
        <p:spPr>
          <a:xfrm>
            <a:off x="777240" y="4892040"/>
            <a:ext cx="6245352" cy="0"/>
          </a:xfrm>
          <a:prstGeom prst="line">
            <a:avLst/>
          </a:prstGeom>
          <a:ln w="12700">
            <a:solidFill>
              <a:srgbClr val="D3D7D2"/>
            </a:solidFill>
          </a:ln>
        </p:spPr>
      </p:cxnSp>
      <p:sp>
        <p:nvSpPr>
          <p:cNvPr id="14" name="TextBox 13"/>
          <p:cNvSpPr txBox="1"/>
          <p:nvPr/>
        </p:nvSpPr>
        <p:spPr>
          <a:xfrm>
            <a:off x="777240" y="5001768"/>
            <a:ext cx="2011680" cy="457200"/>
          </a:xfrm>
          <a:prstGeom prst="rect">
            <a:avLst/>
          </a:prstGeom>
          <a:noFill/>
        </p:spPr>
        <p:txBody>
          <a:bodyPr wrap="square" tIns="0" lIns="0" rIns="0" bIns="0">
            <a:spAutoFit/>
          </a:bodyPr>
          <a:lstStyle/>
          <a:p>
            <a:pPr>
              <a:lnSpc>
                <a:spcPct val="110000"/>
              </a:lnSpc>
              <a:spcAft>
                <a:spcPts val="0"/>
              </a:spcAft>
              <a:defRPr sz="1800" b="1">
                <a:solidFill>
                  <a:srgbClr val="9B624B"/>
                </a:solidFill>
                <a:latin typeface="Segoe UI"/>
              </a:defRPr>
            </a:pPr>
            <a:r>
              <a:t>KIỂM CHỨNG</a:t>
            </a:r>
          </a:p>
        </p:txBody>
      </p:sp>
      <p:sp>
        <p:nvSpPr>
          <p:cNvPr id="15" name="TextBox 14"/>
          <p:cNvSpPr txBox="1"/>
          <p:nvPr/>
        </p:nvSpPr>
        <p:spPr>
          <a:xfrm>
            <a:off x="2834640" y="5001768"/>
            <a:ext cx="4206240" cy="658368"/>
          </a:xfrm>
          <a:prstGeom prst="rect">
            <a:avLst/>
          </a:prstGeom>
          <a:noFill/>
        </p:spPr>
        <p:txBody>
          <a:bodyPr wrap="square" tIns="0" lIns="0" rIns="0" bIns="0">
            <a:spAutoFit/>
          </a:bodyPr>
          <a:lstStyle/>
          <a:p>
            <a:pPr>
              <a:lnSpc>
                <a:spcPct val="110000"/>
              </a:lnSpc>
              <a:spcAft>
                <a:spcPts val="0"/>
              </a:spcAft>
              <a:defRPr sz="2100" b="0">
                <a:solidFill>
                  <a:srgbClr val="364653"/>
                </a:solidFill>
                <a:latin typeface="Segoe UI"/>
              </a:defRPr>
            </a:pPr>
            <a:r>
              <a:t>GNU ls + sanitizer + fault injection</a:t>
            </a:r>
          </a:p>
        </p:txBody>
      </p:sp>
      <p:sp>
        <p:nvSpPr>
          <p:cNvPr id="16" name="TextBox 15"/>
          <p:cNvSpPr txBox="1"/>
          <p:nvPr/>
        </p:nvSpPr>
        <p:spPr>
          <a:xfrm>
            <a:off x="777240" y="6071616"/>
            <a:ext cx="6400800" cy="365760"/>
          </a:xfrm>
          <a:prstGeom prst="rect">
            <a:avLst/>
          </a:prstGeom>
          <a:noFill/>
        </p:spPr>
        <p:txBody>
          <a:bodyPr wrap="square" tIns="0" lIns="0" rIns="0" bIns="0">
            <a:spAutoFit/>
          </a:bodyPr>
          <a:lstStyle/>
          <a:p>
            <a:pPr>
              <a:lnSpc>
                <a:spcPct val="110000"/>
              </a:lnSpc>
              <a:spcAft>
                <a:spcPts val="0"/>
              </a:spcAft>
              <a:defRPr sz="2200" b="0">
                <a:solidFill>
                  <a:srgbClr val="456B88"/>
                </a:solidFill>
                <a:latin typeface="Segoe UI"/>
              </a:defRPr>
            </a:pPr>
            <a:r>
              <a:t>Trao đổi &amp; câu hỏi</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TextBox 1"/>
          <p:cNvSpPr txBox="1"/>
          <p:nvPr/>
        </p:nvSpPr>
        <p:spPr>
          <a:xfrm>
            <a:off x="749808" y="429768"/>
            <a:ext cx="10698480" cy="594360"/>
          </a:xfrm>
          <a:prstGeom prst="rect">
            <a:avLst/>
          </a:prstGeom>
          <a:noFill/>
        </p:spPr>
        <p:txBody>
          <a:bodyPr wrap="square" tIns="0" lIns="0" rIns="0" bIns="0">
            <a:spAutoFit/>
          </a:bodyPr>
          <a:lstStyle/>
          <a:p>
            <a:pPr>
              <a:lnSpc>
                <a:spcPct val="110000"/>
              </a:lnSpc>
              <a:spcAft>
                <a:spcPts val="0"/>
              </a:spcAft>
              <a:defRPr sz="3000" b="1">
                <a:solidFill>
                  <a:srgbClr val="364653"/>
                </a:solidFill>
                <a:latin typeface="Segoe UI"/>
              </a:defRPr>
            </a:pPr>
            <a:r>
              <a:t>Quyền đặc biệt thay ký tự execute thế nào?</a:t>
            </a:r>
          </a:p>
        </p:txBody>
      </p:sp>
      <p:sp>
        <p:nvSpPr>
          <p:cNvPr id="3" name="TextBox 2"/>
          <p:cNvSpPr txBox="1"/>
          <p:nvPr/>
        </p:nvSpPr>
        <p:spPr>
          <a:xfrm>
            <a:off x="777240" y="1133856"/>
            <a:ext cx="10607040" cy="502920"/>
          </a:xfrm>
          <a:prstGeom prst="rect">
            <a:avLst/>
          </a:prstGeom>
          <a:noFill/>
        </p:spPr>
        <p:txBody>
          <a:bodyPr wrap="square" tIns="0" lIns="0" rIns="0" bIns="0">
            <a:spAutoFit/>
          </a:bodyPr>
          <a:lstStyle/>
          <a:p>
            <a:pPr>
              <a:lnSpc>
                <a:spcPct val="110000"/>
              </a:lnSpc>
              <a:spcAft>
                <a:spcPts val="0"/>
              </a:spcAft>
              <a:defRPr sz="1800" b="0">
                <a:solidFill>
                  <a:srgbClr val="5B6870"/>
                </a:solidFill>
                <a:latin typeface="Segoe UI"/>
              </a:defRPr>
            </a:pPr>
            <a:r>
              <a:t>Tệp mẫu main.c được chmod 4755 trong demo.</a:t>
            </a:r>
          </a:p>
        </p:txBody>
      </p:sp>
      <p:cxnSp>
        <p:nvCxnSpPr>
          <p:cNvPr id="4" name="Connector 3"/>
          <p:cNvCxnSpPr/>
          <p:nvPr/>
        </p:nvCxnSpPr>
        <p:spPr>
          <a:xfrm>
            <a:off x="10762488" y="6537960"/>
            <a:ext cx="237744" cy="0"/>
          </a:xfrm>
          <a:prstGeom prst="line">
            <a:avLst/>
          </a:prstGeom>
          <a:ln w="12700">
            <a:solidFill>
              <a:srgbClr val="D3D7D2"/>
            </a:solidFill>
          </a:ln>
        </p:spPr>
      </p:cxnSp>
      <p:sp>
        <p:nvSpPr>
          <p:cNvPr id="5" name="TextBox 4"/>
          <p:cNvSpPr txBox="1"/>
          <p:nvPr/>
        </p:nvSpPr>
        <p:spPr>
          <a:xfrm>
            <a:off x="11082528" y="6419088"/>
            <a:ext cx="411480" cy="274320"/>
          </a:xfrm>
          <a:prstGeom prst="rect">
            <a:avLst/>
          </a:prstGeom>
          <a:noFill/>
        </p:spPr>
        <p:txBody>
          <a:bodyPr wrap="square" tIns="0" lIns="0" rIns="0" bIns="0">
            <a:spAutoFit/>
          </a:bodyPr>
          <a:lstStyle/>
          <a:p>
            <a:pPr algn="ctr">
              <a:lnSpc>
                <a:spcPct val="110000"/>
              </a:lnSpc>
              <a:spcAft>
                <a:spcPts val="0"/>
              </a:spcAft>
              <a:defRPr sz="1000" b="0">
                <a:solidFill>
                  <a:srgbClr val="5B6870"/>
                </a:solidFill>
                <a:latin typeface="Segoe UI"/>
              </a:defRPr>
            </a:pPr>
            <a:r>
              <a:t>17</a:t>
            </a:r>
          </a:p>
        </p:txBody>
      </p:sp>
      <p:sp>
        <p:nvSpPr>
          <p:cNvPr id="6" name="Rectangle 5"/>
          <p:cNvSpPr/>
          <p:nvPr/>
        </p:nvSpPr>
        <p:spPr>
          <a:xfrm>
            <a:off x="777240" y="1920240"/>
            <a:ext cx="3337560" cy="640080"/>
          </a:xfrm>
          <a:prstGeom prst="rect">
            <a:avLst/>
          </a:prstGeom>
          <a:solidFill>
            <a:srgbClr val="E6EDF1"/>
          </a:solidFill>
          <a:ln>
            <a:noFill/>
          </a:ln>
        </p:spPr>
        <p:txBody>
          <a:bodyPr rtlCol="0" anchor="ctr"/>
          <a:lstStyle/>
          <a:p>
            <a:pPr algn="ctr"/>
          </a:p>
        </p:txBody>
      </p:sp>
      <p:sp>
        <p:nvSpPr>
          <p:cNvPr id="7" name="TextBox 6"/>
          <p:cNvSpPr txBox="1"/>
          <p:nvPr/>
        </p:nvSpPr>
        <p:spPr>
          <a:xfrm>
            <a:off x="941832" y="2084832"/>
            <a:ext cx="3008376" cy="384048"/>
          </a:xfrm>
          <a:prstGeom prst="rect">
            <a:avLst/>
          </a:prstGeom>
          <a:noFill/>
        </p:spPr>
        <p:txBody>
          <a:bodyPr wrap="square" tIns="0" lIns="0" rIns="0" bIns="0">
            <a:spAutoFit/>
          </a:bodyPr>
          <a:lstStyle/>
          <a:p>
            <a:pPr>
              <a:lnSpc>
                <a:spcPct val="110000"/>
              </a:lnSpc>
              <a:spcAft>
                <a:spcPts val="0"/>
              </a:spcAft>
              <a:defRPr sz="2100" b="1">
                <a:solidFill>
                  <a:srgbClr val="364653"/>
                </a:solidFill>
                <a:latin typeface="Segoe UI"/>
              </a:defRPr>
            </a:pPr>
            <a:r>
              <a:t>Bit đặc biệt</a:t>
            </a:r>
          </a:p>
        </p:txBody>
      </p:sp>
      <p:sp>
        <p:nvSpPr>
          <p:cNvPr id="8" name="Rectangle 7"/>
          <p:cNvSpPr/>
          <p:nvPr/>
        </p:nvSpPr>
        <p:spPr>
          <a:xfrm>
            <a:off x="777240" y="2560320"/>
            <a:ext cx="3337560" cy="822960"/>
          </a:xfrm>
          <a:prstGeom prst="rect">
            <a:avLst/>
          </a:prstGeom>
          <a:solidFill>
            <a:srgbClr val="FFFDFA"/>
          </a:solidFill>
          <a:ln>
            <a:noFill/>
          </a:ln>
        </p:spPr>
        <p:txBody>
          <a:bodyPr rtlCol="0" anchor="ctr"/>
          <a:lstStyle/>
          <a:p>
            <a:pPr algn="ctr"/>
          </a:p>
        </p:txBody>
      </p:sp>
      <p:sp>
        <p:nvSpPr>
          <p:cNvPr id="9" name="TextBox 8"/>
          <p:cNvSpPr txBox="1"/>
          <p:nvPr/>
        </p:nvSpPr>
        <p:spPr>
          <a:xfrm>
            <a:off x="905256" y="2761488"/>
            <a:ext cx="3081528" cy="594360"/>
          </a:xfrm>
          <a:prstGeom prst="rect">
            <a:avLst/>
          </a:prstGeom>
          <a:noFill/>
        </p:spPr>
        <p:txBody>
          <a:bodyPr wrap="square" tIns="0" lIns="0" rIns="0" bIns="0">
            <a:spAutoFit/>
          </a:bodyPr>
          <a:lstStyle/>
          <a:p>
            <a:pPr>
              <a:lnSpc>
                <a:spcPct val="110000"/>
              </a:lnSpc>
              <a:spcAft>
                <a:spcPts val="0"/>
              </a:spcAft>
              <a:defRPr sz="2100" b="0">
                <a:solidFill>
                  <a:srgbClr val="364653"/>
                </a:solidFill>
                <a:latin typeface="Segoe UI"/>
              </a:defRPr>
            </a:pPr>
            <a:r>
              <a:t>SUID</a:t>
            </a:r>
          </a:p>
        </p:txBody>
      </p:sp>
      <p:sp>
        <p:nvSpPr>
          <p:cNvPr id="10" name="Rectangle 9"/>
          <p:cNvSpPr/>
          <p:nvPr/>
        </p:nvSpPr>
        <p:spPr>
          <a:xfrm>
            <a:off x="777240" y="3383279"/>
            <a:ext cx="3337560" cy="822960"/>
          </a:xfrm>
          <a:prstGeom prst="rect">
            <a:avLst/>
          </a:prstGeom>
          <a:solidFill>
            <a:srgbClr val="E7EDE1"/>
          </a:solidFill>
          <a:ln>
            <a:noFill/>
          </a:ln>
        </p:spPr>
        <p:txBody>
          <a:bodyPr rtlCol="0" anchor="ctr"/>
          <a:lstStyle/>
          <a:p>
            <a:pPr algn="ctr"/>
          </a:p>
        </p:txBody>
      </p:sp>
      <p:sp>
        <p:nvSpPr>
          <p:cNvPr id="11" name="TextBox 10"/>
          <p:cNvSpPr txBox="1"/>
          <p:nvPr/>
        </p:nvSpPr>
        <p:spPr>
          <a:xfrm>
            <a:off x="905256" y="3584448"/>
            <a:ext cx="3081528" cy="594360"/>
          </a:xfrm>
          <a:prstGeom prst="rect">
            <a:avLst/>
          </a:prstGeom>
          <a:noFill/>
        </p:spPr>
        <p:txBody>
          <a:bodyPr wrap="square" tIns="0" lIns="0" rIns="0" bIns="0">
            <a:spAutoFit/>
          </a:bodyPr>
          <a:lstStyle/>
          <a:p>
            <a:pPr>
              <a:lnSpc>
                <a:spcPct val="110000"/>
              </a:lnSpc>
              <a:spcAft>
                <a:spcPts val="0"/>
              </a:spcAft>
              <a:defRPr sz="2100" b="0">
                <a:solidFill>
                  <a:srgbClr val="364653"/>
                </a:solidFill>
                <a:latin typeface="Segoe UI"/>
              </a:defRPr>
            </a:pPr>
            <a:r>
              <a:t>SGID</a:t>
            </a:r>
          </a:p>
        </p:txBody>
      </p:sp>
      <p:sp>
        <p:nvSpPr>
          <p:cNvPr id="12" name="Rectangle 11"/>
          <p:cNvSpPr/>
          <p:nvPr/>
        </p:nvSpPr>
        <p:spPr>
          <a:xfrm>
            <a:off x="777240" y="4206240"/>
            <a:ext cx="3337560" cy="822960"/>
          </a:xfrm>
          <a:prstGeom prst="rect">
            <a:avLst/>
          </a:prstGeom>
          <a:solidFill>
            <a:srgbClr val="FFFDFA"/>
          </a:solidFill>
          <a:ln>
            <a:noFill/>
          </a:ln>
        </p:spPr>
        <p:txBody>
          <a:bodyPr rtlCol="0" anchor="ctr"/>
          <a:lstStyle/>
          <a:p>
            <a:pPr algn="ctr"/>
          </a:p>
        </p:txBody>
      </p:sp>
      <p:sp>
        <p:nvSpPr>
          <p:cNvPr id="13" name="TextBox 12"/>
          <p:cNvSpPr txBox="1"/>
          <p:nvPr/>
        </p:nvSpPr>
        <p:spPr>
          <a:xfrm>
            <a:off x="905256" y="4407407"/>
            <a:ext cx="3081528" cy="594360"/>
          </a:xfrm>
          <a:prstGeom prst="rect">
            <a:avLst/>
          </a:prstGeom>
          <a:noFill/>
        </p:spPr>
        <p:txBody>
          <a:bodyPr wrap="square" tIns="0" lIns="0" rIns="0" bIns="0">
            <a:spAutoFit/>
          </a:bodyPr>
          <a:lstStyle/>
          <a:p>
            <a:pPr>
              <a:lnSpc>
                <a:spcPct val="110000"/>
              </a:lnSpc>
              <a:spcAft>
                <a:spcPts val="0"/>
              </a:spcAft>
              <a:defRPr sz="2100" b="0">
                <a:solidFill>
                  <a:srgbClr val="364653"/>
                </a:solidFill>
                <a:latin typeface="Segoe UI"/>
              </a:defRPr>
            </a:pPr>
            <a:r>
              <a:t>Sticky</a:t>
            </a:r>
          </a:p>
        </p:txBody>
      </p:sp>
      <p:sp>
        <p:nvSpPr>
          <p:cNvPr id="14" name="Rectangle 13"/>
          <p:cNvSpPr/>
          <p:nvPr/>
        </p:nvSpPr>
        <p:spPr>
          <a:xfrm>
            <a:off x="4114800" y="1920240"/>
            <a:ext cx="2286000" cy="640080"/>
          </a:xfrm>
          <a:prstGeom prst="rect">
            <a:avLst/>
          </a:prstGeom>
          <a:solidFill>
            <a:srgbClr val="E6EDF1"/>
          </a:solidFill>
          <a:ln>
            <a:noFill/>
          </a:ln>
        </p:spPr>
        <p:txBody>
          <a:bodyPr rtlCol="0" anchor="ctr"/>
          <a:lstStyle/>
          <a:p>
            <a:pPr algn="ctr"/>
          </a:p>
        </p:txBody>
      </p:sp>
      <p:sp>
        <p:nvSpPr>
          <p:cNvPr id="15" name="TextBox 14"/>
          <p:cNvSpPr txBox="1"/>
          <p:nvPr/>
        </p:nvSpPr>
        <p:spPr>
          <a:xfrm>
            <a:off x="4279392" y="2084832"/>
            <a:ext cx="1956816" cy="384048"/>
          </a:xfrm>
          <a:prstGeom prst="rect">
            <a:avLst/>
          </a:prstGeom>
          <a:noFill/>
        </p:spPr>
        <p:txBody>
          <a:bodyPr wrap="square" tIns="0" lIns="0" rIns="0" bIns="0">
            <a:spAutoFit/>
          </a:bodyPr>
          <a:lstStyle/>
          <a:p>
            <a:pPr>
              <a:lnSpc>
                <a:spcPct val="110000"/>
              </a:lnSpc>
              <a:spcAft>
                <a:spcPts val="0"/>
              </a:spcAft>
              <a:defRPr sz="2100" b="1">
                <a:solidFill>
                  <a:srgbClr val="364653"/>
                </a:solidFill>
                <a:latin typeface="Segoe UI"/>
              </a:defRPr>
            </a:pPr>
            <a:r>
              <a:t>Vị trí</a:t>
            </a:r>
          </a:p>
        </p:txBody>
      </p:sp>
      <p:sp>
        <p:nvSpPr>
          <p:cNvPr id="16" name="Rectangle 15"/>
          <p:cNvSpPr/>
          <p:nvPr/>
        </p:nvSpPr>
        <p:spPr>
          <a:xfrm>
            <a:off x="4114800" y="2560320"/>
            <a:ext cx="2286000" cy="822960"/>
          </a:xfrm>
          <a:prstGeom prst="rect">
            <a:avLst/>
          </a:prstGeom>
          <a:solidFill>
            <a:srgbClr val="FFFDFA"/>
          </a:solidFill>
          <a:ln>
            <a:noFill/>
          </a:ln>
        </p:spPr>
        <p:txBody>
          <a:bodyPr rtlCol="0" anchor="ctr"/>
          <a:lstStyle/>
          <a:p>
            <a:pPr algn="ctr"/>
          </a:p>
        </p:txBody>
      </p:sp>
      <p:sp>
        <p:nvSpPr>
          <p:cNvPr id="17" name="TextBox 16"/>
          <p:cNvSpPr txBox="1"/>
          <p:nvPr/>
        </p:nvSpPr>
        <p:spPr>
          <a:xfrm>
            <a:off x="4242816" y="2761488"/>
            <a:ext cx="2029967" cy="594360"/>
          </a:xfrm>
          <a:prstGeom prst="rect">
            <a:avLst/>
          </a:prstGeom>
          <a:noFill/>
        </p:spPr>
        <p:txBody>
          <a:bodyPr wrap="square" tIns="0" lIns="0" rIns="0" bIns="0">
            <a:spAutoFit/>
          </a:bodyPr>
          <a:lstStyle/>
          <a:p>
            <a:pPr>
              <a:lnSpc>
                <a:spcPct val="110000"/>
              </a:lnSpc>
              <a:spcAft>
                <a:spcPts val="0"/>
              </a:spcAft>
              <a:defRPr sz="2100" b="0">
                <a:solidFill>
                  <a:srgbClr val="364653"/>
                </a:solidFill>
                <a:latin typeface="Segoe UI"/>
              </a:defRPr>
            </a:pPr>
            <a:r>
              <a:t>owner</a:t>
            </a:r>
          </a:p>
        </p:txBody>
      </p:sp>
      <p:sp>
        <p:nvSpPr>
          <p:cNvPr id="18" name="Rectangle 17"/>
          <p:cNvSpPr/>
          <p:nvPr/>
        </p:nvSpPr>
        <p:spPr>
          <a:xfrm>
            <a:off x="4114800" y="3383279"/>
            <a:ext cx="2286000" cy="822960"/>
          </a:xfrm>
          <a:prstGeom prst="rect">
            <a:avLst/>
          </a:prstGeom>
          <a:solidFill>
            <a:srgbClr val="E7EDE1"/>
          </a:solidFill>
          <a:ln>
            <a:noFill/>
          </a:ln>
        </p:spPr>
        <p:txBody>
          <a:bodyPr rtlCol="0" anchor="ctr"/>
          <a:lstStyle/>
          <a:p>
            <a:pPr algn="ctr"/>
          </a:p>
        </p:txBody>
      </p:sp>
      <p:sp>
        <p:nvSpPr>
          <p:cNvPr id="19" name="TextBox 18"/>
          <p:cNvSpPr txBox="1"/>
          <p:nvPr/>
        </p:nvSpPr>
        <p:spPr>
          <a:xfrm>
            <a:off x="4242816" y="3584448"/>
            <a:ext cx="2029967" cy="594360"/>
          </a:xfrm>
          <a:prstGeom prst="rect">
            <a:avLst/>
          </a:prstGeom>
          <a:noFill/>
        </p:spPr>
        <p:txBody>
          <a:bodyPr wrap="square" tIns="0" lIns="0" rIns="0" bIns="0">
            <a:spAutoFit/>
          </a:bodyPr>
          <a:lstStyle/>
          <a:p>
            <a:pPr>
              <a:lnSpc>
                <a:spcPct val="110000"/>
              </a:lnSpc>
              <a:spcAft>
                <a:spcPts val="0"/>
              </a:spcAft>
              <a:defRPr sz="2100" b="0">
                <a:solidFill>
                  <a:srgbClr val="364653"/>
                </a:solidFill>
                <a:latin typeface="Segoe UI"/>
              </a:defRPr>
            </a:pPr>
            <a:r>
              <a:t>group</a:t>
            </a:r>
          </a:p>
        </p:txBody>
      </p:sp>
      <p:sp>
        <p:nvSpPr>
          <p:cNvPr id="20" name="Rectangle 19"/>
          <p:cNvSpPr/>
          <p:nvPr/>
        </p:nvSpPr>
        <p:spPr>
          <a:xfrm>
            <a:off x="4114800" y="4206240"/>
            <a:ext cx="2286000" cy="822960"/>
          </a:xfrm>
          <a:prstGeom prst="rect">
            <a:avLst/>
          </a:prstGeom>
          <a:solidFill>
            <a:srgbClr val="FFFDFA"/>
          </a:solidFill>
          <a:ln>
            <a:noFill/>
          </a:ln>
        </p:spPr>
        <p:txBody>
          <a:bodyPr rtlCol="0" anchor="ctr"/>
          <a:lstStyle/>
          <a:p>
            <a:pPr algn="ctr"/>
          </a:p>
        </p:txBody>
      </p:sp>
      <p:sp>
        <p:nvSpPr>
          <p:cNvPr id="21" name="TextBox 20"/>
          <p:cNvSpPr txBox="1"/>
          <p:nvPr/>
        </p:nvSpPr>
        <p:spPr>
          <a:xfrm>
            <a:off x="4242816" y="4407407"/>
            <a:ext cx="2029967" cy="594360"/>
          </a:xfrm>
          <a:prstGeom prst="rect">
            <a:avLst/>
          </a:prstGeom>
          <a:noFill/>
        </p:spPr>
        <p:txBody>
          <a:bodyPr wrap="square" tIns="0" lIns="0" rIns="0" bIns="0">
            <a:spAutoFit/>
          </a:bodyPr>
          <a:lstStyle/>
          <a:p>
            <a:pPr>
              <a:lnSpc>
                <a:spcPct val="110000"/>
              </a:lnSpc>
              <a:spcAft>
                <a:spcPts val="0"/>
              </a:spcAft>
              <a:defRPr sz="2100" b="0">
                <a:solidFill>
                  <a:srgbClr val="364653"/>
                </a:solidFill>
                <a:latin typeface="Segoe UI"/>
              </a:defRPr>
            </a:pPr>
            <a:r>
              <a:t>other</a:t>
            </a:r>
          </a:p>
        </p:txBody>
      </p:sp>
      <p:sp>
        <p:nvSpPr>
          <p:cNvPr id="22" name="Rectangle 21"/>
          <p:cNvSpPr/>
          <p:nvPr/>
        </p:nvSpPr>
        <p:spPr>
          <a:xfrm>
            <a:off x="6400800" y="1920240"/>
            <a:ext cx="2286000" cy="640080"/>
          </a:xfrm>
          <a:prstGeom prst="rect">
            <a:avLst/>
          </a:prstGeom>
          <a:solidFill>
            <a:srgbClr val="E6EDF1"/>
          </a:solidFill>
          <a:ln>
            <a:noFill/>
          </a:ln>
        </p:spPr>
        <p:txBody>
          <a:bodyPr rtlCol="0" anchor="ctr"/>
          <a:lstStyle/>
          <a:p>
            <a:pPr algn="ctr"/>
          </a:p>
        </p:txBody>
      </p:sp>
      <p:sp>
        <p:nvSpPr>
          <p:cNvPr id="23" name="TextBox 22"/>
          <p:cNvSpPr txBox="1"/>
          <p:nvPr/>
        </p:nvSpPr>
        <p:spPr>
          <a:xfrm>
            <a:off x="6565392" y="2084832"/>
            <a:ext cx="1956816" cy="384048"/>
          </a:xfrm>
          <a:prstGeom prst="rect">
            <a:avLst/>
          </a:prstGeom>
          <a:noFill/>
        </p:spPr>
        <p:txBody>
          <a:bodyPr wrap="square" tIns="0" lIns="0" rIns="0" bIns="0">
            <a:spAutoFit/>
          </a:bodyPr>
          <a:lstStyle/>
          <a:p>
            <a:pPr>
              <a:lnSpc>
                <a:spcPct val="110000"/>
              </a:lnSpc>
              <a:spcAft>
                <a:spcPts val="0"/>
              </a:spcAft>
              <a:defRPr sz="2100" b="1">
                <a:solidFill>
                  <a:srgbClr val="364653"/>
                </a:solidFill>
                <a:latin typeface="Segoe UI"/>
              </a:defRPr>
            </a:pPr>
            <a:r>
              <a:t>Có x</a:t>
            </a:r>
          </a:p>
        </p:txBody>
      </p:sp>
      <p:sp>
        <p:nvSpPr>
          <p:cNvPr id="24" name="Rectangle 23"/>
          <p:cNvSpPr/>
          <p:nvPr/>
        </p:nvSpPr>
        <p:spPr>
          <a:xfrm>
            <a:off x="6400800" y="2560320"/>
            <a:ext cx="2286000" cy="822960"/>
          </a:xfrm>
          <a:prstGeom prst="rect">
            <a:avLst/>
          </a:prstGeom>
          <a:solidFill>
            <a:srgbClr val="FFFDFA"/>
          </a:solidFill>
          <a:ln>
            <a:noFill/>
          </a:ln>
        </p:spPr>
        <p:txBody>
          <a:bodyPr rtlCol="0" anchor="ctr"/>
          <a:lstStyle/>
          <a:p>
            <a:pPr algn="ctr"/>
          </a:p>
        </p:txBody>
      </p:sp>
      <p:sp>
        <p:nvSpPr>
          <p:cNvPr id="25" name="TextBox 24"/>
          <p:cNvSpPr txBox="1"/>
          <p:nvPr/>
        </p:nvSpPr>
        <p:spPr>
          <a:xfrm>
            <a:off x="6528816" y="2761488"/>
            <a:ext cx="2029967" cy="594360"/>
          </a:xfrm>
          <a:prstGeom prst="rect">
            <a:avLst/>
          </a:prstGeom>
          <a:noFill/>
        </p:spPr>
        <p:txBody>
          <a:bodyPr wrap="square" tIns="0" lIns="0" rIns="0" bIns="0">
            <a:spAutoFit/>
          </a:bodyPr>
          <a:lstStyle/>
          <a:p>
            <a:pPr>
              <a:lnSpc>
                <a:spcPct val="110000"/>
              </a:lnSpc>
              <a:spcAft>
                <a:spcPts val="0"/>
              </a:spcAft>
              <a:defRPr sz="2100" b="0">
                <a:solidFill>
                  <a:srgbClr val="364653"/>
                </a:solidFill>
                <a:latin typeface="Segoe UI"/>
              </a:defRPr>
            </a:pPr>
            <a:r>
              <a:t>s</a:t>
            </a:r>
          </a:p>
        </p:txBody>
      </p:sp>
      <p:sp>
        <p:nvSpPr>
          <p:cNvPr id="26" name="Rectangle 25"/>
          <p:cNvSpPr/>
          <p:nvPr/>
        </p:nvSpPr>
        <p:spPr>
          <a:xfrm>
            <a:off x="6400800" y="3383279"/>
            <a:ext cx="2286000" cy="822960"/>
          </a:xfrm>
          <a:prstGeom prst="rect">
            <a:avLst/>
          </a:prstGeom>
          <a:solidFill>
            <a:srgbClr val="E7EDE1"/>
          </a:solidFill>
          <a:ln>
            <a:noFill/>
          </a:ln>
        </p:spPr>
        <p:txBody>
          <a:bodyPr rtlCol="0" anchor="ctr"/>
          <a:lstStyle/>
          <a:p>
            <a:pPr algn="ctr"/>
          </a:p>
        </p:txBody>
      </p:sp>
      <p:sp>
        <p:nvSpPr>
          <p:cNvPr id="27" name="TextBox 26"/>
          <p:cNvSpPr txBox="1"/>
          <p:nvPr/>
        </p:nvSpPr>
        <p:spPr>
          <a:xfrm>
            <a:off x="6528816" y="3584448"/>
            <a:ext cx="2029967" cy="594360"/>
          </a:xfrm>
          <a:prstGeom prst="rect">
            <a:avLst/>
          </a:prstGeom>
          <a:noFill/>
        </p:spPr>
        <p:txBody>
          <a:bodyPr wrap="square" tIns="0" lIns="0" rIns="0" bIns="0">
            <a:spAutoFit/>
          </a:bodyPr>
          <a:lstStyle/>
          <a:p>
            <a:pPr>
              <a:lnSpc>
                <a:spcPct val="110000"/>
              </a:lnSpc>
              <a:spcAft>
                <a:spcPts val="0"/>
              </a:spcAft>
              <a:defRPr sz="2100" b="0">
                <a:solidFill>
                  <a:srgbClr val="364653"/>
                </a:solidFill>
                <a:latin typeface="Segoe UI"/>
              </a:defRPr>
            </a:pPr>
            <a:r>
              <a:t>s</a:t>
            </a:r>
          </a:p>
        </p:txBody>
      </p:sp>
      <p:sp>
        <p:nvSpPr>
          <p:cNvPr id="28" name="Rectangle 27"/>
          <p:cNvSpPr/>
          <p:nvPr/>
        </p:nvSpPr>
        <p:spPr>
          <a:xfrm>
            <a:off x="6400800" y="4206240"/>
            <a:ext cx="2286000" cy="822960"/>
          </a:xfrm>
          <a:prstGeom prst="rect">
            <a:avLst/>
          </a:prstGeom>
          <a:solidFill>
            <a:srgbClr val="FFFDFA"/>
          </a:solidFill>
          <a:ln>
            <a:noFill/>
          </a:ln>
        </p:spPr>
        <p:txBody>
          <a:bodyPr rtlCol="0" anchor="ctr"/>
          <a:lstStyle/>
          <a:p>
            <a:pPr algn="ctr"/>
          </a:p>
        </p:txBody>
      </p:sp>
      <p:sp>
        <p:nvSpPr>
          <p:cNvPr id="29" name="TextBox 28"/>
          <p:cNvSpPr txBox="1"/>
          <p:nvPr/>
        </p:nvSpPr>
        <p:spPr>
          <a:xfrm>
            <a:off x="6528816" y="4407407"/>
            <a:ext cx="2029967" cy="594360"/>
          </a:xfrm>
          <a:prstGeom prst="rect">
            <a:avLst/>
          </a:prstGeom>
          <a:noFill/>
        </p:spPr>
        <p:txBody>
          <a:bodyPr wrap="square" tIns="0" lIns="0" rIns="0" bIns="0">
            <a:spAutoFit/>
          </a:bodyPr>
          <a:lstStyle/>
          <a:p>
            <a:pPr>
              <a:lnSpc>
                <a:spcPct val="110000"/>
              </a:lnSpc>
              <a:spcAft>
                <a:spcPts val="0"/>
              </a:spcAft>
              <a:defRPr sz="2100" b="0">
                <a:solidFill>
                  <a:srgbClr val="364653"/>
                </a:solidFill>
                <a:latin typeface="Segoe UI"/>
              </a:defRPr>
            </a:pPr>
            <a:r>
              <a:t>t</a:t>
            </a:r>
          </a:p>
        </p:txBody>
      </p:sp>
      <p:sp>
        <p:nvSpPr>
          <p:cNvPr id="30" name="Rectangle 29"/>
          <p:cNvSpPr/>
          <p:nvPr/>
        </p:nvSpPr>
        <p:spPr>
          <a:xfrm>
            <a:off x="8686800" y="1920240"/>
            <a:ext cx="2651760" cy="640080"/>
          </a:xfrm>
          <a:prstGeom prst="rect">
            <a:avLst/>
          </a:prstGeom>
          <a:solidFill>
            <a:srgbClr val="E6EDF1"/>
          </a:solidFill>
          <a:ln>
            <a:noFill/>
          </a:ln>
        </p:spPr>
        <p:txBody>
          <a:bodyPr rtlCol="0" anchor="ctr"/>
          <a:lstStyle/>
          <a:p>
            <a:pPr algn="ctr"/>
          </a:p>
        </p:txBody>
      </p:sp>
      <p:sp>
        <p:nvSpPr>
          <p:cNvPr id="31" name="TextBox 30"/>
          <p:cNvSpPr txBox="1"/>
          <p:nvPr/>
        </p:nvSpPr>
        <p:spPr>
          <a:xfrm>
            <a:off x="8851392" y="2084832"/>
            <a:ext cx="2322576" cy="384048"/>
          </a:xfrm>
          <a:prstGeom prst="rect">
            <a:avLst/>
          </a:prstGeom>
          <a:noFill/>
        </p:spPr>
        <p:txBody>
          <a:bodyPr wrap="square" tIns="0" lIns="0" rIns="0" bIns="0">
            <a:spAutoFit/>
          </a:bodyPr>
          <a:lstStyle/>
          <a:p>
            <a:pPr>
              <a:lnSpc>
                <a:spcPct val="110000"/>
              </a:lnSpc>
              <a:spcAft>
                <a:spcPts val="0"/>
              </a:spcAft>
              <a:defRPr sz="2100" b="1">
                <a:solidFill>
                  <a:srgbClr val="364653"/>
                </a:solidFill>
                <a:latin typeface="Segoe UI"/>
              </a:defRPr>
            </a:pPr>
            <a:r>
              <a:t>Không có x</a:t>
            </a:r>
          </a:p>
        </p:txBody>
      </p:sp>
      <p:sp>
        <p:nvSpPr>
          <p:cNvPr id="32" name="Rectangle 31"/>
          <p:cNvSpPr/>
          <p:nvPr/>
        </p:nvSpPr>
        <p:spPr>
          <a:xfrm>
            <a:off x="8686800" y="2560320"/>
            <a:ext cx="2651760" cy="822960"/>
          </a:xfrm>
          <a:prstGeom prst="rect">
            <a:avLst/>
          </a:prstGeom>
          <a:solidFill>
            <a:srgbClr val="FFFDFA"/>
          </a:solidFill>
          <a:ln>
            <a:noFill/>
          </a:ln>
        </p:spPr>
        <p:txBody>
          <a:bodyPr rtlCol="0" anchor="ctr"/>
          <a:lstStyle/>
          <a:p>
            <a:pPr algn="ctr"/>
          </a:p>
        </p:txBody>
      </p:sp>
      <p:sp>
        <p:nvSpPr>
          <p:cNvPr id="33" name="TextBox 32"/>
          <p:cNvSpPr txBox="1"/>
          <p:nvPr/>
        </p:nvSpPr>
        <p:spPr>
          <a:xfrm>
            <a:off x="8814816" y="2761488"/>
            <a:ext cx="2395728" cy="594360"/>
          </a:xfrm>
          <a:prstGeom prst="rect">
            <a:avLst/>
          </a:prstGeom>
          <a:noFill/>
        </p:spPr>
        <p:txBody>
          <a:bodyPr wrap="square" tIns="0" lIns="0" rIns="0" bIns="0">
            <a:spAutoFit/>
          </a:bodyPr>
          <a:lstStyle/>
          <a:p>
            <a:pPr>
              <a:lnSpc>
                <a:spcPct val="110000"/>
              </a:lnSpc>
              <a:spcAft>
                <a:spcPts val="0"/>
              </a:spcAft>
              <a:defRPr sz="2100" b="0">
                <a:solidFill>
                  <a:srgbClr val="364653"/>
                </a:solidFill>
                <a:latin typeface="Segoe UI"/>
              </a:defRPr>
            </a:pPr>
            <a:r>
              <a:t>S</a:t>
            </a:r>
          </a:p>
        </p:txBody>
      </p:sp>
      <p:sp>
        <p:nvSpPr>
          <p:cNvPr id="34" name="Rectangle 33"/>
          <p:cNvSpPr/>
          <p:nvPr/>
        </p:nvSpPr>
        <p:spPr>
          <a:xfrm>
            <a:off x="8686800" y="3383279"/>
            <a:ext cx="2651760" cy="822960"/>
          </a:xfrm>
          <a:prstGeom prst="rect">
            <a:avLst/>
          </a:prstGeom>
          <a:solidFill>
            <a:srgbClr val="E7EDE1"/>
          </a:solidFill>
          <a:ln>
            <a:noFill/>
          </a:ln>
        </p:spPr>
        <p:txBody>
          <a:bodyPr rtlCol="0" anchor="ctr"/>
          <a:lstStyle/>
          <a:p>
            <a:pPr algn="ctr"/>
          </a:p>
        </p:txBody>
      </p:sp>
      <p:sp>
        <p:nvSpPr>
          <p:cNvPr id="35" name="TextBox 34"/>
          <p:cNvSpPr txBox="1"/>
          <p:nvPr/>
        </p:nvSpPr>
        <p:spPr>
          <a:xfrm>
            <a:off x="8814816" y="3584448"/>
            <a:ext cx="2395728" cy="594360"/>
          </a:xfrm>
          <a:prstGeom prst="rect">
            <a:avLst/>
          </a:prstGeom>
          <a:noFill/>
        </p:spPr>
        <p:txBody>
          <a:bodyPr wrap="square" tIns="0" lIns="0" rIns="0" bIns="0">
            <a:spAutoFit/>
          </a:bodyPr>
          <a:lstStyle/>
          <a:p>
            <a:pPr>
              <a:lnSpc>
                <a:spcPct val="110000"/>
              </a:lnSpc>
              <a:spcAft>
                <a:spcPts val="0"/>
              </a:spcAft>
              <a:defRPr sz="2100" b="0">
                <a:solidFill>
                  <a:srgbClr val="364653"/>
                </a:solidFill>
                <a:latin typeface="Segoe UI"/>
              </a:defRPr>
            </a:pPr>
            <a:r>
              <a:t>S</a:t>
            </a:r>
          </a:p>
        </p:txBody>
      </p:sp>
      <p:sp>
        <p:nvSpPr>
          <p:cNvPr id="36" name="Rectangle 35"/>
          <p:cNvSpPr/>
          <p:nvPr/>
        </p:nvSpPr>
        <p:spPr>
          <a:xfrm>
            <a:off x="8686800" y="4206240"/>
            <a:ext cx="2651760" cy="822960"/>
          </a:xfrm>
          <a:prstGeom prst="rect">
            <a:avLst/>
          </a:prstGeom>
          <a:solidFill>
            <a:srgbClr val="FFFDFA"/>
          </a:solidFill>
          <a:ln>
            <a:noFill/>
          </a:ln>
        </p:spPr>
        <p:txBody>
          <a:bodyPr rtlCol="0" anchor="ctr"/>
          <a:lstStyle/>
          <a:p>
            <a:pPr algn="ctr"/>
          </a:p>
        </p:txBody>
      </p:sp>
      <p:sp>
        <p:nvSpPr>
          <p:cNvPr id="37" name="TextBox 36"/>
          <p:cNvSpPr txBox="1"/>
          <p:nvPr/>
        </p:nvSpPr>
        <p:spPr>
          <a:xfrm>
            <a:off x="8814816" y="4407407"/>
            <a:ext cx="2395728" cy="594360"/>
          </a:xfrm>
          <a:prstGeom prst="rect">
            <a:avLst/>
          </a:prstGeom>
          <a:noFill/>
        </p:spPr>
        <p:txBody>
          <a:bodyPr wrap="square" tIns="0" lIns="0" rIns="0" bIns="0">
            <a:spAutoFit/>
          </a:bodyPr>
          <a:lstStyle/>
          <a:p>
            <a:pPr>
              <a:lnSpc>
                <a:spcPct val="110000"/>
              </a:lnSpc>
              <a:spcAft>
                <a:spcPts val="0"/>
              </a:spcAft>
              <a:defRPr sz="2100" b="0">
                <a:solidFill>
                  <a:srgbClr val="364653"/>
                </a:solidFill>
                <a:latin typeface="Segoe UI"/>
              </a:defRPr>
            </a:pPr>
            <a:r>
              <a:t>T</a:t>
            </a:r>
          </a:p>
        </p:txBody>
      </p:sp>
      <p:sp>
        <p:nvSpPr>
          <p:cNvPr id="38" name="TextBox 37"/>
          <p:cNvSpPr txBox="1"/>
          <p:nvPr/>
        </p:nvSpPr>
        <p:spPr>
          <a:xfrm>
            <a:off x="777240" y="5486400"/>
            <a:ext cx="10607040" cy="777240"/>
          </a:xfrm>
          <a:prstGeom prst="rect">
            <a:avLst/>
          </a:prstGeom>
          <a:noFill/>
        </p:spPr>
        <p:txBody>
          <a:bodyPr wrap="square" tIns="0" lIns="0" rIns="0" bIns="0">
            <a:spAutoFit/>
          </a:bodyPr>
          <a:lstStyle/>
          <a:p>
            <a:pPr>
              <a:lnSpc>
                <a:spcPct val="110000"/>
              </a:lnSpc>
              <a:spcAft>
                <a:spcPts val="300"/>
              </a:spcAft>
              <a:defRPr sz="2200" b="1">
                <a:solidFill>
                  <a:srgbClr val="456B88"/>
                </a:solidFill>
                <a:latin typeface="Segoe UI"/>
              </a:defRPr>
            </a:pPr>
            <a:r>
              <a:t>04755 → -rwsr-xr-x</a:t>
            </a:r>
          </a:p>
          <a:p>
            <a:pPr>
              <a:lnSpc>
                <a:spcPct val="110000"/>
              </a:lnSpc>
              <a:spcAft>
                <a:spcPts val="0"/>
              </a:spcAft>
              <a:defRPr sz="2200" b="1">
                <a:solidFill>
                  <a:srgbClr val="456B88"/>
                </a:solidFill>
                <a:latin typeface="Segoe UI"/>
              </a:defRPr>
            </a:pPr>
            <a:r>
              <a:t>Dùng mask S_ISUID / S_ISGID / S_ISVTX và các bit quyền.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TextBox 1"/>
          <p:cNvSpPr txBox="1"/>
          <p:nvPr/>
        </p:nvSpPr>
        <p:spPr>
          <a:xfrm>
            <a:off x="749808" y="429768"/>
            <a:ext cx="10698480" cy="594360"/>
          </a:xfrm>
          <a:prstGeom prst="rect">
            <a:avLst/>
          </a:prstGeom>
          <a:noFill/>
        </p:spPr>
        <p:txBody>
          <a:bodyPr wrap="square" tIns="0" lIns="0" rIns="0" bIns="0">
            <a:spAutoFit/>
          </a:bodyPr>
          <a:lstStyle/>
          <a:p>
            <a:pPr>
              <a:lnSpc>
                <a:spcPct val="110000"/>
              </a:lnSpc>
              <a:spcAft>
                <a:spcPts val="0"/>
              </a:spcAft>
              <a:defRPr sz="3000" b="1">
                <a:solidFill>
                  <a:srgbClr val="364653"/>
                </a:solidFill>
                <a:latin typeface="Segoe UI"/>
              </a:defRPr>
            </a:pPr>
            <a:r>
              <a:t>Size, total và thời gian là ba khái niệm khác nhau</a:t>
            </a:r>
          </a:p>
        </p:txBody>
      </p:sp>
      <p:cxnSp>
        <p:nvCxnSpPr>
          <p:cNvPr id="3" name="Connector 2"/>
          <p:cNvCxnSpPr/>
          <p:nvPr/>
        </p:nvCxnSpPr>
        <p:spPr>
          <a:xfrm>
            <a:off x="10762488" y="6537960"/>
            <a:ext cx="237744" cy="0"/>
          </a:xfrm>
          <a:prstGeom prst="line">
            <a:avLst/>
          </a:prstGeom>
          <a:ln w="12700">
            <a:solidFill>
              <a:srgbClr val="D3D7D2"/>
            </a:solidFill>
          </a:ln>
        </p:spPr>
      </p:cxnSp>
      <p:sp>
        <p:nvSpPr>
          <p:cNvPr id="4" name="TextBox 3"/>
          <p:cNvSpPr txBox="1"/>
          <p:nvPr/>
        </p:nvSpPr>
        <p:spPr>
          <a:xfrm>
            <a:off x="11082528" y="6419088"/>
            <a:ext cx="411480" cy="274320"/>
          </a:xfrm>
          <a:prstGeom prst="rect">
            <a:avLst/>
          </a:prstGeom>
          <a:noFill/>
        </p:spPr>
        <p:txBody>
          <a:bodyPr wrap="square" tIns="0" lIns="0" rIns="0" bIns="0">
            <a:spAutoFit/>
          </a:bodyPr>
          <a:lstStyle/>
          <a:p>
            <a:pPr algn="ctr">
              <a:lnSpc>
                <a:spcPct val="110000"/>
              </a:lnSpc>
              <a:spcAft>
                <a:spcPts val="0"/>
              </a:spcAft>
              <a:defRPr sz="1000" b="0">
                <a:solidFill>
                  <a:srgbClr val="5B6870"/>
                </a:solidFill>
                <a:latin typeface="Segoe UI"/>
              </a:defRPr>
            </a:pPr>
            <a:r>
              <a:t>18</a:t>
            </a:r>
          </a:p>
        </p:txBody>
      </p:sp>
      <p:sp>
        <p:nvSpPr>
          <p:cNvPr id="5" name="Oval 4"/>
          <p:cNvSpPr/>
          <p:nvPr/>
        </p:nvSpPr>
        <p:spPr>
          <a:xfrm>
            <a:off x="777240" y="2029968"/>
            <a:ext cx="457200" cy="457200"/>
          </a:xfrm>
          <a:prstGeom prst="ellipse">
            <a:avLst/>
          </a:prstGeom>
          <a:solidFill>
            <a:srgbClr val="456B88"/>
          </a:solidFill>
          <a:ln>
            <a:noFill/>
          </a:ln>
        </p:spPr>
        <p:txBody>
          <a:bodyPr rtlCol="0" anchor="ctr"/>
          <a:lstStyle/>
          <a:p>
            <a:pPr algn="ctr"/>
          </a:p>
        </p:txBody>
      </p:sp>
      <p:sp>
        <p:nvSpPr>
          <p:cNvPr id="6" name="TextBox 5"/>
          <p:cNvSpPr txBox="1"/>
          <p:nvPr/>
        </p:nvSpPr>
        <p:spPr>
          <a:xfrm>
            <a:off x="777240" y="2080260"/>
            <a:ext cx="457200" cy="329184"/>
          </a:xfrm>
          <a:prstGeom prst="rect">
            <a:avLst/>
          </a:prstGeom>
          <a:noFill/>
        </p:spPr>
        <p:txBody>
          <a:bodyPr wrap="square" tIns="0" lIns="0" rIns="0" bIns="0">
            <a:spAutoFit/>
          </a:bodyPr>
          <a:lstStyle/>
          <a:p>
            <a:pPr algn="ctr">
              <a:lnSpc>
                <a:spcPct val="110000"/>
              </a:lnSpc>
              <a:spcAft>
                <a:spcPts val="0"/>
              </a:spcAft>
              <a:defRPr sz="1800" b="1">
                <a:solidFill>
                  <a:srgbClr val="FFFDFA"/>
                </a:solidFill>
                <a:latin typeface="Segoe UI"/>
              </a:defRPr>
            </a:pPr>
            <a:r>
              <a:t>1</a:t>
            </a:r>
          </a:p>
        </p:txBody>
      </p:sp>
      <p:sp>
        <p:nvSpPr>
          <p:cNvPr id="7" name="TextBox 6"/>
          <p:cNvSpPr txBox="1"/>
          <p:nvPr/>
        </p:nvSpPr>
        <p:spPr>
          <a:xfrm>
            <a:off x="1417319" y="2011680"/>
            <a:ext cx="2651760" cy="502920"/>
          </a:xfrm>
          <a:prstGeom prst="rect">
            <a:avLst/>
          </a:prstGeom>
          <a:noFill/>
        </p:spPr>
        <p:txBody>
          <a:bodyPr wrap="square" tIns="0" lIns="0" rIns="0" bIns="0">
            <a:spAutoFit/>
          </a:bodyPr>
          <a:lstStyle/>
          <a:p>
            <a:pPr>
              <a:lnSpc>
                <a:spcPct val="110000"/>
              </a:lnSpc>
              <a:spcAft>
                <a:spcPts val="0"/>
              </a:spcAft>
              <a:defRPr sz="2600" b="1">
                <a:solidFill>
                  <a:srgbClr val="364653"/>
                </a:solidFill>
                <a:latin typeface="Consolas"/>
              </a:defRPr>
            </a:pPr>
            <a:r>
              <a:t>st_size</a:t>
            </a:r>
          </a:p>
        </p:txBody>
      </p:sp>
      <p:sp>
        <p:nvSpPr>
          <p:cNvPr id="8" name="TextBox 7"/>
          <p:cNvSpPr txBox="1"/>
          <p:nvPr/>
        </p:nvSpPr>
        <p:spPr>
          <a:xfrm>
            <a:off x="777240" y="2907792"/>
            <a:ext cx="3337560" cy="914400"/>
          </a:xfrm>
          <a:prstGeom prst="rect">
            <a:avLst/>
          </a:prstGeom>
          <a:noFill/>
        </p:spPr>
        <p:txBody>
          <a:bodyPr wrap="square" tIns="0" lIns="0" rIns="0" bIns="0">
            <a:spAutoFit/>
          </a:bodyPr>
          <a:lstStyle/>
          <a:p>
            <a:pPr>
              <a:lnSpc>
                <a:spcPct val="110000"/>
              </a:lnSpc>
              <a:spcAft>
                <a:spcPts val="0"/>
              </a:spcAft>
              <a:defRPr sz="2400" b="0">
                <a:solidFill>
                  <a:srgbClr val="5B6870"/>
                </a:solidFill>
                <a:latin typeface="Segoe UI"/>
              </a:defRPr>
            </a:pPr>
            <a:r>
              <a:t>Byte logic của một đối tượng</a:t>
            </a:r>
          </a:p>
        </p:txBody>
      </p:sp>
      <p:sp>
        <p:nvSpPr>
          <p:cNvPr id="9" name="Oval 8"/>
          <p:cNvSpPr/>
          <p:nvPr/>
        </p:nvSpPr>
        <p:spPr>
          <a:xfrm>
            <a:off x="4480559" y="2029968"/>
            <a:ext cx="457200" cy="457200"/>
          </a:xfrm>
          <a:prstGeom prst="ellipse">
            <a:avLst/>
          </a:prstGeom>
          <a:solidFill>
            <a:srgbClr val="456B88"/>
          </a:solidFill>
          <a:ln>
            <a:noFill/>
          </a:ln>
        </p:spPr>
        <p:txBody>
          <a:bodyPr rtlCol="0" anchor="ctr"/>
          <a:lstStyle/>
          <a:p>
            <a:pPr algn="ctr"/>
          </a:p>
        </p:txBody>
      </p:sp>
      <p:sp>
        <p:nvSpPr>
          <p:cNvPr id="10" name="TextBox 9"/>
          <p:cNvSpPr txBox="1"/>
          <p:nvPr/>
        </p:nvSpPr>
        <p:spPr>
          <a:xfrm>
            <a:off x="4480559" y="2080260"/>
            <a:ext cx="457200" cy="329184"/>
          </a:xfrm>
          <a:prstGeom prst="rect">
            <a:avLst/>
          </a:prstGeom>
          <a:noFill/>
        </p:spPr>
        <p:txBody>
          <a:bodyPr wrap="square" tIns="0" lIns="0" rIns="0" bIns="0">
            <a:spAutoFit/>
          </a:bodyPr>
          <a:lstStyle/>
          <a:p>
            <a:pPr algn="ctr">
              <a:lnSpc>
                <a:spcPct val="110000"/>
              </a:lnSpc>
              <a:spcAft>
                <a:spcPts val="0"/>
              </a:spcAft>
              <a:defRPr sz="1800" b="1">
                <a:solidFill>
                  <a:srgbClr val="FFFDFA"/>
                </a:solidFill>
                <a:latin typeface="Segoe UI"/>
              </a:defRPr>
            </a:pPr>
            <a:r>
              <a:t>2</a:t>
            </a:r>
          </a:p>
        </p:txBody>
      </p:sp>
      <p:sp>
        <p:nvSpPr>
          <p:cNvPr id="11" name="TextBox 10"/>
          <p:cNvSpPr txBox="1"/>
          <p:nvPr/>
        </p:nvSpPr>
        <p:spPr>
          <a:xfrm>
            <a:off x="5120640" y="2011680"/>
            <a:ext cx="2651760" cy="502920"/>
          </a:xfrm>
          <a:prstGeom prst="rect">
            <a:avLst/>
          </a:prstGeom>
          <a:noFill/>
        </p:spPr>
        <p:txBody>
          <a:bodyPr wrap="square" tIns="0" lIns="0" rIns="0" bIns="0">
            <a:spAutoFit/>
          </a:bodyPr>
          <a:lstStyle/>
          <a:p>
            <a:pPr>
              <a:lnSpc>
                <a:spcPct val="110000"/>
              </a:lnSpc>
              <a:spcAft>
                <a:spcPts val="0"/>
              </a:spcAft>
              <a:defRPr sz="2600" b="1">
                <a:solidFill>
                  <a:srgbClr val="364653"/>
                </a:solidFill>
                <a:latin typeface="Consolas"/>
              </a:defRPr>
            </a:pPr>
            <a:r>
              <a:t>st_blocks</a:t>
            </a:r>
          </a:p>
        </p:txBody>
      </p:sp>
      <p:sp>
        <p:nvSpPr>
          <p:cNvPr id="12" name="TextBox 11"/>
          <p:cNvSpPr txBox="1"/>
          <p:nvPr/>
        </p:nvSpPr>
        <p:spPr>
          <a:xfrm>
            <a:off x="4480559" y="2907792"/>
            <a:ext cx="3337560" cy="914400"/>
          </a:xfrm>
          <a:prstGeom prst="rect">
            <a:avLst/>
          </a:prstGeom>
          <a:noFill/>
        </p:spPr>
        <p:txBody>
          <a:bodyPr wrap="square" tIns="0" lIns="0" rIns="0" bIns="0">
            <a:spAutoFit/>
          </a:bodyPr>
          <a:lstStyle/>
          <a:p>
            <a:pPr>
              <a:lnSpc>
                <a:spcPct val="110000"/>
              </a:lnSpc>
              <a:spcAft>
                <a:spcPts val="0"/>
              </a:spcAft>
              <a:defRPr sz="2400" b="0">
                <a:solidFill>
                  <a:srgbClr val="5B6870"/>
                </a:solidFill>
                <a:latin typeface="Segoe UI"/>
              </a:defRPr>
            </a:pPr>
            <a:r>
              <a:t>Số khối 512 byte đã cấp phát</a:t>
            </a:r>
          </a:p>
        </p:txBody>
      </p:sp>
      <p:sp>
        <p:nvSpPr>
          <p:cNvPr id="13" name="Oval 12"/>
          <p:cNvSpPr/>
          <p:nvPr/>
        </p:nvSpPr>
        <p:spPr>
          <a:xfrm>
            <a:off x="8183879" y="2029968"/>
            <a:ext cx="457200" cy="457200"/>
          </a:xfrm>
          <a:prstGeom prst="ellipse">
            <a:avLst/>
          </a:prstGeom>
          <a:solidFill>
            <a:srgbClr val="456B88"/>
          </a:solidFill>
          <a:ln>
            <a:noFill/>
          </a:ln>
        </p:spPr>
        <p:txBody>
          <a:bodyPr rtlCol="0" anchor="ctr"/>
          <a:lstStyle/>
          <a:p>
            <a:pPr algn="ctr"/>
          </a:p>
        </p:txBody>
      </p:sp>
      <p:sp>
        <p:nvSpPr>
          <p:cNvPr id="14" name="TextBox 13"/>
          <p:cNvSpPr txBox="1"/>
          <p:nvPr/>
        </p:nvSpPr>
        <p:spPr>
          <a:xfrm>
            <a:off x="8183879" y="2080260"/>
            <a:ext cx="457200" cy="329184"/>
          </a:xfrm>
          <a:prstGeom prst="rect">
            <a:avLst/>
          </a:prstGeom>
          <a:noFill/>
        </p:spPr>
        <p:txBody>
          <a:bodyPr wrap="square" tIns="0" lIns="0" rIns="0" bIns="0">
            <a:spAutoFit/>
          </a:bodyPr>
          <a:lstStyle/>
          <a:p>
            <a:pPr algn="ctr">
              <a:lnSpc>
                <a:spcPct val="110000"/>
              </a:lnSpc>
              <a:spcAft>
                <a:spcPts val="0"/>
              </a:spcAft>
              <a:defRPr sz="1800" b="1">
                <a:solidFill>
                  <a:srgbClr val="FFFDFA"/>
                </a:solidFill>
                <a:latin typeface="Segoe UI"/>
              </a:defRPr>
            </a:pPr>
            <a:r>
              <a:t>3</a:t>
            </a:r>
          </a:p>
        </p:txBody>
      </p:sp>
      <p:sp>
        <p:nvSpPr>
          <p:cNvPr id="15" name="TextBox 14"/>
          <p:cNvSpPr txBox="1"/>
          <p:nvPr/>
        </p:nvSpPr>
        <p:spPr>
          <a:xfrm>
            <a:off x="8823959" y="2011680"/>
            <a:ext cx="2651760" cy="502920"/>
          </a:xfrm>
          <a:prstGeom prst="rect">
            <a:avLst/>
          </a:prstGeom>
          <a:noFill/>
        </p:spPr>
        <p:txBody>
          <a:bodyPr wrap="square" tIns="0" lIns="0" rIns="0" bIns="0">
            <a:spAutoFit/>
          </a:bodyPr>
          <a:lstStyle/>
          <a:p>
            <a:pPr>
              <a:lnSpc>
                <a:spcPct val="110000"/>
              </a:lnSpc>
              <a:spcAft>
                <a:spcPts val="0"/>
              </a:spcAft>
              <a:defRPr sz="2600" b="1">
                <a:solidFill>
                  <a:srgbClr val="364653"/>
                </a:solidFill>
                <a:latin typeface="Consolas"/>
              </a:defRPr>
            </a:pPr>
            <a:r>
              <a:t>st_mtime</a:t>
            </a:r>
          </a:p>
        </p:txBody>
      </p:sp>
      <p:sp>
        <p:nvSpPr>
          <p:cNvPr id="16" name="TextBox 15"/>
          <p:cNvSpPr txBox="1"/>
          <p:nvPr/>
        </p:nvSpPr>
        <p:spPr>
          <a:xfrm>
            <a:off x="8183879" y="2907792"/>
            <a:ext cx="3337560" cy="914400"/>
          </a:xfrm>
          <a:prstGeom prst="rect">
            <a:avLst/>
          </a:prstGeom>
          <a:noFill/>
        </p:spPr>
        <p:txBody>
          <a:bodyPr wrap="square" tIns="0" lIns="0" rIns="0" bIns="0">
            <a:spAutoFit/>
          </a:bodyPr>
          <a:lstStyle/>
          <a:p>
            <a:pPr>
              <a:lnSpc>
                <a:spcPct val="110000"/>
              </a:lnSpc>
              <a:spcAft>
                <a:spcPts val="0"/>
              </a:spcAft>
              <a:defRPr sz="2400" b="0">
                <a:solidFill>
                  <a:srgbClr val="5B6870"/>
                </a:solidFill>
                <a:latin typeface="Segoe UI"/>
              </a:defRPr>
            </a:pPr>
            <a:r>
              <a:t>Lần sửa nội dung gần nhất</a:t>
            </a:r>
          </a:p>
        </p:txBody>
      </p:sp>
      <p:sp>
        <p:nvSpPr>
          <p:cNvPr id="17" name="Rectangle 16"/>
          <p:cNvSpPr/>
          <p:nvPr/>
        </p:nvSpPr>
        <p:spPr>
          <a:xfrm>
            <a:off x="777240" y="4160520"/>
            <a:ext cx="10561320" cy="1298448"/>
          </a:xfrm>
          <a:prstGeom prst="rect">
            <a:avLst/>
          </a:prstGeom>
          <a:solidFill>
            <a:srgbClr val="E6EDF1"/>
          </a:solidFill>
          <a:ln>
            <a:noFill/>
          </a:ln>
        </p:spPr>
        <p:txBody>
          <a:bodyPr rtlCol="0" anchor="ctr"/>
          <a:lstStyle/>
          <a:p>
            <a:pPr algn="ctr"/>
          </a:p>
        </p:txBody>
      </p:sp>
      <p:sp>
        <p:nvSpPr>
          <p:cNvPr id="18" name="TextBox 17"/>
          <p:cNvSpPr txBox="1"/>
          <p:nvPr/>
        </p:nvSpPr>
        <p:spPr>
          <a:xfrm>
            <a:off x="1051560" y="4480560"/>
            <a:ext cx="10012680" cy="640080"/>
          </a:xfrm>
          <a:prstGeom prst="rect">
            <a:avLst/>
          </a:prstGeom>
          <a:noFill/>
        </p:spPr>
        <p:txBody>
          <a:bodyPr wrap="square" tIns="0" lIns="0" rIns="0" bIns="0">
            <a:spAutoFit/>
          </a:bodyPr>
          <a:lstStyle/>
          <a:p>
            <a:pPr>
              <a:lnSpc>
                <a:spcPct val="110000"/>
              </a:lnSpc>
              <a:spcAft>
                <a:spcPts val="0"/>
              </a:spcAft>
              <a:defRPr sz="3000" b="1">
                <a:solidFill>
                  <a:srgbClr val="364653"/>
                </a:solidFill>
                <a:latin typeface="Consolas"/>
              </a:defRPr>
            </a:pPr>
            <a:r>
              <a:t>total (1 KiB) = (Σ st_blocks + 1) / 2</a:t>
            </a:r>
          </a:p>
        </p:txBody>
      </p:sp>
      <p:sp>
        <p:nvSpPr>
          <p:cNvPr id="19" name="TextBox 18"/>
          <p:cNvSpPr txBox="1"/>
          <p:nvPr/>
        </p:nvSpPr>
        <p:spPr>
          <a:xfrm>
            <a:off x="777240" y="5715000"/>
            <a:ext cx="10607040" cy="457200"/>
          </a:xfrm>
          <a:prstGeom prst="rect">
            <a:avLst/>
          </a:prstGeom>
          <a:noFill/>
        </p:spPr>
        <p:txBody>
          <a:bodyPr wrap="square" tIns="0" lIns="0" rIns="0" bIns="0">
            <a:spAutoFit/>
          </a:bodyPr>
          <a:lstStyle/>
          <a:p>
            <a:pPr>
              <a:lnSpc>
                <a:spcPct val="110000"/>
              </a:lnSpc>
              <a:spcAft>
                <a:spcPts val="0"/>
              </a:spcAft>
              <a:defRPr sz="2000" b="0">
                <a:solidFill>
                  <a:srgbClr val="5B6870"/>
                </a:solidFill>
                <a:latin typeface="Segoe UI"/>
              </a:defRPr>
            </a:pPr>
            <a:r>
              <a:t>Gần hiện tại: HH:MM; quá nửa năm hoặc ở tương lai: năm. Test cố định TZ=UTC0.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TextBox 1"/>
          <p:cNvSpPr txBox="1"/>
          <p:nvPr/>
        </p:nvSpPr>
        <p:spPr>
          <a:xfrm>
            <a:off x="749808" y="429768"/>
            <a:ext cx="10698480" cy="594360"/>
          </a:xfrm>
          <a:prstGeom prst="rect">
            <a:avLst/>
          </a:prstGeom>
          <a:noFill/>
        </p:spPr>
        <p:txBody>
          <a:bodyPr wrap="square" tIns="0" lIns="0" rIns="0" bIns="0">
            <a:spAutoFit/>
          </a:bodyPr>
          <a:lstStyle/>
          <a:p>
            <a:pPr>
              <a:lnSpc>
                <a:spcPct val="110000"/>
              </a:lnSpc>
              <a:spcAft>
                <a:spcPts val="0"/>
              </a:spcAft>
              <a:defRPr sz="3000" b="1">
                <a:solidFill>
                  <a:srgbClr val="364653"/>
                </a:solidFill>
                <a:latin typeface="Segoe UI"/>
              </a:defRPr>
            </a:pPr>
            <a:r>
              <a:t>Symlink: phân biệt CLI với mục khi duyệt</a:t>
            </a:r>
          </a:p>
        </p:txBody>
      </p:sp>
      <p:cxnSp>
        <p:nvCxnSpPr>
          <p:cNvPr id="3" name="Connector 2"/>
          <p:cNvCxnSpPr/>
          <p:nvPr/>
        </p:nvCxnSpPr>
        <p:spPr>
          <a:xfrm>
            <a:off x="10762488" y="6537960"/>
            <a:ext cx="237744" cy="0"/>
          </a:xfrm>
          <a:prstGeom prst="line">
            <a:avLst/>
          </a:prstGeom>
          <a:ln w="12700">
            <a:solidFill>
              <a:srgbClr val="D3D7D2"/>
            </a:solidFill>
          </a:ln>
        </p:spPr>
      </p:cxnSp>
      <p:sp>
        <p:nvSpPr>
          <p:cNvPr id="4" name="TextBox 3"/>
          <p:cNvSpPr txBox="1"/>
          <p:nvPr/>
        </p:nvSpPr>
        <p:spPr>
          <a:xfrm>
            <a:off x="11082528" y="6419088"/>
            <a:ext cx="411480" cy="274320"/>
          </a:xfrm>
          <a:prstGeom prst="rect">
            <a:avLst/>
          </a:prstGeom>
          <a:noFill/>
        </p:spPr>
        <p:txBody>
          <a:bodyPr wrap="square" tIns="0" lIns="0" rIns="0" bIns="0">
            <a:spAutoFit/>
          </a:bodyPr>
          <a:lstStyle/>
          <a:p>
            <a:pPr algn="ctr">
              <a:lnSpc>
                <a:spcPct val="110000"/>
              </a:lnSpc>
              <a:spcAft>
                <a:spcPts val="0"/>
              </a:spcAft>
              <a:defRPr sz="1000" b="0">
                <a:solidFill>
                  <a:srgbClr val="5B6870"/>
                </a:solidFill>
                <a:latin typeface="Segoe UI"/>
              </a:defRPr>
            </a:pPr>
            <a:r>
              <a:t>19</a:t>
            </a:r>
          </a:p>
        </p:txBody>
      </p:sp>
      <p:sp>
        <p:nvSpPr>
          <p:cNvPr id="5" name="Rectangle 4"/>
          <p:cNvSpPr/>
          <p:nvPr/>
        </p:nvSpPr>
        <p:spPr>
          <a:xfrm>
            <a:off x="777240" y="1920240"/>
            <a:ext cx="4617720" cy="640080"/>
          </a:xfrm>
          <a:prstGeom prst="rect">
            <a:avLst/>
          </a:prstGeom>
          <a:solidFill>
            <a:srgbClr val="E6EDF1"/>
          </a:solidFill>
          <a:ln>
            <a:noFill/>
          </a:ln>
        </p:spPr>
        <p:txBody>
          <a:bodyPr rtlCol="0" anchor="ctr"/>
          <a:lstStyle/>
          <a:p>
            <a:pPr algn="ctr"/>
          </a:p>
        </p:txBody>
      </p:sp>
      <p:sp>
        <p:nvSpPr>
          <p:cNvPr id="6" name="TextBox 5"/>
          <p:cNvSpPr txBox="1"/>
          <p:nvPr/>
        </p:nvSpPr>
        <p:spPr>
          <a:xfrm>
            <a:off x="941832" y="2084832"/>
            <a:ext cx="4288536" cy="384048"/>
          </a:xfrm>
          <a:prstGeom prst="rect">
            <a:avLst/>
          </a:prstGeom>
          <a:noFill/>
        </p:spPr>
        <p:txBody>
          <a:bodyPr wrap="square" tIns="0" lIns="0" rIns="0" bIns="0">
            <a:spAutoFit/>
          </a:bodyPr>
          <a:lstStyle/>
          <a:p>
            <a:pPr>
              <a:lnSpc>
                <a:spcPct val="110000"/>
              </a:lnSpc>
              <a:spcAft>
                <a:spcPts val="0"/>
              </a:spcAft>
              <a:defRPr sz="2100" b="1">
                <a:solidFill>
                  <a:srgbClr val="364653"/>
                </a:solidFill>
                <a:latin typeface="Segoe UI"/>
              </a:defRPr>
            </a:pPr>
            <a:r>
              <a:t>Ngữ cảnh</a:t>
            </a:r>
          </a:p>
        </p:txBody>
      </p:sp>
      <p:sp>
        <p:nvSpPr>
          <p:cNvPr id="7" name="Rectangle 6"/>
          <p:cNvSpPr/>
          <p:nvPr/>
        </p:nvSpPr>
        <p:spPr>
          <a:xfrm>
            <a:off x="777240" y="2560320"/>
            <a:ext cx="4617720" cy="960120"/>
          </a:xfrm>
          <a:prstGeom prst="rect">
            <a:avLst/>
          </a:prstGeom>
          <a:solidFill>
            <a:srgbClr val="FFFDFA"/>
          </a:solidFill>
          <a:ln>
            <a:noFill/>
          </a:ln>
        </p:spPr>
        <p:txBody>
          <a:bodyPr rtlCol="0" anchor="ctr"/>
          <a:lstStyle/>
          <a:p>
            <a:pPr algn="ctr"/>
          </a:p>
        </p:txBody>
      </p:sp>
      <p:sp>
        <p:nvSpPr>
          <p:cNvPr id="8" name="TextBox 7"/>
          <p:cNvSpPr txBox="1"/>
          <p:nvPr/>
        </p:nvSpPr>
        <p:spPr>
          <a:xfrm>
            <a:off x="905256" y="2761488"/>
            <a:ext cx="4361688" cy="731520"/>
          </a:xfrm>
          <a:prstGeom prst="rect">
            <a:avLst/>
          </a:prstGeom>
          <a:noFill/>
        </p:spPr>
        <p:txBody>
          <a:bodyPr wrap="square" tIns="0" lIns="0" rIns="0" bIns="0">
            <a:spAutoFit/>
          </a:bodyPr>
          <a:lstStyle/>
          <a:p>
            <a:pPr>
              <a:lnSpc>
                <a:spcPct val="110000"/>
              </a:lnSpc>
              <a:spcAft>
                <a:spcPts val="0"/>
              </a:spcAft>
              <a:defRPr sz="2100" b="0">
                <a:solidFill>
                  <a:srgbClr val="364653"/>
                </a:solidFill>
                <a:latin typeface="Segoe UI"/>
              </a:defRPr>
            </a:pPr>
            <a:r>
              <a:t>Link → thư mục, operand CLI</a:t>
            </a:r>
          </a:p>
        </p:txBody>
      </p:sp>
      <p:sp>
        <p:nvSpPr>
          <p:cNvPr id="9" name="Rectangle 8"/>
          <p:cNvSpPr/>
          <p:nvPr/>
        </p:nvSpPr>
        <p:spPr>
          <a:xfrm>
            <a:off x="777240" y="3520439"/>
            <a:ext cx="4617720" cy="960120"/>
          </a:xfrm>
          <a:prstGeom prst="rect">
            <a:avLst/>
          </a:prstGeom>
          <a:solidFill>
            <a:srgbClr val="E7EDE1"/>
          </a:solidFill>
          <a:ln>
            <a:noFill/>
          </a:ln>
        </p:spPr>
        <p:txBody>
          <a:bodyPr rtlCol="0" anchor="ctr"/>
          <a:lstStyle/>
          <a:p>
            <a:pPr algn="ctr"/>
          </a:p>
        </p:txBody>
      </p:sp>
      <p:sp>
        <p:nvSpPr>
          <p:cNvPr id="10" name="TextBox 9"/>
          <p:cNvSpPr txBox="1"/>
          <p:nvPr/>
        </p:nvSpPr>
        <p:spPr>
          <a:xfrm>
            <a:off x="905256" y="3721607"/>
            <a:ext cx="4361688" cy="731520"/>
          </a:xfrm>
          <a:prstGeom prst="rect">
            <a:avLst/>
          </a:prstGeom>
          <a:noFill/>
        </p:spPr>
        <p:txBody>
          <a:bodyPr wrap="square" tIns="0" lIns="0" rIns="0" bIns="0">
            <a:spAutoFit/>
          </a:bodyPr>
          <a:lstStyle/>
          <a:p>
            <a:pPr>
              <a:lnSpc>
                <a:spcPct val="110000"/>
              </a:lnSpc>
              <a:spcAft>
                <a:spcPts val="0"/>
              </a:spcAft>
              <a:defRPr sz="2100" b="0">
                <a:solidFill>
                  <a:srgbClr val="364653"/>
                </a:solidFill>
                <a:latin typeface="Segoe UI"/>
              </a:defRPr>
            </a:pPr>
            <a:r>
              <a:t>Link đứt, operand CLI</a:t>
            </a:r>
          </a:p>
        </p:txBody>
      </p:sp>
      <p:sp>
        <p:nvSpPr>
          <p:cNvPr id="11" name="Rectangle 10"/>
          <p:cNvSpPr/>
          <p:nvPr/>
        </p:nvSpPr>
        <p:spPr>
          <a:xfrm>
            <a:off x="777240" y="4480560"/>
            <a:ext cx="4617720" cy="960120"/>
          </a:xfrm>
          <a:prstGeom prst="rect">
            <a:avLst/>
          </a:prstGeom>
          <a:solidFill>
            <a:srgbClr val="FFFDFA"/>
          </a:solidFill>
          <a:ln>
            <a:noFill/>
          </a:ln>
        </p:spPr>
        <p:txBody>
          <a:bodyPr rtlCol="0" anchor="ctr"/>
          <a:lstStyle/>
          <a:p>
            <a:pPr algn="ctr"/>
          </a:p>
        </p:txBody>
      </p:sp>
      <p:sp>
        <p:nvSpPr>
          <p:cNvPr id="12" name="TextBox 11"/>
          <p:cNvSpPr txBox="1"/>
          <p:nvPr/>
        </p:nvSpPr>
        <p:spPr>
          <a:xfrm>
            <a:off x="905256" y="4681728"/>
            <a:ext cx="4361688" cy="731520"/>
          </a:xfrm>
          <a:prstGeom prst="rect">
            <a:avLst/>
          </a:prstGeom>
          <a:noFill/>
        </p:spPr>
        <p:txBody>
          <a:bodyPr wrap="square" tIns="0" lIns="0" rIns="0" bIns="0">
            <a:spAutoFit/>
          </a:bodyPr>
          <a:lstStyle/>
          <a:p>
            <a:pPr>
              <a:lnSpc>
                <a:spcPct val="110000"/>
              </a:lnSpc>
              <a:spcAft>
                <a:spcPts val="0"/>
              </a:spcAft>
              <a:defRPr sz="2100" b="0">
                <a:solidFill>
                  <a:srgbClr val="364653"/>
                </a:solidFill>
                <a:latin typeface="Segoe UI"/>
              </a:defRPr>
            </a:pPr>
            <a:r>
              <a:t>Link gặp trong thư mục -R</a:t>
            </a:r>
          </a:p>
        </p:txBody>
      </p:sp>
      <p:sp>
        <p:nvSpPr>
          <p:cNvPr id="13" name="Rectangle 12"/>
          <p:cNvSpPr/>
          <p:nvPr/>
        </p:nvSpPr>
        <p:spPr>
          <a:xfrm>
            <a:off x="5394959" y="1920240"/>
            <a:ext cx="2834640" cy="640080"/>
          </a:xfrm>
          <a:prstGeom prst="rect">
            <a:avLst/>
          </a:prstGeom>
          <a:solidFill>
            <a:srgbClr val="E6EDF1"/>
          </a:solidFill>
          <a:ln>
            <a:noFill/>
          </a:ln>
        </p:spPr>
        <p:txBody>
          <a:bodyPr rtlCol="0" anchor="ctr"/>
          <a:lstStyle/>
          <a:p>
            <a:pPr algn="ctr"/>
          </a:p>
        </p:txBody>
      </p:sp>
      <p:sp>
        <p:nvSpPr>
          <p:cNvPr id="14" name="TextBox 13"/>
          <p:cNvSpPr txBox="1"/>
          <p:nvPr/>
        </p:nvSpPr>
        <p:spPr>
          <a:xfrm>
            <a:off x="5559551" y="2084832"/>
            <a:ext cx="2505456" cy="384048"/>
          </a:xfrm>
          <a:prstGeom prst="rect">
            <a:avLst/>
          </a:prstGeom>
          <a:noFill/>
        </p:spPr>
        <p:txBody>
          <a:bodyPr wrap="square" tIns="0" lIns="0" rIns="0" bIns="0">
            <a:spAutoFit/>
          </a:bodyPr>
          <a:lstStyle/>
          <a:p>
            <a:pPr>
              <a:lnSpc>
                <a:spcPct val="110000"/>
              </a:lnSpc>
              <a:spcAft>
                <a:spcPts val="0"/>
              </a:spcAft>
              <a:defRPr sz="2100" b="1">
                <a:solidFill>
                  <a:srgbClr val="364653"/>
                </a:solidFill>
                <a:latin typeface="Segoe UI"/>
              </a:defRPr>
            </a:pPr>
            <a:r>
              <a:t>Không -l</a:t>
            </a:r>
          </a:p>
        </p:txBody>
      </p:sp>
      <p:sp>
        <p:nvSpPr>
          <p:cNvPr id="15" name="Rectangle 14"/>
          <p:cNvSpPr/>
          <p:nvPr/>
        </p:nvSpPr>
        <p:spPr>
          <a:xfrm>
            <a:off x="5394959" y="2560320"/>
            <a:ext cx="2834640" cy="960120"/>
          </a:xfrm>
          <a:prstGeom prst="rect">
            <a:avLst/>
          </a:prstGeom>
          <a:solidFill>
            <a:srgbClr val="FFFDFA"/>
          </a:solidFill>
          <a:ln>
            <a:noFill/>
          </a:ln>
        </p:spPr>
        <p:txBody>
          <a:bodyPr rtlCol="0" anchor="ctr"/>
          <a:lstStyle/>
          <a:p>
            <a:pPr algn="ctr"/>
          </a:p>
        </p:txBody>
      </p:sp>
      <p:sp>
        <p:nvSpPr>
          <p:cNvPr id="16" name="TextBox 15"/>
          <p:cNvSpPr txBox="1"/>
          <p:nvPr/>
        </p:nvSpPr>
        <p:spPr>
          <a:xfrm>
            <a:off x="5522975" y="2761488"/>
            <a:ext cx="2578608" cy="731520"/>
          </a:xfrm>
          <a:prstGeom prst="rect">
            <a:avLst/>
          </a:prstGeom>
          <a:noFill/>
        </p:spPr>
        <p:txBody>
          <a:bodyPr wrap="square" tIns="0" lIns="0" rIns="0" bIns="0">
            <a:spAutoFit/>
          </a:bodyPr>
          <a:lstStyle/>
          <a:p>
            <a:pPr>
              <a:lnSpc>
                <a:spcPct val="110000"/>
              </a:lnSpc>
              <a:spcAft>
                <a:spcPts val="0"/>
              </a:spcAft>
              <a:defRPr sz="2100" b="0">
                <a:solidFill>
                  <a:srgbClr val="364653"/>
                </a:solidFill>
                <a:latin typeface="Segoe UI"/>
              </a:defRPr>
            </a:pPr>
            <a:r>
              <a:t>Liệt kê nội dung đích</a:t>
            </a:r>
          </a:p>
        </p:txBody>
      </p:sp>
      <p:sp>
        <p:nvSpPr>
          <p:cNvPr id="17" name="Rectangle 16"/>
          <p:cNvSpPr/>
          <p:nvPr/>
        </p:nvSpPr>
        <p:spPr>
          <a:xfrm>
            <a:off x="5394959" y="3520439"/>
            <a:ext cx="2834640" cy="960120"/>
          </a:xfrm>
          <a:prstGeom prst="rect">
            <a:avLst/>
          </a:prstGeom>
          <a:solidFill>
            <a:srgbClr val="E7EDE1"/>
          </a:solidFill>
          <a:ln>
            <a:noFill/>
          </a:ln>
        </p:spPr>
        <p:txBody>
          <a:bodyPr rtlCol="0" anchor="ctr"/>
          <a:lstStyle/>
          <a:p>
            <a:pPr algn="ctr"/>
          </a:p>
        </p:txBody>
      </p:sp>
      <p:sp>
        <p:nvSpPr>
          <p:cNvPr id="18" name="TextBox 17"/>
          <p:cNvSpPr txBox="1"/>
          <p:nvPr/>
        </p:nvSpPr>
        <p:spPr>
          <a:xfrm>
            <a:off x="5522975" y="3721607"/>
            <a:ext cx="2578608" cy="731520"/>
          </a:xfrm>
          <a:prstGeom prst="rect">
            <a:avLst/>
          </a:prstGeom>
          <a:noFill/>
        </p:spPr>
        <p:txBody>
          <a:bodyPr wrap="square" tIns="0" lIns="0" rIns="0" bIns="0">
            <a:spAutoFit/>
          </a:bodyPr>
          <a:lstStyle/>
          <a:p>
            <a:pPr>
              <a:lnSpc>
                <a:spcPct val="110000"/>
              </a:lnSpc>
              <a:spcAft>
                <a:spcPts val="0"/>
              </a:spcAft>
              <a:defRPr sz="2100" b="0">
                <a:solidFill>
                  <a:srgbClr val="364653"/>
                </a:solidFill>
                <a:latin typeface="Segoe UI"/>
              </a:defRPr>
            </a:pPr>
            <a:r>
              <a:t>In tên link</a:t>
            </a:r>
          </a:p>
        </p:txBody>
      </p:sp>
      <p:sp>
        <p:nvSpPr>
          <p:cNvPr id="19" name="Rectangle 18"/>
          <p:cNvSpPr/>
          <p:nvPr/>
        </p:nvSpPr>
        <p:spPr>
          <a:xfrm>
            <a:off x="5394959" y="4480560"/>
            <a:ext cx="2834640" cy="960120"/>
          </a:xfrm>
          <a:prstGeom prst="rect">
            <a:avLst/>
          </a:prstGeom>
          <a:solidFill>
            <a:srgbClr val="FFFDFA"/>
          </a:solidFill>
          <a:ln>
            <a:noFill/>
          </a:ln>
        </p:spPr>
        <p:txBody>
          <a:bodyPr rtlCol="0" anchor="ctr"/>
          <a:lstStyle/>
          <a:p>
            <a:pPr algn="ctr"/>
          </a:p>
        </p:txBody>
      </p:sp>
      <p:sp>
        <p:nvSpPr>
          <p:cNvPr id="20" name="TextBox 19"/>
          <p:cNvSpPr txBox="1"/>
          <p:nvPr/>
        </p:nvSpPr>
        <p:spPr>
          <a:xfrm>
            <a:off x="5522975" y="4681728"/>
            <a:ext cx="2578608" cy="731520"/>
          </a:xfrm>
          <a:prstGeom prst="rect">
            <a:avLst/>
          </a:prstGeom>
          <a:noFill/>
        </p:spPr>
        <p:txBody>
          <a:bodyPr wrap="square" tIns="0" lIns="0" rIns="0" bIns="0">
            <a:spAutoFit/>
          </a:bodyPr>
          <a:lstStyle/>
          <a:p>
            <a:pPr>
              <a:lnSpc>
                <a:spcPct val="110000"/>
              </a:lnSpc>
              <a:spcAft>
                <a:spcPts val="300"/>
              </a:spcAft>
              <a:defRPr sz="2100" b="0">
                <a:solidFill>
                  <a:srgbClr val="364653"/>
                </a:solidFill>
                <a:latin typeface="Segoe UI"/>
              </a:defRPr>
            </a:pPr>
            <a:r>
              <a:t>Chỉ in tên;</a:t>
            </a:r>
          </a:p>
          <a:p>
            <a:pPr>
              <a:lnSpc>
                <a:spcPct val="110000"/>
              </a:lnSpc>
              <a:spcAft>
                <a:spcPts val="0"/>
              </a:spcAft>
              <a:defRPr sz="2100" b="0">
                <a:solidFill>
                  <a:srgbClr val="364653"/>
                </a:solidFill>
                <a:latin typeface="Segoe UI"/>
              </a:defRPr>
            </a:pPr>
            <a:r>
              <a:t>không đệ quy</a:t>
            </a:r>
          </a:p>
        </p:txBody>
      </p:sp>
      <p:sp>
        <p:nvSpPr>
          <p:cNvPr id="21" name="Rectangle 20"/>
          <p:cNvSpPr/>
          <p:nvPr/>
        </p:nvSpPr>
        <p:spPr>
          <a:xfrm>
            <a:off x="8229600" y="1920240"/>
            <a:ext cx="3136392" cy="640080"/>
          </a:xfrm>
          <a:prstGeom prst="rect">
            <a:avLst/>
          </a:prstGeom>
          <a:solidFill>
            <a:srgbClr val="E6EDF1"/>
          </a:solidFill>
          <a:ln>
            <a:noFill/>
          </a:ln>
        </p:spPr>
        <p:txBody>
          <a:bodyPr rtlCol="0" anchor="ctr"/>
          <a:lstStyle/>
          <a:p>
            <a:pPr algn="ctr"/>
          </a:p>
        </p:txBody>
      </p:sp>
      <p:sp>
        <p:nvSpPr>
          <p:cNvPr id="22" name="TextBox 21"/>
          <p:cNvSpPr txBox="1"/>
          <p:nvPr/>
        </p:nvSpPr>
        <p:spPr>
          <a:xfrm>
            <a:off x="8394192" y="2084832"/>
            <a:ext cx="2807208" cy="384048"/>
          </a:xfrm>
          <a:prstGeom prst="rect">
            <a:avLst/>
          </a:prstGeom>
          <a:noFill/>
        </p:spPr>
        <p:txBody>
          <a:bodyPr wrap="square" tIns="0" lIns="0" rIns="0" bIns="0">
            <a:spAutoFit/>
          </a:bodyPr>
          <a:lstStyle/>
          <a:p>
            <a:pPr>
              <a:lnSpc>
                <a:spcPct val="110000"/>
              </a:lnSpc>
              <a:spcAft>
                <a:spcPts val="0"/>
              </a:spcAft>
              <a:defRPr sz="2100" b="1">
                <a:solidFill>
                  <a:srgbClr val="364653"/>
                </a:solidFill>
                <a:latin typeface="Segoe UI"/>
              </a:defRPr>
            </a:pPr>
            <a:r>
              <a:t>Có -l</a:t>
            </a:r>
          </a:p>
        </p:txBody>
      </p:sp>
      <p:sp>
        <p:nvSpPr>
          <p:cNvPr id="23" name="Rectangle 22"/>
          <p:cNvSpPr/>
          <p:nvPr/>
        </p:nvSpPr>
        <p:spPr>
          <a:xfrm>
            <a:off x="8229600" y="2560320"/>
            <a:ext cx="3136392" cy="960120"/>
          </a:xfrm>
          <a:prstGeom prst="rect">
            <a:avLst/>
          </a:prstGeom>
          <a:solidFill>
            <a:srgbClr val="FFFDFA"/>
          </a:solidFill>
          <a:ln>
            <a:noFill/>
          </a:ln>
        </p:spPr>
        <p:txBody>
          <a:bodyPr rtlCol="0" anchor="ctr"/>
          <a:lstStyle/>
          <a:p>
            <a:pPr algn="ctr"/>
          </a:p>
        </p:txBody>
      </p:sp>
      <p:sp>
        <p:nvSpPr>
          <p:cNvPr id="24" name="TextBox 23"/>
          <p:cNvSpPr txBox="1"/>
          <p:nvPr/>
        </p:nvSpPr>
        <p:spPr>
          <a:xfrm>
            <a:off x="8357616" y="2761488"/>
            <a:ext cx="2880360" cy="731520"/>
          </a:xfrm>
          <a:prstGeom prst="rect">
            <a:avLst/>
          </a:prstGeom>
          <a:noFill/>
        </p:spPr>
        <p:txBody>
          <a:bodyPr wrap="square" tIns="0" lIns="0" rIns="0" bIns="0">
            <a:spAutoFit/>
          </a:bodyPr>
          <a:lstStyle/>
          <a:p>
            <a:pPr>
              <a:lnSpc>
                <a:spcPct val="110000"/>
              </a:lnSpc>
              <a:spcAft>
                <a:spcPts val="0"/>
              </a:spcAft>
              <a:defRPr sz="2100" b="0">
                <a:solidFill>
                  <a:srgbClr val="364653"/>
                </a:solidFill>
                <a:latin typeface="Segoe UI"/>
              </a:defRPr>
            </a:pPr>
            <a:r>
              <a:t>In chính link</a:t>
            </a:r>
          </a:p>
        </p:txBody>
      </p:sp>
      <p:sp>
        <p:nvSpPr>
          <p:cNvPr id="25" name="Rectangle 24"/>
          <p:cNvSpPr/>
          <p:nvPr/>
        </p:nvSpPr>
        <p:spPr>
          <a:xfrm>
            <a:off x="8229600" y="3520439"/>
            <a:ext cx="3136392" cy="960120"/>
          </a:xfrm>
          <a:prstGeom prst="rect">
            <a:avLst/>
          </a:prstGeom>
          <a:solidFill>
            <a:srgbClr val="E7EDE1"/>
          </a:solidFill>
          <a:ln>
            <a:noFill/>
          </a:ln>
        </p:spPr>
        <p:txBody>
          <a:bodyPr rtlCol="0" anchor="ctr"/>
          <a:lstStyle/>
          <a:p>
            <a:pPr algn="ctr"/>
          </a:p>
        </p:txBody>
      </p:sp>
      <p:sp>
        <p:nvSpPr>
          <p:cNvPr id="26" name="TextBox 25"/>
          <p:cNvSpPr txBox="1"/>
          <p:nvPr/>
        </p:nvSpPr>
        <p:spPr>
          <a:xfrm>
            <a:off x="8357616" y="3721607"/>
            <a:ext cx="2880360" cy="731520"/>
          </a:xfrm>
          <a:prstGeom prst="rect">
            <a:avLst/>
          </a:prstGeom>
          <a:noFill/>
        </p:spPr>
        <p:txBody>
          <a:bodyPr wrap="square" tIns="0" lIns="0" rIns="0" bIns="0">
            <a:spAutoFit/>
          </a:bodyPr>
          <a:lstStyle/>
          <a:p>
            <a:pPr>
              <a:lnSpc>
                <a:spcPct val="110000"/>
              </a:lnSpc>
              <a:spcAft>
                <a:spcPts val="0"/>
              </a:spcAft>
              <a:defRPr sz="2100" b="0">
                <a:solidFill>
                  <a:srgbClr val="364653"/>
                </a:solidFill>
                <a:latin typeface="Segoe UI"/>
              </a:defRPr>
            </a:pPr>
            <a:r>
              <a:t>In link → chuỗi đích</a:t>
            </a:r>
          </a:p>
        </p:txBody>
      </p:sp>
      <p:sp>
        <p:nvSpPr>
          <p:cNvPr id="27" name="Rectangle 26"/>
          <p:cNvSpPr/>
          <p:nvPr/>
        </p:nvSpPr>
        <p:spPr>
          <a:xfrm>
            <a:off x="8229600" y="4480560"/>
            <a:ext cx="3136392" cy="960120"/>
          </a:xfrm>
          <a:prstGeom prst="rect">
            <a:avLst/>
          </a:prstGeom>
          <a:solidFill>
            <a:srgbClr val="FFFDFA"/>
          </a:solidFill>
          <a:ln>
            <a:noFill/>
          </a:ln>
        </p:spPr>
        <p:txBody>
          <a:bodyPr rtlCol="0" anchor="ctr"/>
          <a:lstStyle/>
          <a:p>
            <a:pPr algn="ctr"/>
          </a:p>
        </p:txBody>
      </p:sp>
      <p:sp>
        <p:nvSpPr>
          <p:cNvPr id="28" name="TextBox 27"/>
          <p:cNvSpPr txBox="1"/>
          <p:nvPr/>
        </p:nvSpPr>
        <p:spPr>
          <a:xfrm>
            <a:off x="8357616" y="4681728"/>
            <a:ext cx="2880360" cy="731520"/>
          </a:xfrm>
          <a:prstGeom prst="rect">
            <a:avLst/>
          </a:prstGeom>
          <a:noFill/>
        </p:spPr>
        <p:txBody>
          <a:bodyPr wrap="square" tIns="0" lIns="0" rIns="0" bIns="0">
            <a:spAutoFit/>
          </a:bodyPr>
          <a:lstStyle/>
          <a:p>
            <a:pPr>
              <a:lnSpc>
                <a:spcPct val="110000"/>
              </a:lnSpc>
              <a:spcAft>
                <a:spcPts val="300"/>
              </a:spcAft>
              <a:defRPr sz="2100" b="0">
                <a:solidFill>
                  <a:srgbClr val="364653"/>
                </a:solidFill>
                <a:latin typeface="Segoe UI"/>
              </a:defRPr>
            </a:pPr>
            <a:r>
              <a:t>In link;</a:t>
            </a:r>
          </a:p>
          <a:p>
            <a:pPr>
              <a:lnSpc>
                <a:spcPct val="110000"/>
              </a:lnSpc>
              <a:spcAft>
                <a:spcPts val="0"/>
              </a:spcAft>
              <a:defRPr sz="2100" b="0">
                <a:solidFill>
                  <a:srgbClr val="364653"/>
                </a:solidFill>
                <a:latin typeface="Segoe UI"/>
              </a:defRPr>
            </a:pPr>
            <a:r>
              <a:t>không đi xuống</a:t>
            </a:r>
          </a:p>
        </p:txBody>
      </p:sp>
      <p:sp>
        <p:nvSpPr>
          <p:cNvPr id="29" name="TextBox 28"/>
          <p:cNvSpPr txBox="1"/>
          <p:nvPr/>
        </p:nvSpPr>
        <p:spPr>
          <a:xfrm>
            <a:off x="777240" y="5852160"/>
            <a:ext cx="10607040" cy="457200"/>
          </a:xfrm>
          <a:prstGeom prst="rect">
            <a:avLst/>
          </a:prstGeom>
          <a:noFill/>
        </p:spPr>
        <p:txBody>
          <a:bodyPr wrap="square" tIns="0" lIns="0" rIns="0" bIns="0">
            <a:spAutoFit/>
          </a:bodyPr>
          <a:lstStyle/>
          <a:p>
            <a:pPr>
              <a:lnSpc>
                <a:spcPct val="110000"/>
              </a:lnSpc>
              <a:spcAft>
                <a:spcPts val="0"/>
              </a:spcAft>
              <a:defRPr sz="2300" b="1">
                <a:solidFill>
                  <a:srgbClr val="456B88"/>
                </a:solidFill>
                <a:latin typeface="Segoe UI"/>
              </a:defRPr>
            </a:pPr>
            <a:r>
              <a:t>-R không biến symlink bên trong cây thành cạnh đệ quy.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TextBox 1"/>
          <p:cNvSpPr txBox="1"/>
          <p:nvPr/>
        </p:nvSpPr>
        <p:spPr>
          <a:xfrm>
            <a:off x="749808" y="429768"/>
            <a:ext cx="10698480" cy="594360"/>
          </a:xfrm>
          <a:prstGeom prst="rect">
            <a:avLst/>
          </a:prstGeom>
          <a:noFill/>
        </p:spPr>
        <p:txBody>
          <a:bodyPr wrap="square" tIns="0" lIns="0" rIns="0" bIns="0">
            <a:spAutoFit/>
          </a:bodyPr>
          <a:lstStyle/>
          <a:p>
            <a:pPr>
              <a:lnSpc>
                <a:spcPct val="110000"/>
              </a:lnSpc>
              <a:spcAft>
                <a:spcPts val="0"/>
              </a:spcAft>
              <a:defRPr sz="3000" b="1">
                <a:solidFill>
                  <a:srgbClr val="364653"/>
                </a:solidFill>
                <a:latin typeface="Segoe UI"/>
              </a:defRPr>
            </a:pPr>
            <a:r>
              <a:t>Fault injection làm đường lỗi có thể tái lập</a:t>
            </a:r>
          </a:p>
        </p:txBody>
      </p:sp>
      <p:sp>
        <p:nvSpPr>
          <p:cNvPr id="3" name="TextBox 2"/>
          <p:cNvSpPr txBox="1"/>
          <p:nvPr/>
        </p:nvSpPr>
        <p:spPr>
          <a:xfrm>
            <a:off x="777240" y="1133856"/>
            <a:ext cx="10607040" cy="502920"/>
          </a:xfrm>
          <a:prstGeom prst="rect">
            <a:avLst/>
          </a:prstGeom>
          <a:noFill/>
        </p:spPr>
        <p:txBody>
          <a:bodyPr wrap="square" tIns="0" lIns="0" rIns="0" bIns="0">
            <a:spAutoFit/>
          </a:bodyPr>
          <a:lstStyle/>
          <a:p>
            <a:pPr>
              <a:lnSpc>
                <a:spcPct val="110000"/>
              </a:lnSpc>
              <a:spcAft>
                <a:spcPts val="0"/>
              </a:spcAft>
              <a:defRPr sz="1800" b="0">
                <a:solidFill>
                  <a:srgbClr val="5B6870"/>
                </a:solidFill>
                <a:latin typeface="Segoe UI"/>
              </a:defRPr>
            </a:pPr>
            <a:r>
              <a:t>LD_PRELOAD ép một số lời gọi thất bại theo điều kiện; kiểm cách xử lý của chương trình.</a:t>
            </a:r>
          </a:p>
        </p:txBody>
      </p:sp>
      <p:cxnSp>
        <p:nvCxnSpPr>
          <p:cNvPr id="4" name="Connector 3"/>
          <p:cNvCxnSpPr/>
          <p:nvPr/>
        </p:nvCxnSpPr>
        <p:spPr>
          <a:xfrm>
            <a:off x="10762488" y="6537960"/>
            <a:ext cx="237744" cy="0"/>
          </a:xfrm>
          <a:prstGeom prst="line">
            <a:avLst/>
          </a:prstGeom>
          <a:ln w="12700">
            <a:solidFill>
              <a:srgbClr val="D3D7D2"/>
            </a:solidFill>
          </a:ln>
        </p:spPr>
      </p:cxnSp>
      <p:sp>
        <p:nvSpPr>
          <p:cNvPr id="5" name="TextBox 4"/>
          <p:cNvSpPr txBox="1"/>
          <p:nvPr/>
        </p:nvSpPr>
        <p:spPr>
          <a:xfrm>
            <a:off x="11082528" y="6419088"/>
            <a:ext cx="411480" cy="274320"/>
          </a:xfrm>
          <a:prstGeom prst="rect">
            <a:avLst/>
          </a:prstGeom>
          <a:noFill/>
        </p:spPr>
        <p:txBody>
          <a:bodyPr wrap="square" tIns="0" lIns="0" rIns="0" bIns="0">
            <a:spAutoFit/>
          </a:bodyPr>
          <a:lstStyle/>
          <a:p>
            <a:pPr algn="ctr">
              <a:lnSpc>
                <a:spcPct val="110000"/>
              </a:lnSpc>
              <a:spcAft>
                <a:spcPts val="0"/>
              </a:spcAft>
              <a:defRPr sz="1000" b="0">
                <a:solidFill>
                  <a:srgbClr val="5B6870"/>
                </a:solidFill>
                <a:latin typeface="Segoe UI"/>
              </a:defRPr>
            </a:pPr>
            <a:r>
              <a:t>20</a:t>
            </a:r>
          </a:p>
        </p:txBody>
      </p:sp>
      <p:sp>
        <p:nvSpPr>
          <p:cNvPr id="6" name="Rectangle 5"/>
          <p:cNvSpPr/>
          <p:nvPr/>
        </p:nvSpPr>
        <p:spPr>
          <a:xfrm>
            <a:off x="777240" y="2011680"/>
            <a:ext cx="3749039" cy="685800"/>
          </a:xfrm>
          <a:prstGeom prst="rect">
            <a:avLst/>
          </a:prstGeom>
          <a:solidFill>
            <a:srgbClr val="E6EDF1"/>
          </a:solidFill>
          <a:ln>
            <a:noFill/>
          </a:ln>
        </p:spPr>
        <p:txBody>
          <a:bodyPr rtlCol="0" anchor="ctr"/>
          <a:lstStyle/>
          <a:p>
            <a:pPr algn="ctr"/>
          </a:p>
        </p:txBody>
      </p:sp>
      <p:sp>
        <p:nvSpPr>
          <p:cNvPr id="7" name="TextBox 6"/>
          <p:cNvSpPr txBox="1"/>
          <p:nvPr/>
        </p:nvSpPr>
        <p:spPr>
          <a:xfrm>
            <a:off x="960120" y="2194560"/>
            <a:ext cx="3383280" cy="384048"/>
          </a:xfrm>
          <a:prstGeom prst="rect">
            <a:avLst/>
          </a:prstGeom>
          <a:noFill/>
        </p:spPr>
        <p:txBody>
          <a:bodyPr wrap="square" tIns="0" lIns="0" rIns="0" bIns="0">
            <a:spAutoFit/>
          </a:bodyPr>
          <a:lstStyle/>
          <a:p>
            <a:pPr>
              <a:lnSpc>
                <a:spcPct val="110000"/>
              </a:lnSpc>
              <a:spcAft>
                <a:spcPts val="0"/>
              </a:spcAft>
              <a:defRPr sz="2300" b="1">
                <a:solidFill>
                  <a:srgbClr val="456B88"/>
                </a:solidFill>
                <a:latin typeface="Consolas"/>
              </a:defRPr>
            </a:pPr>
            <a:r>
              <a:t>readdir / closedir</a:t>
            </a:r>
          </a:p>
        </p:txBody>
      </p:sp>
      <p:sp>
        <p:nvSpPr>
          <p:cNvPr id="8" name="Right Arrow 7"/>
          <p:cNvSpPr/>
          <p:nvPr/>
        </p:nvSpPr>
        <p:spPr>
          <a:xfrm>
            <a:off x="4782312" y="2240280"/>
            <a:ext cx="731520" cy="201168"/>
          </a:xfrm>
          <a:prstGeom prst="rightArrow">
            <a:avLst/>
          </a:prstGeom>
          <a:solidFill>
            <a:srgbClr val="456B88"/>
          </a:solidFill>
          <a:ln>
            <a:noFill/>
          </a:ln>
        </p:spPr>
        <p:txBody>
          <a:bodyPr rtlCol="0" anchor="ctr"/>
          <a:lstStyle/>
          <a:p>
            <a:pPr algn="ctr"/>
          </a:p>
        </p:txBody>
      </p:sp>
      <p:sp>
        <p:nvSpPr>
          <p:cNvPr id="9" name="TextBox 8"/>
          <p:cNvSpPr txBox="1"/>
          <p:nvPr/>
        </p:nvSpPr>
        <p:spPr>
          <a:xfrm>
            <a:off x="5852160" y="2057400"/>
            <a:ext cx="5440680" cy="731520"/>
          </a:xfrm>
          <a:prstGeom prst="rect">
            <a:avLst/>
          </a:prstGeom>
          <a:noFill/>
        </p:spPr>
        <p:txBody>
          <a:bodyPr wrap="square" tIns="0" lIns="0" rIns="0" bIns="0">
            <a:spAutoFit/>
          </a:bodyPr>
          <a:lstStyle/>
          <a:p>
            <a:pPr>
              <a:lnSpc>
                <a:spcPct val="110000"/>
              </a:lnSpc>
              <a:spcAft>
                <a:spcPts val="0"/>
              </a:spcAft>
              <a:defRPr sz="2300" b="0">
                <a:solidFill>
                  <a:srgbClr val="364653"/>
                </a:solidFill>
                <a:latin typeface="Segoe UI"/>
              </a:defRPr>
            </a:pPr>
            <a:r>
              <a:t>Báo lỗi; giữ mức exit phù hợp</a:t>
            </a:r>
          </a:p>
        </p:txBody>
      </p:sp>
      <p:sp>
        <p:nvSpPr>
          <p:cNvPr id="10" name="Rectangle 9"/>
          <p:cNvSpPr/>
          <p:nvPr/>
        </p:nvSpPr>
        <p:spPr>
          <a:xfrm>
            <a:off x="777240" y="3182112"/>
            <a:ext cx="3749039" cy="685800"/>
          </a:xfrm>
          <a:prstGeom prst="rect">
            <a:avLst/>
          </a:prstGeom>
          <a:solidFill>
            <a:srgbClr val="E7EDE1"/>
          </a:solidFill>
          <a:ln>
            <a:noFill/>
          </a:ln>
        </p:spPr>
        <p:txBody>
          <a:bodyPr rtlCol="0" anchor="ctr"/>
          <a:lstStyle/>
          <a:p>
            <a:pPr algn="ctr"/>
          </a:p>
        </p:txBody>
      </p:sp>
      <p:sp>
        <p:nvSpPr>
          <p:cNvPr id="11" name="TextBox 10"/>
          <p:cNvSpPr txBox="1"/>
          <p:nvPr/>
        </p:nvSpPr>
        <p:spPr>
          <a:xfrm>
            <a:off x="960120" y="3364992"/>
            <a:ext cx="3383280" cy="384048"/>
          </a:xfrm>
          <a:prstGeom prst="rect">
            <a:avLst/>
          </a:prstGeom>
          <a:noFill/>
        </p:spPr>
        <p:txBody>
          <a:bodyPr wrap="square" tIns="0" lIns="0" rIns="0" bIns="0">
            <a:spAutoFit/>
          </a:bodyPr>
          <a:lstStyle/>
          <a:p>
            <a:pPr>
              <a:lnSpc>
                <a:spcPct val="110000"/>
              </a:lnSpc>
              <a:spcAft>
                <a:spcPts val="0"/>
              </a:spcAft>
              <a:defRPr sz="2300" b="1">
                <a:solidFill>
                  <a:srgbClr val="5C7359"/>
                </a:solidFill>
                <a:latin typeface="Consolas"/>
              </a:defRPr>
            </a:pPr>
            <a:r>
              <a:t>readlink / realloc</a:t>
            </a:r>
          </a:p>
        </p:txBody>
      </p:sp>
      <p:sp>
        <p:nvSpPr>
          <p:cNvPr id="12" name="Right Arrow 11"/>
          <p:cNvSpPr/>
          <p:nvPr/>
        </p:nvSpPr>
        <p:spPr>
          <a:xfrm>
            <a:off x="4782312" y="3410712"/>
            <a:ext cx="731520" cy="201168"/>
          </a:xfrm>
          <a:prstGeom prst="rightArrow">
            <a:avLst/>
          </a:prstGeom>
          <a:solidFill>
            <a:srgbClr val="5C7359"/>
          </a:solidFill>
          <a:ln>
            <a:noFill/>
          </a:ln>
        </p:spPr>
        <p:txBody>
          <a:bodyPr rtlCol="0" anchor="ctr"/>
          <a:lstStyle/>
          <a:p>
            <a:pPr algn="ctr"/>
          </a:p>
        </p:txBody>
      </p:sp>
      <p:sp>
        <p:nvSpPr>
          <p:cNvPr id="13" name="TextBox 12"/>
          <p:cNvSpPr txBox="1"/>
          <p:nvPr/>
        </p:nvSpPr>
        <p:spPr>
          <a:xfrm>
            <a:off x="5852160" y="3227832"/>
            <a:ext cx="5440680" cy="731520"/>
          </a:xfrm>
          <a:prstGeom prst="rect">
            <a:avLst/>
          </a:prstGeom>
          <a:noFill/>
        </p:spPr>
        <p:txBody>
          <a:bodyPr wrap="square" tIns="0" lIns="0" rIns="0" bIns="0">
            <a:spAutoFit/>
          </a:bodyPr>
          <a:lstStyle/>
          <a:p>
            <a:pPr>
              <a:lnSpc>
                <a:spcPct val="110000"/>
              </a:lnSpc>
              <a:spcAft>
                <a:spcPts val="0"/>
              </a:spcAft>
              <a:defRPr sz="2300" b="0">
                <a:solidFill>
                  <a:srgbClr val="364653"/>
                </a:solidFill>
                <a:latin typeface="Segoe UI"/>
              </a:defRPr>
            </a:pPr>
            <a:r>
              <a:t>Dọn dữ liệu dở; không crash</a:t>
            </a:r>
          </a:p>
        </p:txBody>
      </p:sp>
      <p:sp>
        <p:nvSpPr>
          <p:cNvPr id="14" name="Rectangle 13"/>
          <p:cNvSpPr/>
          <p:nvPr/>
        </p:nvSpPr>
        <p:spPr>
          <a:xfrm>
            <a:off x="777240" y="4352544"/>
            <a:ext cx="3749039" cy="685800"/>
          </a:xfrm>
          <a:prstGeom prst="rect">
            <a:avLst/>
          </a:prstGeom>
          <a:solidFill>
            <a:srgbClr val="F1E3D8"/>
          </a:solidFill>
          <a:ln>
            <a:noFill/>
          </a:ln>
        </p:spPr>
        <p:txBody>
          <a:bodyPr rtlCol="0" anchor="ctr"/>
          <a:lstStyle/>
          <a:p>
            <a:pPr algn="ctr"/>
          </a:p>
        </p:txBody>
      </p:sp>
      <p:sp>
        <p:nvSpPr>
          <p:cNvPr id="15" name="TextBox 14"/>
          <p:cNvSpPr txBox="1"/>
          <p:nvPr/>
        </p:nvSpPr>
        <p:spPr>
          <a:xfrm>
            <a:off x="960120" y="4535424"/>
            <a:ext cx="3383280" cy="384048"/>
          </a:xfrm>
          <a:prstGeom prst="rect">
            <a:avLst/>
          </a:prstGeom>
          <a:noFill/>
        </p:spPr>
        <p:txBody>
          <a:bodyPr wrap="square" tIns="0" lIns="0" rIns="0" bIns="0">
            <a:spAutoFit/>
          </a:bodyPr>
          <a:lstStyle/>
          <a:p>
            <a:pPr>
              <a:lnSpc>
                <a:spcPct val="110000"/>
              </a:lnSpc>
              <a:spcAft>
                <a:spcPts val="0"/>
              </a:spcAft>
              <a:defRPr sz="2300" b="1">
                <a:solidFill>
                  <a:srgbClr val="9B624B"/>
                </a:solidFill>
                <a:latin typeface="Consolas"/>
              </a:defRPr>
            </a:pPr>
            <a:r>
              <a:t>/dev/full (stdout)</a:t>
            </a:r>
          </a:p>
        </p:txBody>
      </p:sp>
      <p:sp>
        <p:nvSpPr>
          <p:cNvPr id="16" name="Right Arrow 15"/>
          <p:cNvSpPr/>
          <p:nvPr/>
        </p:nvSpPr>
        <p:spPr>
          <a:xfrm>
            <a:off x="4782312" y="4581144"/>
            <a:ext cx="731520" cy="201168"/>
          </a:xfrm>
          <a:prstGeom prst="rightArrow">
            <a:avLst/>
          </a:prstGeom>
          <a:solidFill>
            <a:srgbClr val="9B624B"/>
          </a:solidFill>
          <a:ln>
            <a:noFill/>
          </a:ln>
        </p:spPr>
        <p:txBody>
          <a:bodyPr rtlCol="0" anchor="ctr"/>
          <a:lstStyle/>
          <a:p>
            <a:pPr algn="ctr"/>
          </a:p>
        </p:txBody>
      </p:sp>
      <p:sp>
        <p:nvSpPr>
          <p:cNvPr id="17" name="TextBox 16"/>
          <p:cNvSpPr txBox="1"/>
          <p:nvPr/>
        </p:nvSpPr>
        <p:spPr>
          <a:xfrm>
            <a:off x="5852160" y="4398264"/>
            <a:ext cx="5440680" cy="731520"/>
          </a:xfrm>
          <a:prstGeom prst="rect">
            <a:avLst/>
          </a:prstGeom>
          <a:noFill/>
        </p:spPr>
        <p:txBody>
          <a:bodyPr wrap="square" tIns="0" lIns="0" rIns="0" bIns="0">
            <a:spAutoFit/>
          </a:bodyPr>
          <a:lstStyle/>
          <a:p>
            <a:pPr>
              <a:lnSpc>
                <a:spcPct val="110000"/>
              </a:lnSpc>
              <a:spcAft>
                <a:spcPts val="0"/>
              </a:spcAft>
              <a:defRPr sz="2300" b="0">
                <a:solidFill>
                  <a:srgbClr val="364653"/>
                </a:solidFill>
                <a:latin typeface="Segoe UI"/>
              </a:defRPr>
            </a:pPr>
            <a:r>
              <a:t>Phát hiện lỗi ghi và flush; exit 2</a:t>
            </a:r>
          </a:p>
        </p:txBody>
      </p:sp>
      <p:sp>
        <p:nvSpPr>
          <p:cNvPr id="18" name="TextBox 17"/>
          <p:cNvSpPr txBox="1"/>
          <p:nvPr/>
        </p:nvSpPr>
        <p:spPr>
          <a:xfrm>
            <a:off x="777240" y="5879592"/>
            <a:ext cx="10607040" cy="365760"/>
          </a:xfrm>
          <a:prstGeom prst="rect">
            <a:avLst/>
          </a:prstGeom>
          <a:noFill/>
        </p:spPr>
        <p:txBody>
          <a:bodyPr wrap="square" tIns="0" lIns="0" rIns="0" bIns="0">
            <a:spAutoFit/>
          </a:bodyPr>
          <a:lstStyle/>
          <a:p>
            <a:pPr>
              <a:lnSpc>
                <a:spcPct val="110000"/>
              </a:lnSpc>
              <a:spcAft>
                <a:spcPts val="0"/>
              </a:spcAft>
              <a:defRPr sz="1900" b="1">
                <a:solidFill>
                  <a:srgbClr val="456B88"/>
                </a:solidFill>
                <a:latin typeface="Segoe UI"/>
              </a:defRPr>
            </a:pPr>
            <a:r>
              <a:t>Helper nội bộ: bit quyền, device, total, overflow; cũng được build với sanitizer.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TextBox 1"/>
          <p:cNvSpPr txBox="1"/>
          <p:nvPr/>
        </p:nvSpPr>
        <p:spPr>
          <a:xfrm>
            <a:off x="749808" y="429768"/>
            <a:ext cx="10698480" cy="594360"/>
          </a:xfrm>
          <a:prstGeom prst="rect">
            <a:avLst/>
          </a:prstGeom>
          <a:noFill/>
        </p:spPr>
        <p:txBody>
          <a:bodyPr wrap="square" tIns="0" lIns="0" rIns="0" bIns="0">
            <a:spAutoFit/>
          </a:bodyPr>
          <a:lstStyle/>
          <a:p>
            <a:pPr>
              <a:lnSpc>
                <a:spcPct val="110000"/>
              </a:lnSpc>
              <a:spcAft>
                <a:spcPts val="0"/>
              </a:spcAft>
              <a:defRPr sz="3000" b="1">
                <a:solidFill>
                  <a:srgbClr val="364653"/>
                </a:solidFill>
                <a:latin typeface="Segoe UI"/>
              </a:defRPr>
            </a:pPr>
            <a:r>
              <a:t>Chạy trên WSL: chọn đúng nơi tạo fixture</a:t>
            </a:r>
          </a:p>
        </p:txBody>
      </p:sp>
      <p:cxnSp>
        <p:nvCxnSpPr>
          <p:cNvPr id="3" name="Connector 2"/>
          <p:cNvCxnSpPr/>
          <p:nvPr/>
        </p:nvCxnSpPr>
        <p:spPr>
          <a:xfrm>
            <a:off x="10762488" y="6537960"/>
            <a:ext cx="237744" cy="0"/>
          </a:xfrm>
          <a:prstGeom prst="line">
            <a:avLst/>
          </a:prstGeom>
          <a:ln w="12700">
            <a:solidFill>
              <a:srgbClr val="D3D7D2"/>
            </a:solidFill>
          </a:ln>
        </p:spPr>
      </p:cxnSp>
      <p:sp>
        <p:nvSpPr>
          <p:cNvPr id="4" name="TextBox 3"/>
          <p:cNvSpPr txBox="1"/>
          <p:nvPr/>
        </p:nvSpPr>
        <p:spPr>
          <a:xfrm>
            <a:off x="11082528" y="6419088"/>
            <a:ext cx="411480" cy="274320"/>
          </a:xfrm>
          <a:prstGeom prst="rect">
            <a:avLst/>
          </a:prstGeom>
          <a:noFill/>
        </p:spPr>
        <p:txBody>
          <a:bodyPr wrap="square" tIns="0" lIns="0" rIns="0" bIns="0">
            <a:spAutoFit/>
          </a:bodyPr>
          <a:lstStyle/>
          <a:p>
            <a:pPr algn="ctr">
              <a:lnSpc>
                <a:spcPct val="110000"/>
              </a:lnSpc>
              <a:spcAft>
                <a:spcPts val="0"/>
              </a:spcAft>
              <a:defRPr sz="1000" b="0">
                <a:solidFill>
                  <a:srgbClr val="5B6870"/>
                </a:solidFill>
                <a:latin typeface="Segoe UI"/>
              </a:defRPr>
            </a:pPr>
            <a:r>
              <a:t>21</a:t>
            </a:r>
          </a:p>
        </p:txBody>
      </p:sp>
      <p:sp>
        <p:nvSpPr>
          <p:cNvPr id="5" name="Rectangle 4"/>
          <p:cNvSpPr/>
          <p:nvPr/>
        </p:nvSpPr>
        <p:spPr>
          <a:xfrm>
            <a:off x="868680" y="1865376"/>
            <a:ext cx="2377440" cy="822960"/>
          </a:xfrm>
          <a:prstGeom prst="rect">
            <a:avLst/>
          </a:prstGeom>
          <a:solidFill>
            <a:srgbClr val="E7EDE1"/>
          </a:solidFill>
          <a:ln>
            <a:noFill/>
          </a:ln>
        </p:spPr>
        <p:txBody>
          <a:bodyPr rtlCol="0" anchor="ctr"/>
          <a:lstStyle/>
          <a:p>
            <a:pPr algn="ctr"/>
          </a:p>
        </p:txBody>
      </p:sp>
      <p:sp>
        <p:nvSpPr>
          <p:cNvPr id="6" name="Rectangle 5"/>
          <p:cNvSpPr/>
          <p:nvPr/>
        </p:nvSpPr>
        <p:spPr>
          <a:xfrm>
            <a:off x="1097280" y="1947672"/>
            <a:ext cx="537667" cy="137160"/>
          </a:xfrm>
          <a:prstGeom prst="rect">
            <a:avLst/>
          </a:prstGeom>
          <a:solidFill>
            <a:srgbClr val="5C7359"/>
          </a:solidFill>
          <a:ln>
            <a:noFill/>
          </a:ln>
        </p:spPr>
        <p:txBody>
          <a:bodyPr rtlCol="0" anchor="ctr"/>
          <a:lstStyle/>
          <a:p>
            <a:pPr algn="ctr"/>
          </a:p>
        </p:txBody>
      </p:sp>
      <p:sp>
        <p:nvSpPr>
          <p:cNvPr id="7" name="Rectangle 6"/>
          <p:cNvSpPr/>
          <p:nvPr/>
        </p:nvSpPr>
        <p:spPr>
          <a:xfrm>
            <a:off x="1097280" y="2057400"/>
            <a:ext cx="1280160" cy="530352"/>
          </a:xfrm>
          <a:prstGeom prst="rect">
            <a:avLst/>
          </a:prstGeom>
          <a:solidFill>
            <a:srgbClr val="5C7359"/>
          </a:solidFill>
          <a:ln>
            <a:noFill/>
          </a:ln>
        </p:spPr>
        <p:txBody>
          <a:bodyPr rtlCol="0" anchor="ctr"/>
          <a:lstStyle/>
          <a:p>
            <a:pPr algn="ctr"/>
          </a:p>
        </p:txBody>
      </p:sp>
      <p:sp>
        <p:nvSpPr>
          <p:cNvPr id="8" name="Rectangle 7"/>
          <p:cNvSpPr/>
          <p:nvPr/>
        </p:nvSpPr>
        <p:spPr>
          <a:xfrm>
            <a:off x="2606040" y="2011680"/>
            <a:ext cx="365760" cy="475488"/>
          </a:xfrm>
          <a:prstGeom prst="rect">
            <a:avLst/>
          </a:prstGeom>
          <a:solidFill>
            <a:srgbClr val="FFFDFA"/>
          </a:solidFill>
          <a:ln w="12700">
            <a:solidFill>
              <a:srgbClr val="5C7359"/>
            </a:solidFill>
          </a:ln>
        </p:spPr>
        <p:txBody>
          <a:bodyPr rtlCol="0" anchor="ctr"/>
          <a:lstStyle/>
          <a:p>
            <a:pPr algn="ctr"/>
          </a:p>
        </p:txBody>
      </p:sp>
      <p:cxnSp>
        <p:nvCxnSpPr>
          <p:cNvPr id="9" name="Connector 8"/>
          <p:cNvCxnSpPr/>
          <p:nvPr/>
        </p:nvCxnSpPr>
        <p:spPr>
          <a:xfrm>
            <a:off x="1920240" y="2487168"/>
            <a:ext cx="603504" cy="0"/>
          </a:xfrm>
          <a:prstGeom prst="line">
            <a:avLst/>
          </a:prstGeom>
          <a:ln w="15240">
            <a:solidFill>
              <a:srgbClr val="5C7359"/>
            </a:solidFill>
          </a:ln>
        </p:spPr>
      </p:cxnSp>
      <p:sp>
        <p:nvSpPr>
          <p:cNvPr id="10" name="TextBox 9"/>
          <p:cNvSpPr txBox="1"/>
          <p:nvPr/>
        </p:nvSpPr>
        <p:spPr>
          <a:xfrm>
            <a:off x="777240" y="3108960"/>
            <a:ext cx="4937760" cy="594360"/>
          </a:xfrm>
          <a:prstGeom prst="rect">
            <a:avLst/>
          </a:prstGeom>
          <a:noFill/>
        </p:spPr>
        <p:txBody>
          <a:bodyPr wrap="square" tIns="0" lIns="0" rIns="0" bIns="0">
            <a:spAutoFit/>
          </a:bodyPr>
          <a:lstStyle/>
          <a:p>
            <a:pPr>
              <a:lnSpc>
                <a:spcPct val="110000"/>
              </a:lnSpc>
              <a:spcAft>
                <a:spcPts val="0"/>
              </a:spcAft>
              <a:defRPr sz="2800" b="1">
                <a:solidFill>
                  <a:srgbClr val="5C7359"/>
                </a:solidFill>
                <a:latin typeface="Segoe UI"/>
              </a:defRPr>
            </a:pPr>
            <a:r>
              <a:t>/tmp · Linux filesystem</a:t>
            </a:r>
          </a:p>
        </p:txBody>
      </p:sp>
      <p:sp>
        <p:nvSpPr>
          <p:cNvPr id="11" name="TextBox 10"/>
          <p:cNvSpPr txBox="1"/>
          <p:nvPr/>
        </p:nvSpPr>
        <p:spPr>
          <a:xfrm>
            <a:off x="777240" y="3977639"/>
            <a:ext cx="4937760" cy="1463040"/>
          </a:xfrm>
          <a:prstGeom prst="rect">
            <a:avLst/>
          </a:prstGeom>
          <a:noFill/>
        </p:spPr>
        <p:txBody>
          <a:bodyPr wrap="square" tIns="0" lIns="0" rIns="0" bIns="0">
            <a:spAutoFit/>
          </a:bodyPr>
          <a:lstStyle/>
          <a:p>
            <a:pPr>
              <a:lnSpc>
                <a:spcPct val="110000"/>
              </a:lnSpc>
              <a:spcAft>
                <a:spcPts val="300"/>
              </a:spcAft>
              <a:defRPr sz="2400" b="0">
                <a:solidFill>
                  <a:srgbClr val="364653"/>
                </a:solidFill>
                <a:latin typeface="Segoe UI"/>
              </a:defRPr>
            </a:pPr>
            <a:r>
              <a:t>Fixture tự động ở đây.</a:t>
            </a:r>
          </a:p>
          <a:p>
            <a:pPr>
              <a:lnSpc>
                <a:spcPct val="110000"/>
              </a:lnSpc>
              <a:spcAft>
                <a:spcPts val="300"/>
              </a:spcAft>
              <a:defRPr sz="2400" b="0">
                <a:solidFill>
                  <a:srgbClr val="364653"/>
                </a:solidFill>
                <a:latin typeface="Segoe UI"/>
              </a:defRPr>
            </a:pPr>
            <a:r>
              <a:t>chmod, symlink và special bits</a:t>
            </a:r>
          </a:p>
          <a:p>
            <a:pPr>
              <a:lnSpc>
                <a:spcPct val="110000"/>
              </a:lnSpc>
              <a:spcAft>
                <a:spcPts val="0"/>
              </a:spcAft>
              <a:defRPr sz="2400" b="0">
                <a:solidFill>
                  <a:srgbClr val="364653"/>
                </a:solidFill>
                <a:latin typeface="Segoe UI"/>
              </a:defRPr>
            </a:pPr>
            <a:r>
              <a:t>được thử trên môi trường Linux.</a:t>
            </a:r>
          </a:p>
        </p:txBody>
      </p:sp>
      <p:sp>
        <p:nvSpPr>
          <p:cNvPr id="12" name="Rectangle 11"/>
          <p:cNvSpPr/>
          <p:nvPr/>
        </p:nvSpPr>
        <p:spPr>
          <a:xfrm>
            <a:off x="6492240" y="1865376"/>
            <a:ext cx="2377440" cy="822960"/>
          </a:xfrm>
          <a:prstGeom prst="rect">
            <a:avLst/>
          </a:prstGeom>
          <a:solidFill>
            <a:srgbClr val="E6EDF1"/>
          </a:solidFill>
          <a:ln>
            <a:noFill/>
          </a:ln>
        </p:spPr>
        <p:txBody>
          <a:bodyPr rtlCol="0" anchor="ctr"/>
          <a:lstStyle/>
          <a:p>
            <a:pPr algn="ctr"/>
          </a:p>
        </p:txBody>
      </p:sp>
      <p:sp>
        <p:nvSpPr>
          <p:cNvPr id="13" name="Rectangle 12"/>
          <p:cNvSpPr/>
          <p:nvPr/>
        </p:nvSpPr>
        <p:spPr>
          <a:xfrm>
            <a:off x="6720840" y="1947672"/>
            <a:ext cx="537667" cy="137160"/>
          </a:xfrm>
          <a:prstGeom prst="rect">
            <a:avLst/>
          </a:prstGeom>
          <a:solidFill>
            <a:srgbClr val="456B88"/>
          </a:solidFill>
          <a:ln>
            <a:noFill/>
          </a:ln>
        </p:spPr>
        <p:txBody>
          <a:bodyPr rtlCol="0" anchor="ctr"/>
          <a:lstStyle/>
          <a:p>
            <a:pPr algn="ctr"/>
          </a:p>
        </p:txBody>
      </p:sp>
      <p:sp>
        <p:nvSpPr>
          <p:cNvPr id="14" name="Rectangle 13"/>
          <p:cNvSpPr/>
          <p:nvPr/>
        </p:nvSpPr>
        <p:spPr>
          <a:xfrm>
            <a:off x="6720840" y="2057400"/>
            <a:ext cx="1280160" cy="530352"/>
          </a:xfrm>
          <a:prstGeom prst="rect">
            <a:avLst/>
          </a:prstGeom>
          <a:solidFill>
            <a:srgbClr val="456B88"/>
          </a:solidFill>
          <a:ln>
            <a:noFill/>
          </a:ln>
        </p:spPr>
        <p:txBody>
          <a:bodyPr rtlCol="0" anchor="ctr"/>
          <a:lstStyle/>
          <a:p>
            <a:pPr algn="ctr"/>
          </a:p>
        </p:txBody>
      </p:sp>
      <p:sp>
        <p:nvSpPr>
          <p:cNvPr id="15" name="Rectangle 14"/>
          <p:cNvSpPr/>
          <p:nvPr/>
        </p:nvSpPr>
        <p:spPr>
          <a:xfrm>
            <a:off x="8229600" y="2011680"/>
            <a:ext cx="365760" cy="475488"/>
          </a:xfrm>
          <a:prstGeom prst="rect">
            <a:avLst/>
          </a:prstGeom>
          <a:solidFill>
            <a:srgbClr val="FFFDFA"/>
          </a:solidFill>
          <a:ln w="12700">
            <a:solidFill>
              <a:srgbClr val="456B88"/>
            </a:solidFill>
          </a:ln>
        </p:spPr>
        <p:txBody>
          <a:bodyPr rtlCol="0" anchor="ctr"/>
          <a:lstStyle/>
          <a:p>
            <a:pPr algn="ctr"/>
          </a:p>
        </p:txBody>
      </p:sp>
      <p:cxnSp>
        <p:nvCxnSpPr>
          <p:cNvPr id="16" name="Connector 15"/>
          <p:cNvCxnSpPr/>
          <p:nvPr/>
        </p:nvCxnSpPr>
        <p:spPr>
          <a:xfrm>
            <a:off x="7543800" y="2487168"/>
            <a:ext cx="603504" cy="0"/>
          </a:xfrm>
          <a:prstGeom prst="line">
            <a:avLst/>
          </a:prstGeom>
          <a:ln w="15240">
            <a:solidFill>
              <a:srgbClr val="456B88"/>
            </a:solidFill>
          </a:ln>
        </p:spPr>
      </p:cxnSp>
      <p:sp>
        <p:nvSpPr>
          <p:cNvPr id="17" name="TextBox 16"/>
          <p:cNvSpPr txBox="1"/>
          <p:nvPr/>
        </p:nvSpPr>
        <p:spPr>
          <a:xfrm>
            <a:off x="6400800" y="3108960"/>
            <a:ext cx="4937760" cy="594360"/>
          </a:xfrm>
          <a:prstGeom prst="rect">
            <a:avLst/>
          </a:prstGeom>
          <a:noFill/>
        </p:spPr>
        <p:txBody>
          <a:bodyPr wrap="square" tIns="0" lIns="0" rIns="0" bIns="0">
            <a:spAutoFit/>
          </a:bodyPr>
          <a:lstStyle/>
          <a:p>
            <a:pPr>
              <a:lnSpc>
                <a:spcPct val="110000"/>
              </a:lnSpc>
              <a:spcAft>
                <a:spcPts val="0"/>
              </a:spcAft>
              <a:defRPr sz="2800" b="1">
                <a:solidFill>
                  <a:srgbClr val="456B88"/>
                </a:solidFill>
                <a:latin typeface="Segoe UI"/>
              </a:defRPr>
            </a:pPr>
            <a:r>
              <a:t>/mnt/p · ổ Windows</a:t>
            </a:r>
          </a:p>
        </p:txBody>
      </p:sp>
      <p:sp>
        <p:nvSpPr>
          <p:cNvPr id="18" name="TextBox 17"/>
          <p:cNvSpPr txBox="1"/>
          <p:nvPr/>
        </p:nvSpPr>
        <p:spPr>
          <a:xfrm>
            <a:off x="6400800" y="3977639"/>
            <a:ext cx="4937760" cy="1463040"/>
          </a:xfrm>
          <a:prstGeom prst="rect">
            <a:avLst/>
          </a:prstGeom>
          <a:noFill/>
        </p:spPr>
        <p:txBody>
          <a:bodyPr wrap="square" tIns="0" lIns="0" rIns="0" bIns="0">
            <a:spAutoFit/>
          </a:bodyPr>
          <a:lstStyle/>
          <a:p>
            <a:pPr>
              <a:lnSpc>
                <a:spcPct val="110000"/>
              </a:lnSpc>
              <a:spcAft>
                <a:spcPts val="300"/>
              </a:spcAft>
              <a:defRPr sz="2400" b="0">
                <a:solidFill>
                  <a:srgbClr val="364653"/>
                </a:solidFill>
                <a:latin typeface="Segoe UI"/>
              </a:defRPr>
            </a:pPr>
            <a:r>
              <a:t>Có thể lưu và build repo.</a:t>
            </a:r>
          </a:p>
          <a:p>
            <a:pPr>
              <a:lnSpc>
                <a:spcPct val="110000"/>
              </a:lnSpc>
              <a:spcAft>
                <a:spcPts val="300"/>
              </a:spcAft>
              <a:defRPr sz="2400" b="0">
                <a:solidFill>
                  <a:srgbClr val="364653"/>
                </a:solidFill>
                <a:latin typeface="Segoe UI"/>
              </a:defRPr>
            </a:pPr>
            <a:r>
              <a:t>Quyền phụ thuộc DrvFs,</a:t>
            </a:r>
          </a:p>
          <a:p>
            <a:pPr>
              <a:lnSpc>
                <a:spcPct val="110000"/>
              </a:lnSpc>
              <a:spcAft>
                <a:spcPts val="0"/>
              </a:spcAft>
              <a:defRPr sz="2400" b="0">
                <a:solidFill>
                  <a:srgbClr val="364653"/>
                </a:solidFill>
                <a:latin typeface="Segoe UI"/>
              </a:defRPr>
            </a:pPr>
            <a:r>
              <a:t>mount options và metadata.</a:t>
            </a:r>
          </a:p>
        </p:txBody>
      </p:sp>
      <p:sp>
        <p:nvSpPr>
          <p:cNvPr id="19" name="TextBox 18"/>
          <p:cNvSpPr txBox="1"/>
          <p:nvPr/>
        </p:nvSpPr>
        <p:spPr>
          <a:xfrm>
            <a:off x="777240" y="5852160"/>
            <a:ext cx="10607040" cy="457200"/>
          </a:xfrm>
          <a:prstGeom prst="rect">
            <a:avLst/>
          </a:prstGeom>
          <a:noFill/>
        </p:spPr>
        <p:txBody>
          <a:bodyPr wrap="square" tIns="0" lIns="0" rIns="0" bIns="0">
            <a:spAutoFit/>
          </a:bodyPr>
          <a:lstStyle/>
          <a:p>
            <a:pPr>
              <a:lnSpc>
                <a:spcPct val="110000"/>
              </a:lnSpc>
              <a:spcAft>
                <a:spcPts val="0"/>
              </a:spcAft>
              <a:defRPr sz="2100" b="0">
                <a:solidFill>
                  <a:srgbClr val="5B6870"/>
                </a:solidFill>
                <a:latin typeface="Segoe UI"/>
              </a:defRPr>
            </a:pPr>
            <a:r>
              <a:t>Không kết luận “WSL luôn hiện 0777”; kiểm mount và cấu hình máy đang chạy.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3EA"/>
        </a:solidFill>
        <a:effectLst/>
      </p:bgPr>
    </p:bg>
    <p:spTree>
      <p:nvGrpSpPr>
        <p:cNvPr id="1" name=""/>
        <p:cNvGrpSpPr/>
        <p:nvPr/>
      </p:nvGrpSpPr>
      <p:grpSpPr/>
      <p:sp>
        <p:nvSpPr>
          <p:cNvPr id="2" name="TextBox 1"/>
          <p:cNvSpPr txBox="1"/>
          <p:nvPr/>
        </p:nvSpPr>
        <p:spPr>
          <a:xfrm>
            <a:off x="749808" y="429768"/>
            <a:ext cx="10698480" cy="594360"/>
          </a:xfrm>
          <a:prstGeom prst="rect">
            <a:avLst/>
          </a:prstGeom>
          <a:noFill/>
        </p:spPr>
        <p:txBody>
          <a:bodyPr wrap="square" tIns="0" lIns="0" rIns="0" bIns="0">
            <a:spAutoFit/>
          </a:bodyPr>
          <a:lstStyle/>
          <a:p>
            <a:pPr>
              <a:lnSpc>
                <a:spcPct val="110000"/>
              </a:lnSpc>
              <a:spcAft>
                <a:spcPts val="0"/>
              </a:spcAft>
              <a:defRPr sz="3000" b="1">
                <a:solidFill>
                  <a:srgbClr val="364653"/>
                </a:solidFill>
                <a:latin typeface="Segoe UI"/>
              </a:defRPr>
            </a:pPr>
            <a:r>
              <a:t>Đọc tiếp và tái lập từ đúng nguồn</a:t>
            </a:r>
          </a:p>
        </p:txBody>
      </p:sp>
      <p:sp>
        <p:nvSpPr>
          <p:cNvPr id="3" name="TextBox 2"/>
          <p:cNvSpPr txBox="1"/>
          <p:nvPr/>
        </p:nvSpPr>
        <p:spPr>
          <a:xfrm>
            <a:off x="777240" y="1133856"/>
            <a:ext cx="10607040" cy="502920"/>
          </a:xfrm>
          <a:prstGeom prst="rect">
            <a:avLst/>
          </a:prstGeom>
          <a:noFill/>
        </p:spPr>
        <p:txBody>
          <a:bodyPr wrap="square" tIns="0" lIns="0" rIns="0" bIns="0">
            <a:spAutoFit/>
          </a:bodyPr>
          <a:lstStyle/>
          <a:p>
            <a:pPr>
              <a:lnSpc>
                <a:spcPct val="110000"/>
              </a:lnSpc>
              <a:spcAft>
                <a:spcPts val="0"/>
              </a:spcAft>
              <a:defRPr sz="1800" b="0">
                <a:solidFill>
                  <a:srgbClr val="5B6870"/>
                </a:solidFill>
                <a:latin typeface="Segoe UI"/>
              </a:defRPr>
            </a:pPr>
            <a:r>
              <a:t>README để chạy; tài liệu kỹ thuật để học; log để kiểm chứng.</a:t>
            </a:r>
          </a:p>
        </p:txBody>
      </p:sp>
      <p:cxnSp>
        <p:nvCxnSpPr>
          <p:cNvPr id="4" name="Connector 3"/>
          <p:cNvCxnSpPr/>
          <p:nvPr/>
        </p:nvCxnSpPr>
        <p:spPr>
          <a:xfrm>
            <a:off x="10762488" y="6537960"/>
            <a:ext cx="237744" cy="0"/>
          </a:xfrm>
          <a:prstGeom prst="line">
            <a:avLst/>
          </a:prstGeom>
          <a:ln w="12700">
            <a:solidFill>
              <a:srgbClr val="D3D7D2"/>
            </a:solidFill>
          </a:ln>
        </p:spPr>
      </p:cxnSp>
      <p:sp>
        <p:nvSpPr>
          <p:cNvPr id="5" name="TextBox 4"/>
          <p:cNvSpPr txBox="1"/>
          <p:nvPr/>
        </p:nvSpPr>
        <p:spPr>
          <a:xfrm>
            <a:off x="11082528" y="6419088"/>
            <a:ext cx="411480" cy="274320"/>
          </a:xfrm>
          <a:prstGeom prst="rect">
            <a:avLst/>
          </a:prstGeom>
          <a:noFill/>
        </p:spPr>
        <p:txBody>
          <a:bodyPr wrap="square" tIns="0" lIns="0" rIns="0" bIns="0">
            <a:spAutoFit/>
          </a:bodyPr>
          <a:lstStyle/>
          <a:p>
            <a:pPr algn="ctr">
              <a:lnSpc>
                <a:spcPct val="110000"/>
              </a:lnSpc>
              <a:spcAft>
                <a:spcPts val="0"/>
              </a:spcAft>
              <a:defRPr sz="1000" b="0">
                <a:solidFill>
                  <a:srgbClr val="5B6870"/>
                </a:solidFill>
                <a:latin typeface="Segoe UI"/>
              </a:defRPr>
            </a:pPr>
            <a:r>
              <a:t>22</a:t>
            </a:r>
          </a:p>
        </p:txBody>
      </p:sp>
      <p:sp>
        <p:nvSpPr>
          <p:cNvPr id="6" name="TextBox 5"/>
          <p:cNvSpPr txBox="1"/>
          <p:nvPr/>
        </p:nvSpPr>
        <p:spPr>
          <a:xfrm>
            <a:off x="777240" y="1984248"/>
            <a:ext cx="502920" cy="548640"/>
          </a:xfrm>
          <a:prstGeom prst="rect">
            <a:avLst/>
          </a:prstGeom>
          <a:noFill/>
        </p:spPr>
        <p:txBody>
          <a:bodyPr wrap="square" tIns="0" lIns="0" rIns="0" bIns="0">
            <a:spAutoFit/>
          </a:bodyPr>
          <a:lstStyle/>
          <a:p>
            <a:pPr>
              <a:lnSpc>
                <a:spcPct val="110000"/>
              </a:lnSpc>
              <a:spcAft>
                <a:spcPts val="0"/>
              </a:spcAft>
              <a:defRPr sz="2200" b="1">
                <a:solidFill>
                  <a:srgbClr val="456B88"/>
                </a:solidFill>
                <a:latin typeface="Consolas"/>
              </a:defRPr>
            </a:pPr>
            <a:r>
              <a:t>01</a:t>
            </a:r>
          </a:p>
        </p:txBody>
      </p:sp>
      <p:sp>
        <p:nvSpPr>
          <p:cNvPr id="7" name="TextBox 6"/>
          <p:cNvSpPr txBox="1"/>
          <p:nvPr/>
        </p:nvSpPr>
        <p:spPr>
          <a:xfrm>
            <a:off x="1463040" y="1965960"/>
            <a:ext cx="2816352" cy="548640"/>
          </a:xfrm>
          <a:prstGeom prst="rect">
            <a:avLst/>
          </a:prstGeom>
          <a:noFill/>
        </p:spPr>
        <p:txBody>
          <a:bodyPr wrap="square" tIns="0" lIns="0" rIns="0" bIns="0">
            <a:spAutoFit/>
          </a:bodyPr>
          <a:lstStyle/>
          <a:p>
            <a:pPr>
              <a:lnSpc>
                <a:spcPct val="110000"/>
              </a:lnSpc>
              <a:spcAft>
                <a:spcPts val="0"/>
              </a:spcAft>
              <a:defRPr sz="2400" b="1">
                <a:solidFill>
                  <a:srgbClr val="456B88"/>
                </a:solidFill>
                <a:latin typeface="Segoe UI"/>
              </a:defRPr>
            </a:pPr>
            <a:r>
              <a:t>Chạy chương trình</a:t>
            </a:r>
          </a:p>
        </p:txBody>
      </p:sp>
      <p:sp>
        <p:nvSpPr>
          <p:cNvPr id="8" name="TextBox 7"/>
          <p:cNvSpPr txBox="1"/>
          <p:nvPr/>
        </p:nvSpPr>
        <p:spPr>
          <a:xfrm>
            <a:off x="4553712" y="1965960"/>
            <a:ext cx="6766560" cy="438912"/>
          </a:xfrm>
          <a:prstGeom prst="rect">
            <a:avLst/>
          </a:prstGeom>
          <a:noFill/>
        </p:spPr>
        <p:txBody>
          <a:bodyPr wrap="square" tIns="0" lIns="0" rIns="0" bIns="0">
            <a:spAutoFit/>
          </a:bodyPr>
          <a:lstStyle/>
          <a:p>
            <a:pPr>
              <a:lnSpc>
                <a:spcPct val="110000"/>
              </a:lnSpc>
              <a:spcAft>
                <a:spcPts val="0"/>
              </a:spcAft>
              <a:defRPr sz="2100" b="1">
                <a:solidFill>
                  <a:srgbClr val="364653"/>
                </a:solidFill>
                <a:latin typeface="Consolas"/>
              </a:defRPr>
            </a:pPr>
            <a:r>
              <a:t>README.md</a:t>
            </a:r>
          </a:p>
        </p:txBody>
      </p:sp>
      <p:sp>
        <p:nvSpPr>
          <p:cNvPr id="9" name="TextBox 8"/>
          <p:cNvSpPr txBox="1"/>
          <p:nvPr/>
        </p:nvSpPr>
        <p:spPr>
          <a:xfrm>
            <a:off x="4553712" y="2478024"/>
            <a:ext cx="6766560" cy="457200"/>
          </a:xfrm>
          <a:prstGeom prst="rect">
            <a:avLst/>
          </a:prstGeom>
          <a:noFill/>
        </p:spPr>
        <p:txBody>
          <a:bodyPr wrap="square" tIns="0" lIns="0" rIns="0" bIns="0">
            <a:spAutoFit/>
          </a:bodyPr>
          <a:lstStyle/>
          <a:p>
            <a:pPr>
              <a:lnSpc>
                <a:spcPct val="110000"/>
              </a:lnSpc>
              <a:spcAft>
                <a:spcPts val="0"/>
              </a:spcAft>
              <a:defRPr sz="2000" b="0">
                <a:solidFill>
                  <a:srgbClr val="5B6870"/>
                </a:solidFill>
                <a:latin typeface="Segoe UI"/>
              </a:defRPr>
            </a:pPr>
            <a:r>
              <a:t>Build · test · sanitizer · demo</a:t>
            </a:r>
          </a:p>
        </p:txBody>
      </p:sp>
      <p:sp>
        <p:nvSpPr>
          <p:cNvPr id="10" name="TextBox 9"/>
          <p:cNvSpPr txBox="1"/>
          <p:nvPr/>
        </p:nvSpPr>
        <p:spPr>
          <a:xfrm>
            <a:off x="777240" y="3127248"/>
            <a:ext cx="502920" cy="548640"/>
          </a:xfrm>
          <a:prstGeom prst="rect">
            <a:avLst/>
          </a:prstGeom>
          <a:noFill/>
        </p:spPr>
        <p:txBody>
          <a:bodyPr wrap="square" tIns="0" lIns="0" rIns="0" bIns="0">
            <a:spAutoFit/>
          </a:bodyPr>
          <a:lstStyle/>
          <a:p>
            <a:pPr>
              <a:lnSpc>
                <a:spcPct val="110000"/>
              </a:lnSpc>
              <a:spcAft>
                <a:spcPts val="0"/>
              </a:spcAft>
              <a:defRPr sz="2200" b="1">
                <a:solidFill>
                  <a:srgbClr val="5C7359"/>
                </a:solidFill>
                <a:latin typeface="Consolas"/>
              </a:defRPr>
            </a:pPr>
            <a:r>
              <a:t>02</a:t>
            </a:r>
          </a:p>
        </p:txBody>
      </p:sp>
      <p:sp>
        <p:nvSpPr>
          <p:cNvPr id="11" name="TextBox 10"/>
          <p:cNvSpPr txBox="1"/>
          <p:nvPr/>
        </p:nvSpPr>
        <p:spPr>
          <a:xfrm>
            <a:off x="1463040" y="3108960"/>
            <a:ext cx="2816352" cy="548640"/>
          </a:xfrm>
          <a:prstGeom prst="rect">
            <a:avLst/>
          </a:prstGeom>
          <a:noFill/>
        </p:spPr>
        <p:txBody>
          <a:bodyPr wrap="square" tIns="0" lIns="0" rIns="0" bIns="0">
            <a:spAutoFit/>
          </a:bodyPr>
          <a:lstStyle/>
          <a:p>
            <a:pPr>
              <a:lnSpc>
                <a:spcPct val="110000"/>
              </a:lnSpc>
              <a:spcAft>
                <a:spcPts val="0"/>
              </a:spcAft>
              <a:defRPr sz="2400" b="1">
                <a:solidFill>
                  <a:srgbClr val="5C7359"/>
                </a:solidFill>
                <a:latin typeface="Segoe UI"/>
              </a:defRPr>
            </a:pPr>
            <a:r>
              <a:t>Hiểu triển khai</a:t>
            </a:r>
          </a:p>
        </p:txBody>
      </p:sp>
      <p:sp>
        <p:nvSpPr>
          <p:cNvPr id="12" name="TextBox 11"/>
          <p:cNvSpPr txBox="1"/>
          <p:nvPr/>
        </p:nvSpPr>
        <p:spPr>
          <a:xfrm>
            <a:off x="4553712" y="3108960"/>
            <a:ext cx="6766560" cy="438912"/>
          </a:xfrm>
          <a:prstGeom prst="rect">
            <a:avLst/>
          </a:prstGeom>
          <a:noFill/>
        </p:spPr>
        <p:txBody>
          <a:bodyPr wrap="square" tIns="0" lIns="0" rIns="0" bIns="0">
            <a:spAutoFit/>
          </a:bodyPr>
          <a:lstStyle/>
          <a:p>
            <a:pPr>
              <a:lnSpc>
                <a:spcPct val="110000"/>
              </a:lnSpc>
              <a:spcAft>
                <a:spcPts val="0"/>
              </a:spcAft>
              <a:defRPr sz="2100" b="1">
                <a:solidFill>
                  <a:srgbClr val="364653"/>
                </a:solidFill>
                <a:latin typeface="Consolas"/>
              </a:defRPr>
            </a:pPr>
            <a:r>
              <a:t>docs/TECHNICAL_DEEP_DIVE.md</a:t>
            </a:r>
          </a:p>
        </p:txBody>
      </p:sp>
      <p:sp>
        <p:nvSpPr>
          <p:cNvPr id="13" name="TextBox 12"/>
          <p:cNvSpPr txBox="1"/>
          <p:nvPr/>
        </p:nvSpPr>
        <p:spPr>
          <a:xfrm>
            <a:off x="4553712" y="3621024"/>
            <a:ext cx="6766560" cy="457200"/>
          </a:xfrm>
          <a:prstGeom prst="rect">
            <a:avLst/>
          </a:prstGeom>
          <a:noFill/>
        </p:spPr>
        <p:txBody>
          <a:bodyPr wrap="square" tIns="0" lIns="0" rIns="0" bIns="0">
            <a:spAutoFit/>
          </a:bodyPr>
          <a:lstStyle/>
          <a:p>
            <a:pPr>
              <a:lnSpc>
                <a:spcPct val="110000"/>
              </a:lnSpc>
              <a:spcAft>
                <a:spcPts val="0"/>
              </a:spcAft>
              <a:defRPr sz="2000" b="0">
                <a:solidFill>
                  <a:srgbClr val="5B6870"/>
                </a:solidFill>
                <a:latin typeface="Segoe UI"/>
              </a:defRPr>
            </a:pPr>
            <a:r>
              <a:t>Khái niệm → trace → cờ → tài nguyên → lỗi</a:t>
            </a:r>
          </a:p>
        </p:txBody>
      </p:sp>
      <p:sp>
        <p:nvSpPr>
          <p:cNvPr id="14" name="TextBox 13"/>
          <p:cNvSpPr txBox="1"/>
          <p:nvPr/>
        </p:nvSpPr>
        <p:spPr>
          <a:xfrm>
            <a:off x="777240" y="4270248"/>
            <a:ext cx="502920" cy="548640"/>
          </a:xfrm>
          <a:prstGeom prst="rect">
            <a:avLst/>
          </a:prstGeom>
          <a:noFill/>
        </p:spPr>
        <p:txBody>
          <a:bodyPr wrap="square" tIns="0" lIns="0" rIns="0" bIns="0">
            <a:spAutoFit/>
          </a:bodyPr>
          <a:lstStyle/>
          <a:p>
            <a:pPr>
              <a:lnSpc>
                <a:spcPct val="110000"/>
              </a:lnSpc>
              <a:spcAft>
                <a:spcPts val="0"/>
              </a:spcAft>
              <a:defRPr sz="2200" b="1">
                <a:solidFill>
                  <a:srgbClr val="9B624B"/>
                </a:solidFill>
                <a:latin typeface="Consolas"/>
              </a:defRPr>
            </a:pPr>
            <a:r>
              <a:t>03</a:t>
            </a:r>
          </a:p>
        </p:txBody>
      </p:sp>
      <p:sp>
        <p:nvSpPr>
          <p:cNvPr id="15" name="TextBox 14"/>
          <p:cNvSpPr txBox="1"/>
          <p:nvPr/>
        </p:nvSpPr>
        <p:spPr>
          <a:xfrm>
            <a:off x="1463040" y="4251960"/>
            <a:ext cx="2816352" cy="548640"/>
          </a:xfrm>
          <a:prstGeom prst="rect">
            <a:avLst/>
          </a:prstGeom>
          <a:noFill/>
        </p:spPr>
        <p:txBody>
          <a:bodyPr wrap="square" tIns="0" lIns="0" rIns="0" bIns="0">
            <a:spAutoFit/>
          </a:bodyPr>
          <a:lstStyle/>
          <a:p>
            <a:pPr>
              <a:lnSpc>
                <a:spcPct val="110000"/>
              </a:lnSpc>
              <a:spcAft>
                <a:spcPts val="0"/>
              </a:spcAft>
              <a:defRPr sz="2400" b="1">
                <a:solidFill>
                  <a:srgbClr val="9B624B"/>
                </a:solidFill>
                <a:latin typeface="Segoe UI"/>
              </a:defRPr>
            </a:pPr>
            <a:r>
              <a:t>Xem minh chứng</a:t>
            </a:r>
          </a:p>
        </p:txBody>
      </p:sp>
      <p:sp>
        <p:nvSpPr>
          <p:cNvPr id="16" name="TextBox 15"/>
          <p:cNvSpPr txBox="1"/>
          <p:nvPr/>
        </p:nvSpPr>
        <p:spPr>
          <a:xfrm>
            <a:off x="4553712" y="4251960"/>
            <a:ext cx="6766560" cy="438912"/>
          </a:xfrm>
          <a:prstGeom prst="rect">
            <a:avLst/>
          </a:prstGeom>
          <a:noFill/>
        </p:spPr>
        <p:txBody>
          <a:bodyPr wrap="square" tIns="0" lIns="0" rIns="0" bIns="0">
            <a:spAutoFit/>
          </a:bodyPr>
          <a:lstStyle/>
          <a:p>
            <a:pPr>
              <a:lnSpc>
                <a:spcPct val="110000"/>
              </a:lnSpc>
              <a:spcAft>
                <a:spcPts val="0"/>
              </a:spcAft>
              <a:defRPr sz="2100" b="1">
                <a:solidFill>
                  <a:srgbClr val="364653"/>
                </a:solidFill>
                <a:latin typeface="Consolas"/>
              </a:defRPr>
            </a:pPr>
            <a:r>
              <a:t>evidence/test_results.json</a:t>
            </a:r>
          </a:p>
        </p:txBody>
      </p:sp>
      <p:sp>
        <p:nvSpPr>
          <p:cNvPr id="17" name="TextBox 16"/>
          <p:cNvSpPr txBox="1"/>
          <p:nvPr/>
        </p:nvSpPr>
        <p:spPr>
          <a:xfrm>
            <a:off x="4553712" y="4764024"/>
            <a:ext cx="6766560" cy="457200"/>
          </a:xfrm>
          <a:prstGeom prst="rect">
            <a:avLst/>
          </a:prstGeom>
          <a:noFill/>
        </p:spPr>
        <p:txBody>
          <a:bodyPr wrap="square" tIns="0" lIns="0" rIns="0" bIns="0">
            <a:spAutoFit/>
          </a:bodyPr>
          <a:lstStyle/>
          <a:p>
            <a:pPr>
              <a:lnSpc>
                <a:spcPct val="110000"/>
              </a:lnSpc>
              <a:spcAft>
                <a:spcPts val="0"/>
              </a:spcAft>
              <a:defRPr sz="2000" b="0">
                <a:solidFill>
                  <a:srgbClr val="5B6870"/>
                </a:solidFill>
                <a:latin typeface="Segoe UI"/>
              </a:defRPr>
            </a:pPr>
            <a:r>
              <a:t>Môi trường · source hash · từng ca · demo</a:t>
            </a:r>
          </a:p>
        </p:txBody>
      </p:sp>
      <p:sp>
        <p:nvSpPr>
          <p:cNvPr id="18" name="TextBox 17"/>
          <p:cNvSpPr txBox="1"/>
          <p:nvPr/>
        </p:nvSpPr>
        <p:spPr>
          <a:xfrm>
            <a:off x="777240" y="5623560"/>
            <a:ext cx="10607040" cy="685800"/>
          </a:xfrm>
          <a:prstGeom prst="rect">
            <a:avLst/>
          </a:prstGeom>
          <a:noFill/>
        </p:spPr>
        <p:txBody>
          <a:bodyPr wrap="square" tIns="0" lIns="0" rIns="0" bIns="0">
            <a:spAutoFit/>
          </a:bodyPr>
          <a:lstStyle/>
          <a:p>
            <a:pPr>
              <a:lnSpc>
                <a:spcPct val="110000"/>
              </a:lnSpc>
              <a:spcAft>
                <a:spcPts val="0"/>
              </a:spcAft>
              <a:defRPr sz="1800" b="0">
                <a:solidFill>
                  <a:srgbClr val="5B6870"/>
                </a:solidFill>
                <a:latin typeface="Segoe UI"/>
              </a:defRPr>
            </a:pPr>
            <a:r>
              <a:t>Tham chiếu: GNU Coreutils (ls) · Linux man-pages (stat, readdir, readlink) · Microsoft Learn (WSL).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myls — Đề tài 17, Lập trình hệ thống VKU</dc:title>
  <dc:subject>16 slide chính + 6 phụ lục; khoảng 18 phút gồm demo</dc:subject>
  <dc:creator>Nhóm đồ án — chờ danh sách thành viên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