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720840" y="594360"/>
            <a:ext cx="4937760" cy="493776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60920" y="1234440"/>
            <a:ext cx="3657600" cy="3657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B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85800"/>
            <a:ext cx="91440" cy="53035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47548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722376"/>
            <a:ext cx="4572000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E40AF"/>
                </a:solidFill>
                <a:latin typeface="Segoe UI"/>
              </a:rPr>
              <a:t>VKU · HỌC PHẦN LẬP TRÌNH HỆ THỐNG · ĐỀ TÀI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576072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Tự Cài Đặt Lệnh ls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Với -a, -l, -R, -S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000" b="1" i="0">
                <a:solidFill>
                  <a:srgbClr val="0F172A"/>
                </a:solidFill>
                <a:latin typeface="Segoe UI"/>
              </a:rPr>
              <a:t>Bằng POSIX C Trên 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44368"/>
            <a:ext cx="55778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Segoe UI"/>
              </a:rPr>
              <a:t>Giải phẫu từ bản chất Dentry &amp; Inode trong nhân Linux đến kiến trúc 5 module C chuẩn POSIX.1-2008, vượt qua 15/15 kịch bản đối chiếu trực tiếp với GNU ls trên Ubuntu 24.04 WSL2.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184708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31920"/>
            <a:ext cx="1847088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041648"/>
            <a:ext cx="1645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1E40AF"/>
                </a:solidFill>
                <a:latin typeface="Segoe UI"/>
              </a:rPr>
              <a:t>SINH VIÊN THỰC HIỆN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279392"/>
            <a:ext cx="164592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0F172A"/>
                </a:solidFill>
                <a:latin typeface="Segoe UI"/>
              </a:rPr>
              <a:t>Nguyễn Xuân Lĩnh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9776" y="3931920"/>
            <a:ext cx="184708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9776" y="3931920"/>
            <a:ext cx="1847088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4041648"/>
            <a:ext cx="1645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D97706"/>
                </a:solidFill>
                <a:latin typeface="Segoe UI"/>
              </a:rPr>
              <a:t>CHUẨN BIÊN DỊCH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4279392"/>
            <a:ext cx="164592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1" i="0">
                <a:solidFill>
                  <a:srgbClr val="0F172A"/>
                </a:solidFill>
                <a:latin typeface="Segoe UI"/>
              </a:rPr>
              <a:t>C11 · POSIX.1-2008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1" i="0">
                <a:solidFill>
                  <a:srgbClr val="0F172A"/>
                </a:solidFill>
                <a:latin typeface="Segoe UI"/>
              </a:rPr>
              <a:t>GCC 13.3 (Ubuntu WSL2)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3931920"/>
            <a:ext cx="1847088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36592" y="3931920"/>
            <a:ext cx="184708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041648"/>
            <a:ext cx="164592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059669"/>
                </a:solidFill>
                <a:latin typeface="Segoe UI"/>
              </a:rPr>
              <a:t>KIỂM THỬ THỰC NGHIỆM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79392"/>
            <a:ext cx="164592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1" i="0">
                <a:solidFill>
                  <a:srgbClr val="0F172A"/>
                </a:solidFill>
                <a:latin typeface="Segoe UI"/>
              </a:rPr>
              <a:t>15/15 PASS (GNU ls)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1" i="0">
                <a:solidFill>
                  <a:srgbClr val="0F172A"/>
                </a:solidFill>
                <a:latin typeface="Segoe UI"/>
              </a:rPr>
              <a:t>0 Memory Leaks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38928"/>
            <a:ext cx="57607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239512"/>
            <a:ext cx="54864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GitHub Repository:  https://github.com/Xlinhx/DoAn_LapTrinhHethong</a:t>
            </a:r>
          </a:p>
        </p:txBody>
      </p:sp>
      <p:pic>
        <p:nvPicPr>
          <p:cNvPr id="23" name="Picture 22" descr="hero_inod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834394"/>
            <a:ext cx="4754880" cy="442111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178040" y="5532120"/>
            <a:ext cx="406908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5605272"/>
            <a:ext cx="38862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Segoe UI"/>
              </a:rPr>
              <a:t>Mô hình Cây thư mục (Dentry) liên kết trực tiếp Bảng Inode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02/12  ·  PHẦN 1 · BÀI TOÁN &amp; YÊU CẦU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1. Tại Sao Phải Tự Viết myls Bằng System Calls Thay Vì Gọi system("ls")?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Đi từ yêu cầu đề tài 17 đến 4 cờ cốt lõi (-a, -l, -R, -S) giao tiếp trực tiếp với nhân Linux.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0876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60020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DC2626"/>
                </a:solidFill>
                <a:latin typeface="Segoe UI"/>
              </a:rPr>
              <a:t>CÁCH LÀM SAI TRONG MÔN LẬP TRÌNH HỆ THỐNG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83664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Gọi hàm system("ls -alRS") hoặc popen(): Chỉ nhờ Shell chạy hộ chương trình có sẵn của OS, không đụng tới Inode hay cây thư mục (mất điểm phần thuật toán).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0876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59669"/>
                </a:solidFill>
                <a:latin typeface="Segoe UI"/>
              </a:rPr>
              <a:t>GIẢI PHÁP CỦA DỰ ÁN: 100% POSIX SYSTEM CALLS &amp; LIBC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83664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Tự cài đặt toàn bộ bằng opendir(), readdir(), closedir(), lstat(), readlink(), getpwuid(), getgrgid(), localtime_r() và qsort() chuẩn POSIX.1-2008.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52928"/>
            <a:ext cx="5440680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035808"/>
            <a:ext cx="822960" cy="475488"/>
          </a:xfrm>
          <a:prstGeom prst="roundRect">
            <a:avLst>
              <a:gd name="adj" fmla="val 18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63240"/>
            <a:ext cx="8229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nsolas"/>
              </a:rPr>
              <a:t>-a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07238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Hiển Thị Tệp Ẩn (All Entries)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02736"/>
            <a:ext cx="507492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Segoe UI"/>
              </a:rPr>
              <a:t>• Quy ước Linux: </a:t>
            </a:r>
            <a:r>
              <a:rPr sz="1200" b="0">
                <a:solidFill>
                  <a:srgbClr val="334155"/>
                </a:solidFill>
                <a:latin typeface="Segoe UI"/>
              </a:rPr>
              <a:t>Mọi tệp bắt đầu bằng dấu '.' (như '.', '..', '.env') là tệp ẩn.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Segoe UI"/>
              </a:rPr>
              <a:t>• Cơ chế cài đặt: </a:t>
            </a:r>
            <a:r>
              <a:rPr sz="1200" b="0">
                <a:solidFill>
                  <a:srgbClr val="334155"/>
                </a:solidFill>
                <a:latin typeface="Segoe UI"/>
              </a:rPr>
              <a:t>Mặc định bỏ qua d_name[0] == '.'; khi bật -a thì nạp toàn bộ vào danh sách.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852928"/>
            <a:ext cx="5440680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3035808"/>
            <a:ext cx="822960" cy="475488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063240"/>
            <a:ext cx="8229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nsolas"/>
              </a:rPr>
              <a:t>-l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072384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Danh Sách Chi Tiết (Long Format)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02736"/>
            <a:ext cx="507492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Giải mã Inode: </a:t>
            </a:r>
            <a:r>
              <a:rPr sz="1200" b="0">
                <a:solidFill>
                  <a:srgbClr val="334155"/>
                </a:solidFill>
                <a:latin typeface="Segoe UI"/>
              </a:rPr>
              <a:t>10 ký tự quyền (rwx + SUID/SGID/Sticky), số hard link, Owner, Group, Size.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Chuẩn GNU ls: </a:t>
            </a:r>
            <a:r>
              <a:rPr sz="1200" b="0">
                <a:solidFill>
                  <a:srgbClr val="334155"/>
                </a:solidFill>
                <a:latin typeface="Segoe UI"/>
              </a:rPr>
              <a:t>In 'total = sum(st_blocks)/2', quy tắc mtime 6 tháng và đọc đích Symlink '-&gt;'.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709160"/>
            <a:ext cx="5440680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4892040"/>
            <a:ext cx="822960" cy="475488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919472"/>
            <a:ext cx="8229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nsolas"/>
              </a:rPr>
              <a:t>-R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92861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Duyệt Đệ Quy Đa Tầng (Recursive)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58968"/>
            <a:ext cx="507492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• Thứ tự duyệt: </a:t>
            </a:r>
            <a:r>
              <a:rPr sz="1200" b="0">
                <a:solidFill>
                  <a:srgbClr val="334155"/>
                </a:solidFill>
                <a:latin typeface="Segoe UI"/>
              </a:rPr>
              <a:t>In hết toàn bộ mục của thư mục hiện tại rồi mới đệ quy xuống thư mục con.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• An toàn tuyệt đối: </a:t>
            </a:r>
            <a:r>
              <a:rPr sz="1200" b="0">
                <a:solidFill>
                  <a:srgbClr val="334155"/>
                </a:solidFill>
                <a:latin typeface="Segoe UI"/>
              </a:rPr>
              <a:t>Đóng closedir() trước khi đệ quy; chặn '.', '..' và Symlink để chống lặp vô hạn.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709160"/>
            <a:ext cx="5440680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4892040"/>
            <a:ext cx="822960" cy="475488"/>
          </a:xfrm>
          <a:prstGeom prst="roundRect">
            <a:avLst>
              <a:gd name="adj" fmla="val 18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919472"/>
            <a:ext cx="8229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onsolas"/>
              </a:rPr>
              <a:t>-S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928616"/>
            <a:ext cx="4114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Segoe UI"/>
              </a:rPr>
              <a:t>Sắp Xếp Theo Kích Thước (Size Sort)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58968"/>
            <a:ext cx="5074920" cy="8412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• Thứ tự giảm dần: </a:t>
            </a:r>
            <a:r>
              <a:rPr sz="1200" b="0">
                <a:solidFill>
                  <a:srgbClr val="334155"/>
                </a:solidFill>
                <a:latin typeface="Segoe UI"/>
              </a:rPr>
              <a:t>Tệp nặng nhất đứng đầu dựa trên trường st_size (kiểu 64-bit off_t).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• Phân định trùng: </a:t>
            </a:r>
            <a:r>
              <a:rPr sz="1200" b="0">
                <a:solidFill>
                  <a:srgbClr val="334155"/>
                </a:solidFill>
                <a:latin typeface="Segoe UI"/>
              </a:rPr>
              <a:t>Nếu 2 tệp bằng kích thước, tie-break bằng strcmp(name) từ A -&gt; 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03/12  ·  PHẦN 1 · CƠ SỞ HỆ THỐNG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2. Tại Sao Chỉ Gọi readdir() Thì Không Thể Làm Được Cờ -l Và -S?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Bản chất tách biệt giữa 'Danh bạ tên tệp' (Directory Entry) và 'Hồ sơ gốc' (Inode) trong Linux.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54480"/>
            <a:ext cx="37947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54480"/>
            <a:ext cx="379476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645920"/>
            <a:ext cx="352044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BƯỚC 1: THƯ MỤC (Đọc bằng readdir)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342900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Segoe UI"/>
              </a:rPr>
              <a:t>Thư mục trong Linux chỉ là một 'cuốn danh bạ mỏng' gồm đúng 2 cột: Tên tệp và Mã số Inode.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017520"/>
            <a:ext cx="342900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90672"/>
            <a:ext cx="1874519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E40AF"/>
                </a:solidFill>
                <a:latin typeface="Consolas"/>
              </a:rPr>
              <a:t>d_name (Tên tệp)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090672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E40AF"/>
                </a:solidFill>
                <a:latin typeface="Consolas"/>
              </a:rPr>
              <a:t>d_ino (Inode)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19856"/>
            <a:ext cx="34290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93008"/>
            <a:ext cx="1874519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0F172A"/>
                </a:solidFill>
                <a:latin typeface="Consolas"/>
              </a:rPr>
              <a:t>dataset_large.bin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493008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D97706"/>
                </a:solidFill>
                <a:latin typeface="Consolas"/>
              </a:rPr>
              <a:t>#40912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822191"/>
            <a:ext cx="34290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95344"/>
            <a:ext cx="1874519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0F172A"/>
                </a:solidFill>
                <a:latin typeface="Consolas"/>
              </a:rPr>
              <a:t>.env.hidden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895344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D97706"/>
                </a:solidFill>
                <a:latin typeface="Consolas"/>
              </a:rPr>
              <a:t>#40915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24528"/>
            <a:ext cx="34290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97680"/>
            <a:ext cx="1874519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0F172A"/>
                </a:solidFill>
                <a:latin typeface="Consolas"/>
              </a:rPr>
              <a:t>latest_data.lnk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297680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D97706"/>
                </a:solidFill>
                <a:latin typeface="Consolas"/>
              </a:rPr>
              <a:t>#40918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626864"/>
            <a:ext cx="342900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700016"/>
            <a:ext cx="1874519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0F172A"/>
                </a:solidFill>
                <a:latin typeface="Consolas"/>
              </a:rPr>
              <a:t>src_module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4700016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D97706"/>
                </a:solidFill>
                <a:latin typeface="Consolas"/>
              </a:rPr>
              <a:t>#40920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102352"/>
            <a:ext cx="34290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DC2626"/>
                </a:solidFill>
                <a:latin typeface="Segoe UI"/>
              </a:rPr>
              <a:t>⚠ Không hề có Kích thước, Quyền hay Ngày giờ!</a:t>
            </a:r>
          </a:p>
        </p:txBody>
      </p:sp>
      <p:pic>
        <p:nvPicPr>
          <p:cNvPr id="34" name="Picture 33" descr="dentry_magnif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34" y="1783080"/>
            <a:ext cx="2666451" cy="292608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480560" y="4773168"/>
            <a:ext cx="3200400" cy="749808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4846320"/>
            <a:ext cx="2980944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D97706"/>
                </a:solidFill>
                <a:latin typeface="Segoe UI"/>
              </a:rPr>
              <a:t>Phải ghép đường dẫn join_path()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D97706"/>
                </a:solidFill>
                <a:latin typeface="Segoe UI"/>
              </a:rPr>
              <a:t>rồi gọi tiếp lstat(full_path, &amp;st)!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1554480"/>
            <a:ext cx="3749039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09560" y="1554480"/>
            <a:ext cx="3749039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1645920"/>
            <a:ext cx="34747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BƯỚC 2: BẢNG INODE (Đọc bằng lstat)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2194560"/>
            <a:ext cx="3429000" cy="3154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st_mode : </a:t>
            </a:r>
            <a:r>
              <a:rPr sz="1200" b="0">
                <a:solidFill>
                  <a:srgbClr val="334155"/>
                </a:solidFill>
                <a:latin typeface="Segoe UI"/>
              </a:rPr>
              <a:t>Loại tệp &amp; 12 bit quyền (-rwxr-xr-x)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st_nlink : </a:t>
            </a:r>
            <a:r>
              <a:rPr sz="1200" b="0">
                <a:solidFill>
                  <a:srgbClr val="334155"/>
                </a:solidFill>
                <a:latin typeface="Segoe UI"/>
              </a:rPr>
              <a:t>Số tên (Hard links) cùng trỏ vào Inode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st_uid / gid : </a:t>
            </a:r>
            <a:r>
              <a:rPr sz="1200" b="0">
                <a:solidFill>
                  <a:srgbClr val="334155"/>
                </a:solidFill>
                <a:latin typeface="Segoe UI"/>
              </a:rPr>
              <a:t>Mã số Chủ sở hữu &amp; Nhóm (1000)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st_size : </a:t>
            </a:r>
            <a:r>
              <a:rPr sz="1200" b="0">
                <a:solidFill>
                  <a:srgbClr val="334155"/>
                </a:solidFill>
                <a:latin typeface="Segoe UI"/>
              </a:rPr>
              <a:t>Kích thước thực (8192 bytes) -&gt; Dùng cho -S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st_blocks : </a:t>
            </a:r>
            <a:r>
              <a:rPr sz="1200" b="0">
                <a:solidFill>
                  <a:srgbClr val="334155"/>
                </a:solidFill>
                <a:latin typeface="Segoe UI"/>
              </a:rPr>
              <a:t>Số khối đĩa 512B -&gt; Chia 2 ra dòng 'total'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st_mtime : </a:t>
            </a:r>
            <a:r>
              <a:rPr sz="1200" b="0">
                <a:solidFill>
                  <a:srgbClr val="334155"/>
                </a:solidFill>
                <a:latin typeface="Segoe UI"/>
              </a:rPr>
              <a:t>Thời điểm sửa đổi cuối -&gt; In ngày giờ -l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687568"/>
            <a:ext cx="11155680" cy="62179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797296"/>
            <a:ext cx="10789920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E40AF"/>
                </a:solidFill>
                <a:latin typeface="Segoe UI"/>
              </a:rPr>
              <a:t>KẾT LUẬN NHÂN - QUẢ:  readdir() chỉ cho biết TÊN TỆP  ──►  Muốn in chi tiết (-l) hoặc sắp xếp kích thước (-S), bắt buộc phải gọi lstat() để đọc INODE.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04/12  ·  PHẦN 2 · KIẾN TRÚC HỆ THỐNG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3. Kiến Trúc 5 Module Độc Lập &amp; Tại Sao Phải Gom Vào Mảng Động Trước Khi 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Thiết kế tách biệt trách nhiệm (Separation of Concerns) và cơ chế tự nhân đôi bộ nhớ bằng realloc().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72768"/>
            <a:ext cx="2103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72768"/>
            <a:ext cx="2103120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1627632"/>
            <a:ext cx="18836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BƯỚC 01 · src/options.c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2048256"/>
            <a:ext cx="184708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Phân tích Cờ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2395728"/>
            <a:ext cx="1847088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Dùng getopt() tách -a, -l, -R, -S (kể cả viết gộp -alRS). Bắt lỗi cờ sai -&gt; exit(2).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61488" y="1572768"/>
            <a:ext cx="2103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61488" y="1572768"/>
            <a:ext cx="2103120" cy="3840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1627632"/>
            <a:ext cx="18836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BƯỚC 02 · src/main.c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9504" y="2048256"/>
            <a:ext cx="184708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Tách Đối Số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9504" y="2395728"/>
            <a:ext cx="1847088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Phân loại đường dẫn thành file_list (in trước) và dir_list (in sau) đúng chuẩn POSIX.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0056" y="1572768"/>
            <a:ext cx="2103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0056" y="1572768"/>
            <a:ext cx="210312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9784" y="1627632"/>
            <a:ext cx="18836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BƯỚC 03 · src/directory.c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2048256"/>
            <a:ext cx="184708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Đọc &amp; Nạp Inode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2395728"/>
            <a:ext cx="1847088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opendir -&gt; readdir -&gt; lstat -&gt; readlink. Đóng closedir() ngay lập tức trước khi đệ quy.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78624" y="1572768"/>
            <a:ext cx="2103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78624" y="1572768"/>
            <a:ext cx="210312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1627632"/>
            <a:ext cx="18836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BƯỚC 04 · src/sorting.c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048256"/>
            <a:ext cx="184708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Sắp Xếp qsort()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395728"/>
            <a:ext cx="1847088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Mặc định: strcmp() A-Z.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Bật -S: st_size giảm dần + tie-break tên A-Z.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37192" y="1572768"/>
            <a:ext cx="2103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37192" y="1572768"/>
            <a:ext cx="210312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1627632"/>
            <a:ext cx="188366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</a:rPr>
              <a:t>BƯỚC 05 · src/display.c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5208" y="2048256"/>
            <a:ext cx="1847088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Giải Mã &amp; Căn Cột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2395728"/>
            <a:ext cx="1847088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Quét độ rộng cột lớn nhất, in 'total', giải mã 16-bit st_mode &amp; mtime 6 tháng.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11480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242816"/>
            <a:ext cx="1069848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E40AF"/>
                </a:solidFill>
                <a:latin typeface="Segoe UI"/>
              </a:rPr>
              <a:t>TẠI SAO KHÔNG VỪA readdir() VỪA printf() NGAY MÀ PHẢI GOM VÀO MẢNG ĐỘNG EntryList?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681728"/>
            <a:ext cx="3383280" cy="142646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773168"/>
            <a:ext cx="30906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Lý do 1: Phục vụ Sắp xếp (-S &amp; A-Z)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" y="5102352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readdir() trả về thứ tự lưu trữ thô lộn xộn trên đĩa. Phải đọc hết 100% tệp trong thư mục vào RAM thì qsort() mới biết tệp nào nặng nhất để đưa lên đầu.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4681728"/>
            <a:ext cx="3383280" cy="142646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35424" y="4773168"/>
            <a:ext cx="30906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Lý do 2: Căn lề thẳng hàng trong -l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5424" y="5102352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Nếu tệp thứ 1 nặng 12B nhưng tệp thứ 50 nặng 1048576B, phải quét hết cả 50 tệp trước mới biết cột Size cần chừa trống 7 ký tự để các dòng thẳng cột.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681728"/>
            <a:ext cx="3383280" cy="142646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3024" y="4773168"/>
            <a:ext cx="3090672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Lý do 3: Tự nhân đôi bằng realloc()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5102352"/>
            <a:ext cx="30906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Không dùng mảng tĩnh a[1000] (dễ tràn khi gặp /usr/bin có &gt;2000 tệp). EntryList khởi tạo capacity = 64 -&gt; 128 -&gt; 256... và giải phóng sạch 0 leak.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05/12  ·  PHẦN 3 · GIẢI PHẪU KỸ THUẬT (-l)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4. Giải Phẫu Một Dòng Xuất Của Cờ -l &amp; Bảng Giải Mã 16-Bit st_mode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Cách src/display.c biến các con số nguyên thô trong Inode thành chuỗi hiển thị chuẩn GNU 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36192"/>
            <a:ext cx="1115568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591056"/>
            <a:ext cx="10789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E40AF"/>
                </a:solidFill>
                <a:latin typeface="Segoe UI"/>
              </a:rPr>
              <a:t>MỔ XẺ TRỰC QUAN 7 TRƯỜNG TRONG MỘT DÒNG XUẤT CỦA ./myls -l: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65376"/>
            <a:ext cx="1078992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20" b="1" i="0">
                <a:solidFill>
                  <a:srgbClr val="0F172A"/>
                </a:solidFill>
                <a:latin typeface="Consolas"/>
              </a:rPr>
              <a:t>lrwxrwxrwx   1   linhnxdeveloper   linhnxdeveloper    17   Oct 15 18:41   latest_data.lnk -&gt; dataset_large.bin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231136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1" i="0">
                <a:solidFill>
                  <a:srgbClr val="D97706"/>
                </a:solidFill>
                <a:latin typeface="Consolas"/>
              </a:rPr>
              <a:t>[1. Loại &amp; Quyền]  [2. Links]     [3. Owner]          [4. Group]       [5. Size]   [6. mtime 6 tháng]      [7. Tên &amp; Đích Symlink (readlink)]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779776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779776"/>
            <a:ext cx="109728" cy="8412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34640"/>
            <a:ext cx="65379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E40AF"/>
                </a:solidFill>
                <a:latin typeface="Segoe UI"/>
              </a:rPr>
              <a:t>1. Giải mã 16-bit st_mode -&gt; 10 ký tự ('-rwxr-sr-t')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65379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Ký tự 0 (S_IFMT): '-' (File), 'd' (Dir), 'l' (Symlink), 'c', 'b', 'p', 's'.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Ký tự 1..9: 9 bit rwx kết hợp 3 bit đặc biệt SUID (s/S), SGID (s/S), Sticky bit (t/T).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85032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85032"/>
            <a:ext cx="109728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39896"/>
            <a:ext cx="65379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D97706"/>
                </a:solidFill>
                <a:latin typeface="Segoe UI"/>
              </a:rPr>
              <a:t>2. Tại sao dòng 'total' phải lấy tổng st_blocks chia 2?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95928"/>
            <a:ext cx="65379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Kernel Linux luôn đếm st_blocks theo đơn vị khối 512 Bytes.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GNU ls -l hiển thị dòng 'total' theo đơn vị khối 1024 Bytes (1 KB)  ──►  total = sum(st_blocks) / 2.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90288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90288"/>
            <a:ext cx="109728" cy="8412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45152"/>
            <a:ext cx="65379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59669"/>
                </a:solidFill>
                <a:latin typeface="Segoe UI"/>
              </a:rPr>
              <a:t>3. Quy tắc Thời gian 6 Tháng của POSIX (st_mtime)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01184"/>
            <a:ext cx="65379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Nếu tệp sửa đổi trong vòng 6 tháng (&lt; 15.778.476 giây): in 'Tháng Ngày Giờ:Phút' (Oct 15 18:41).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Nếu tệp cũ hơn 6 tháng (hoặc ở tương lai): tự động đổi sang in 'Tháng Ngày  Năm' (May 15  2022).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495544"/>
            <a:ext cx="6903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495544"/>
            <a:ext cx="109728" cy="8412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50408"/>
            <a:ext cx="65379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6D28D9"/>
                </a:solidFill>
                <a:latin typeface="Segoe UI"/>
              </a:rPr>
              <a:t>4. Tra cứu UID/GID an toàn &amp; Kết thúc chuỗi readlink()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06440"/>
            <a:ext cx="65379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Nếu getpwuid()/getgrgid() trả về NULL (UID mồ côi), tự động fallback in mã số nguyên UID/GID.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POSIX readlink() không tự thêm '\0' -&gt; bắt buộc gán tường minh link_buf[len] = '\0'.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2779776"/>
            <a:ext cx="4023360" cy="3557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itmask_d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623" y="2871216"/>
            <a:ext cx="3024592" cy="233172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7818120" y="5285232"/>
            <a:ext cx="3657600" cy="89611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5358384"/>
            <a:ext cx="3474720" cy="7498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1E40AF"/>
                </a:solidFill>
                <a:latin typeface="Consolas"/>
              </a:rPr>
              <a:t>Cấu trúc 16-bit st_mode: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1E40AF"/>
                </a:solidFill>
                <a:latin typeface="Consolas"/>
              </a:rPr>
              <a:t>[15..12: Loại] [11..9: SUID/SGID/Sticky]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 i="0">
                <a:solidFill>
                  <a:srgbClr val="1E40AF"/>
                </a:solidFill>
                <a:latin typeface="Consolas"/>
              </a:rPr>
              <a:t>[8..6: User] [5..3: Group] [2..0: Other]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06/12  ·  PHẦN 3 · QUYẾT ĐỊNH SỐNG CÒN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5. Tại Sao Bắt Buộc Phải Dùng lstat() Mà Tuyệt Đối Không Dùng stat()?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Phân tích đối chiếu 2 kịch bản thực tế khiến chương trình dùng stat() bị sập hoặc lặp vô tận.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72768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72768"/>
            <a:ext cx="544068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64208"/>
            <a:ext cx="5074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NẾU DÙNG stat(path, &amp;st)  ──►  ĐI XUYÊN QUA SYMLINK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267712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359152"/>
            <a:ext cx="46634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Thảm họa 1: Khi gặp Broken Symlink (Đích đã bị xóa)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697480"/>
            <a:ext cx="46634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Giả sử có: broken_symlink -&gt; non_existent_target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stat() cố đi tìm 'non_existent_target' và trả về lỗi -1 (ENOENT: No such file or directory).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Hậu quả: Chương trình báo lỗi và làm biến mất luôn broken_symlink khỏi danh sách hiển thị!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4983480" cy="1810512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43400"/>
            <a:ext cx="46634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C2626"/>
                </a:solidFill>
                <a:latin typeface="Segoe UI"/>
              </a:rPr>
              <a:t>Thảm họa 2: Khi gặp Symlink trỏ ngược lên Thư mục cha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681728"/>
            <a:ext cx="4663440" cy="12618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Giả sử trong thư mục con có: ln -s .. loop_back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stat() đọc đích '..' và báo S_ISDIR(st_mode) == true (là thư mục thật).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Hậu quả: Khi chạy đệ quy -R, chương trình chui vào loop_back -&gt; quay lại cha -&gt; lặp vô hạn!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572768"/>
            <a:ext cx="544068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572768"/>
            <a:ext cx="544068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64208"/>
            <a:ext cx="50749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GIẢI PHÁP CỦA myls: DÙNG lstat(path, &amp;st)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267712"/>
            <a:ext cx="4983480" cy="17830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2359152"/>
            <a:ext cx="46634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Segoe UI"/>
              </a:rPr>
              <a:t>Ưu điểm 1: Đọc trực tiếp Inode của chính Symlink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2697480"/>
            <a:ext cx="46634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Kể cả khi tệp đích không tồn tại, bản thân file symlink vẫn tồn tại trên đĩa.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lstat() thành công 100%, trả về S_ISLNK(st_mode) == true.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Kết hợp readlink() để in chuẩn xác: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  lrwxrwxrwx 1 ... broken_symlink -&gt; non_existent_target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251960"/>
            <a:ext cx="4983480" cy="181051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343400"/>
            <a:ext cx="46634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Segoe UI"/>
              </a:rPr>
              <a:t>Ưu điểm 2: Miễn nhiễm vòng lặp Symlink khi đệ quy (-R)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681728"/>
            <a:ext cx="4663440" cy="12618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Vì lstat() trả về kiểu S_ISLNK (không phải S_ISDIR), hàm kiểm tra đệ quy is_recursible_subdir() loại bỏ ngay lập tức.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334155"/>
                </a:solidFill>
                <a:latin typeface="Segoe UI"/>
              </a:rPr>
              <a:t>• Ngoại lệ tinh tế trên CLI (main.c): Nếu gõ './myls symlink_to_dir' (không có -l) thì dùng stat() để liệt kê thư mục đích đúng chuẩn POSIX!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07/12  ·  PHẦN 3 · THUẬT TOÁN -R &amp; -S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6. Hóa Giải 3 Cạm Bẫy Hệ Thống Nguy Hiểm Nhất Khi Cài Đặt -R Và -S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Chống lặp vô hạn '.'/'..', chống cạn kiệt File Descriptor và chống tràn số nguyên 64-bit.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72768"/>
            <a:ext cx="38404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cursi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94" y="1664208"/>
            <a:ext cx="3123731" cy="321868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010912"/>
            <a:ext cx="3383280" cy="1078992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074920"/>
            <a:ext cx="3127248" cy="9509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1" i="0">
                <a:solidFill>
                  <a:srgbClr val="059669"/>
                </a:solidFill>
                <a:latin typeface="Segoe UI"/>
              </a:rPr>
              <a:t>3 Chốt chặn bảo vệ Tiến trình: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1" i="0">
                <a:solidFill>
                  <a:srgbClr val="059669"/>
                </a:solidFill>
                <a:latin typeface="Segoe UI"/>
              </a:rPr>
              <a:t>• Không lặp vô hạn Stack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1" i="0">
                <a:solidFill>
                  <a:srgbClr val="059669"/>
                </a:solidFill>
                <a:latin typeface="Segoe UI"/>
              </a:rPr>
              <a:t>• Tối đa 1 FD mở cùng lúc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80" b="1" i="0">
                <a:solidFill>
                  <a:srgbClr val="059669"/>
                </a:solidFill>
                <a:latin typeface="Segoe UI"/>
              </a:rPr>
              <a:t>• An toàn số 64-bit (&gt; 2 GB)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572768"/>
            <a:ext cx="7086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572768"/>
            <a:ext cx="7086600" cy="34747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1618488"/>
            <a:ext cx="6766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CẠM BẪY 1 · Tổ hợp ./myls -aR gây lặp vô hạn tại '.' và '..'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1993392"/>
            <a:ext cx="6766560" cy="9692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• Tại sao xảy ra? Khi bật -a, danh sách nạp cả '.' (chính nó) và '..' (thư mục cha). Cả hai đều là thư mục thật (S_ISDIR).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• Giải pháp (src/directory.c): Hàm is_recursible_subdir() bắt buộc kiểm tra: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  S_ISDIR(st.st_mode) &amp;&amp; strcmp(name, ".") != 0 &amp;&amp; strcmp(name, "..") != 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191256"/>
            <a:ext cx="7086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191256"/>
            <a:ext cx="708660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3236976"/>
            <a:ext cx="6766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CẠM BẪY 2 · Cạn kiệt File Descriptor (EMFILE: Too many open files)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3611880"/>
            <a:ext cx="6766560" cy="9692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• Tại sao xảy ra? Mỗi tiến trình chỉ mở được ~1024 FD (ulimit -n). Nếu gọi đệ quy ngay trong vòng lặp readdir() trước khi closedir(), hàng trăm FD bị treo.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• Giải pháp (src/directory.c): Đọc hết vào EntryList ──► Gọi closedir(dir) NGAY LẬP TỨC ──► Sort &amp; In ──► Mới đệ quy xuống thư mục con.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809744"/>
            <a:ext cx="7086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809744"/>
            <a:ext cx="708660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4855464"/>
            <a:ext cx="676656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CẠM BẪY 3 · Tràn số nguyên 64-bit khi viết 'return b-&gt;st_size - a-&gt;st_size' (-S)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5230368"/>
            <a:ext cx="6766560" cy="96926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• Tại sao xảy ra? st_size có kiểu off_t (64-bit), nhưng comparator của qsort() trả về int (32-bit, tối đa ~2 GB). Trừ trực tiếp tệp &gt; 2 GB sẽ tràn bit dấu!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50" b="0" i="0">
                <a:solidFill>
                  <a:srgbClr val="334155"/>
                </a:solidFill>
                <a:latin typeface="Segoe UI"/>
              </a:rPr>
              <a:t>• Giải pháp (src/sorting.c): Dùng phép so sánh '&gt;' (trả về -1) và '&lt;' (trả về 1). Nếu kích thước bằng nhau, gọi strcmp(a-&gt;name, b-&gt;name) để tie-break.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08/12  ·  PHẦN 4 · THỰC NGHIỆM TRÊN WSL2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7. Tại Sao Phải Dựng Dữ Liệu Kiểm Thử (Fixtures) Trên /tmp Thay Vì /mnt/p?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Phát hiện kỹ thuật quan trọng khi kiểm thử chương trình hệ thống Linux trên Windows Subsystem for Linux (WSL2).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72768"/>
            <a:ext cx="53035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72768"/>
            <a:ext cx="5303520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64208"/>
            <a:ext cx="49377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VÙNG 1: /mnt/p/DoAn_Laptrinhhethong (Windows DrvFs)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93776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Bản chất: </a:t>
            </a:r>
            <a:r>
              <a:rPr sz="1200" b="0">
                <a:solidFill>
                  <a:srgbClr val="334155"/>
                </a:solidFill>
                <a:latin typeface="Segoe UI"/>
              </a:rPr>
              <a:t>Ổ đĩa Windows (NTFS) được mount vào WSL2 qua cầu nối 9P / DrvFs.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Hạn chế quyền POSIX: </a:t>
            </a:r>
            <a:r>
              <a:rPr sz="1200" b="0">
                <a:solidFill>
                  <a:srgbClr val="334155"/>
                </a:solidFill>
                <a:latin typeface="Segoe UI"/>
              </a:rPr>
              <a:t>Mọi tệp bị giả lập quyền mặc định thành rwxrwxrwx (0777).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Không test được Edge Cases: </a:t>
            </a:r>
            <a:r>
              <a:rPr sz="1200" b="0">
                <a:solidFill>
                  <a:srgbClr val="334155"/>
                </a:solidFill>
                <a:latin typeface="Segoe UI"/>
              </a:rPr>
              <a:t>Lệnh chmod 0000 (khóa thư mục) hay chmod 4755 (SUID) không phản ánh đúng hành vi nhân Linux.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Segoe UI"/>
              </a:rPr>
              <a:t>• Vai trò trong dự án: </a:t>
            </a:r>
            <a:r>
              <a:rPr sz="1200" b="0">
                <a:solidFill>
                  <a:srgbClr val="334155"/>
                </a:solidFill>
                <a:latin typeface="Segoe UI"/>
              </a:rPr>
              <a:t>Dùng để lưu mã nguồn C, Makefile, tài liệu và đồng bộ Git thuận tiện với IDE trên Windows.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2834640"/>
            <a:ext cx="365760" cy="731520"/>
          </a:xfrm>
          <a:prstGeom prst="rightArrow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1572768"/>
            <a:ext cx="530352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572768"/>
            <a:ext cx="530352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664208"/>
            <a:ext cx="49377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VÙNG 2: /tmp/myls_test_XXXXXX (Native Linux FS)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176272"/>
            <a:ext cx="4937760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• Bản chất: </a:t>
            </a:r>
            <a:r>
              <a:rPr sz="1200" b="0">
                <a:solidFill>
                  <a:srgbClr val="334155"/>
                </a:solidFill>
                <a:latin typeface="Segoe UI"/>
              </a:rPr>
              <a:t>Hệ thống tệp gốc bên trong máy ảo Ubuntu 24.04 (Kernel 6.18 WSL2).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• Chuẩn 100% Inode POSIX: </a:t>
            </a:r>
            <a:r>
              <a:rPr sz="1200" b="0">
                <a:solidFill>
                  <a:srgbClr val="334155"/>
                </a:solidFill>
                <a:latin typeface="Segoe UI"/>
              </a:rPr>
              <a:t>Hỗ trợ đầy đủ SUID (4755), SGID (2755), Sticky bit (1777) và chmod 0000.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• Chuẩn Hard link &amp; Symlink: </a:t>
            </a:r>
            <a:r>
              <a:rPr sz="1200" b="0">
                <a:solidFill>
                  <a:srgbClr val="334155"/>
                </a:solidFill>
                <a:latin typeface="Segoe UI"/>
              </a:rPr>
              <a:t>Đếm chính xác st_nlink, st_blocks (512B units) và broken symlink.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Segoe UI"/>
              </a:rPr>
              <a:t>• Vai trò trong dự án: </a:t>
            </a:r>
            <a:r>
              <a:rPr sz="1200" b="0">
                <a:solidFill>
                  <a:srgbClr val="334155"/>
                </a:solidFill>
                <a:latin typeface="Segoe UI"/>
              </a:rPr>
              <a:t>make test tự động dựng Fixture trong /tmp và chạy diff -u với LC_ALL=C 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02352"/>
            <a:ext cx="1115568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93792"/>
            <a:ext cx="10789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Segoe UI"/>
              </a:rPr>
              <a:t>QUY TRÌNH TỰ ĐỘNG HÓA TRONG LỆNH make test (tests/run_tests.sh):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22976"/>
            <a:ext cx="2578608" cy="65836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68696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E40AF"/>
                </a:solidFill>
                <a:latin typeface="Consolas"/>
              </a:rPr>
              <a:t>Bước 1: mktemp -d /tmp/...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3387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Tạo không gian cô lập sạch trên Linux FS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0712" y="5522976"/>
            <a:ext cx="2578608" cy="65836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2152" y="5568696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E40AF"/>
                </a:solidFill>
                <a:latin typeface="Consolas"/>
              </a:rPr>
              <a:t>Bước 2: setup_fixtures()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583387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Tạo tệp 0B..10KB, ẩn, SUID, symlink, dir 0000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5522976"/>
            <a:ext cx="2578608" cy="65836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5568696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E40AF"/>
                </a:solidFill>
                <a:latin typeface="Consolas"/>
              </a:rPr>
              <a:t>Bước 3: diff -u (15 kịch bản)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7064" y="583387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So sánh từng byte giữa ./myls và LC_ALL=C 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0536" y="5522976"/>
            <a:ext cx="2578608" cy="65836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1976" y="5568696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E40AF"/>
                </a:solidFill>
                <a:latin typeface="Consolas"/>
              </a:rPr>
              <a:t>Bước 4: trap cleanup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1976" y="583387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334155"/>
                </a:solidFill>
                <a:latin typeface="Segoe UI"/>
              </a:rPr>
              <a:t>Tự động mở khóa và dọn sạch /tmp sau khi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09/12  ·  PHẦN 4 · KẾT QUẢ NGHIỆM THU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8. Kết Quả Kiểm Thử Tự Động: 15/15 Kịch Bản Khớp Tuyệt Đối GNU 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Xác thực bằng diff -u với GNU coreutils 9.4 và kiểm tra rò rỉ bộ nhớ bằng AddressSanitizer / LeakSanitizer.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36192"/>
            <a:ext cx="35661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" y="1682496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1847088"/>
            <a:ext cx="1426464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50" b="1" i="0">
                <a:solidFill>
                  <a:srgbClr val="059669"/>
                </a:solidFill>
                <a:latin typeface="Segoe UI"/>
              </a:rPr>
              <a:t>15 /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7128" y="1700784"/>
            <a:ext cx="1792224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Kịch Bản Kiểm Thử Tự Động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128" y="2212848"/>
            <a:ext cx="179222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64748B"/>
                </a:solidFill>
                <a:latin typeface="Segoe UI"/>
              </a:rPr>
              <a:t>Đối chiếu byte-for-byte (diff -u) với LC_ALL=C 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536192"/>
            <a:ext cx="35661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43984" y="1682496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1847088"/>
            <a:ext cx="1426464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50" b="1" i="0">
                <a:solidFill>
                  <a:srgbClr val="1E40AF"/>
                </a:solidFill>
                <a:latin typeface="Segoe UI"/>
              </a:rPr>
              <a:t>0 Bytes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1700784"/>
            <a:ext cx="1792224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Rò Rỉ Bộ Nhớ (Zero Memory Leaks)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212848"/>
            <a:ext cx="179222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64748B"/>
                </a:solidFill>
                <a:latin typeface="Segoe UI"/>
              </a:rPr>
              <a:t>Xác thực bằng GCC -fsanitize=address,undefined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536192"/>
            <a:ext cx="3566160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38744" y="1682496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1847088"/>
            <a:ext cx="1426464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D97706"/>
                </a:solidFill>
                <a:latin typeface="Segoe UI"/>
              </a:rPr>
              <a:t>0 Lỗi/Cảnh báo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1700784"/>
            <a:ext cx="1792224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Biên Dịch Chuẩn C11 Nghiêm Ngặt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48" y="2212848"/>
            <a:ext cx="179222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0" i="0">
                <a:solidFill>
                  <a:srgbClr val="64748B"/>
                </a:solidFill>
                <a:latin typeface="Segoe UI"/>
              </a:rPr>
              <a:t>Cờ: -Wall -Wextra -Werror -pedantic -std=c11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999232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" y="3108960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3118103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9032" y="3108960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3410712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3694176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Mặc định A -&gt; Z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7" y="2999232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871215" y="3108960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71215" y="3118103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599" y="3108960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71215" y="3410712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 -a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71215" y="3694176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Hiện tệp ẩn '.', '..'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0055" y="2999232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129783" y="3108960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9783" y="3118103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16167" y="3108960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783" y="3410712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 -l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783" y="3694176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Chi tiết + SUID/Sticky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78623" y="2999232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88351" y="3108960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88351" y="3118103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74736" y="3108960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1" y="3410712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 -R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88351" y="3694176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Đệ quy đa tầng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37192" y="2999232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46919" y="3108960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19" y="3118103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33304" y="3108960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6919" y="3410712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 -S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19" y="3694176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Size giảm + Tie-break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4151376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2648" y="4261104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" y="4270248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99032" y="4261104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4562856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 -la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4846320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Kết hợp Long + All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61487" y="4151376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2871215" y="4261104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71215" y="4270248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599" y="4261104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07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71215" y="4562856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 -lS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71215" y="4846320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Kết hợp Long + Size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0055" y="4151376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129783" y="4261104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29783" y="4270248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16167" y="4261104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08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9783" y="4562856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 -lR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29783" y="4846320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Kết hợp Long + Recurse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78623" y="4151376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88351" y="4261104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88351" y="4270248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74736" y="4261104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09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88351" y="4562856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 -aR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88351" y="4846320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Chống lặp '.' &amp; '..'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37192" y="4151376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646919" y="4261104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46919" y="4270248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33304" y="4261104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46919" y="4562856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./myls -alRS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46919" y="4846320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Tổ hợp toàn diện 4 cờ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02920" y="5303520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12648" y="5413248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2648" y="5422392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99032" y="5413248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" y="5715000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Mixed Paths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648" y="5998464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Tệp in trước, Dir in sau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761487" y="5303520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871215" y="5413248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71215" y="5422392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599" y="5413248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71215" y="5715000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Symlinks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71215" y="5998464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Symlink dir &amp; broken link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020055" y="5303520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5129783" y="5413248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29783" y="5422392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16167" y="5413248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13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29783" y="5715000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ENOENT Path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29783" y="5998464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Báo stderr, Exit code = 1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7278623" y="5303520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388351" y="5413248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388351" y="5422392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174736" y="5413248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14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88351" y="5715000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chmod 0000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88351" y="5998464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Báo lỗi, tiếp tục chạy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537192" y="5303520"/>
            <a:ext cx="2121408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9646919" y="5413248"/>
            <a:ext cx="713232" cy="256032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46919" y="5422392"/>
            <a:ext cx="713232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59669"/>
                </a:solidFill>
                <a:latin typeface="Segoe UI"/>
              </a:rPr>
              <a:t>PASS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33304" y="5413248"/>
            <a:ext cx="109728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Test 15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46919" y="5715000"/>
            <a:ext cx="1901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40AF"/>
                </a:solidFill>
                <a:latin typeface="Consolas"/>
              </a:rPr>
              <a:t>Invalid -z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46919" y="5998464"/>
            <a:ext cx="19019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334155"/>
                </a:solidFill>
                <a:latin typeface="Segoe UI"/>
              </a:rPr>
              <a:t>Báo Usage, Exit code =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10/12  ·  PHẦN 4 · MINH CHỨNG DEMO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9. Minh Chứng Thực Tế Trên Ubuntu 24.04 WSL2: ./myls, -a, -l, -R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Ảnh chụp trực tiếp phiên chạy thực tế trên nhân Linux 6.18.33.2-microsoft-standard-WSL2.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36192"/>
            <a:ext cx="69951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emo_basic_flags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411" y="1609344"/>
            <a:ext cx="3900176" cy="460857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726679" y="1536192"/>
            <a:ext cx="39319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645919"/>
            <a:ext cx="3566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E40AF"/>
                </a:solidFill>
                <a:latin typeface="Segoe UI"/>
              </a:rPr>
              <a:t>1. Đối chiếu ./myls và ./myls 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956816"/>
            <a:ext cx="3566160" cy="987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0" i="0">
                <a:solidFill>
                  <a:srgbClr val="334155"/>
                </a:solidFill>
                <a:latin typeface="Segoe UI"/>
              </a:rPr>
              <a:t>• Ở ./myls: Tệp ẩn '.env.hidden' cũng như '.' và '..' được lọc bỏ hoàn toàn.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0" i="0">
                <a:solidFill>
                  <a:srgbClr val="334155"/>
                </a:solidFill>
                <a:latin typeface="Segoe UI"/>
              </a:rPr>
              <a:t>• Ở ./myls -a: Xuất hiện đầy đủ '.', '..', '.env.hidden' ở đầu danh sách theo thứ tự mã ASCII.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3172968"/>
            <a:ext cx="39319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3282696"/>
            <a:ext cx="3566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7706"/>
                </a:solidFill>
                <a:latin typeface="Segoe UI"/>
              </a:rPr>
              <a:t>2. Độ chính xác của ./myls -l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593591"/>
            <a:ext cx="3566160" cy="987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0" i="0">
                <a:solidFill>
                  <a:srgbClr val="334155"/>
                </a:solidFill>
                <a:latin typeface="Segoe UI"/>
              </a:rPr>
              <a:t>• Dòng 'total 24' tính chuẩn xác từ tổng st_blocks / 2.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0" i="0">
                <a:solidFill>
                  <a:srgbClr val="334155"/>
                </a:solidFill>
                <a:latin typeface="Segoe UI"/>
              </a:rPr>
              <a:t>• Phân biệt rõ thư mục ('drwxr-xr-x'), tệp thực thi ('-rwxr-xr-x' cho main_sample.c) và Symlink ('lrwxrwxrwx ... latest_data.lnk -&gt; dataset_large.bin').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4809744"/>
            <a:ext cx="39319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919472"/>
            <a:ext cx="3566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Segoe UI"/>
              </a:rPr>
              <a:t>3. Duyệt đệ quy ./myls -R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230368"/>
            <a:ext cx="3566160" cy="9875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0" i="0">
                <a:solidFill>
                  <a:srgbClr val="334155"/>
                </a:solidFill>
                <a:latin typeface="Segoe UI"/>
              </a:rPr>
              <a:t>• Tự động bật tiêu đề '.:', liệt kê toàn bộ thư mục gốc trước.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20" b="0" i="0">
                <a:solidFill>
                  <a:srgbClr val="334155"/>
                </a:solidFill>
                <a:latin typeface="Segoe UI"/>
              </a:rPr>
              <a:t>• Sau đó lần lượt đi sâu vào './docs_sub:' và './src_module:', bỏ qua symlink 'latest_data.lnk'.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11/12  ·  PHẦN 4 · MINH CHỨNG DEMO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10. Minh Chứng Thực Tế Tổ Hợp Cờ Đầy Đủ: ./myls -S Và ./myls -alRS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Kiểm chứng sự phối hợp đồng thời cả 4 cờ (-a, -l, -R, -S) và kết quả chạy bộ kiểm thử tự động.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36192"/>
            <a:ext cx="406908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645919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7706"/>
                </a:solidFill>
                <a:latin typeface="Segoe UI"/>
              </a:rPr>
              <a:t>1. Thứ tự kích thước giảm dần (-S)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956816"/>
            <a:ext cx="3703320" cy="13533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dataset_large.bin (8192 B) đứng đầu.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Tiếp theo là các thư mục '.', '..', 'docs_sub', 'src_module' (cùng 4096 B, được tie-break theo tên ASCII: '.' -&gt; '..' -&gt; 'docs_sub' -&gt; 'src_module').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Cuối cùng là config_medium.cfg (1024 B), main_sample.c (29 B), .env.hidden (22 B) và latest_data.lnk (17 B).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11296"/>
            <a:ext cx="40690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21024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E40AF"/>
                </a:solidFill>
                <a:latin typeface="Segoe UI"/>
              </a:rPr>
              <a:t>2. Đệ quy kèm sắp xếp kích thước (-alRS)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3703320" cy="83210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Tại mỗi thư mục con (./docs_sub và ./src_module), chương trình đều tính lại độ rộng cột động, in dòng 'total 12' và sắp xếp các mục bên trong theo kích thước giảm dần.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65192"/>
            <a:ext cx="40690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Segoe UI"/>
              </a:rPr>
              <a:t>3. Đối chiếu tự động (test_suite_capture)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85816"/>
            <a:ext cx="3703320" cy="83210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• Toàn bộ 15/15 kịch bản kiểm thử tự động đạt PASS tuyệt đối chỉ trong &lt; 0.2 giây thực thi trên Ubuntu 24.04 WSL2.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1536192"/>
            <a:ext cx="68580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emo_combined_alRS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646" y="1609344"/>
            <a:ext cx="5051906" cy="46085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3337560" cy="29260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200400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SLIDE 12/12  ·  TỔNG KẾT &amp; BẢO VỆ ĐỒ 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0760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1. Nền tảng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88936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88936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2. Kiến trúc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Segoe UI"/>
              </a:rPr>
              <a:t>3. Giải phẫu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310896"/>
            <a:ext cx="135331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329184"/>
            <a:ext cx="1353312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1E40AF"/>
                </a:solidFill>
                <a:latin typeface="Segoe UI"/>
              </a:rPr>
              <a:t>4. Thực nghiệm WSL2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172A"/>
                </a:solidFill>
                <a:latin typeface="Segoe UI"/>
              </a:rPr>
              <a:t>11. Giới Hạn Kỹ Thuật Hiện Tại, Hướng Mở Rộng &amp; Trọng Tâm Vấn Đáp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11556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Đánh giá trung thực phạm vi đã hoàn thành và tóm tắt các câu trả lời bảo vệ đồ án trước giảng viên.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536192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1627632"/>
            <a:ext cx="3273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E40AF"/>
                </a:solidFill>
                <a:latin typeface="Segoe UI"/>
              </a:rPr>
              <a:t>Giới hạn 1 · Locale Collation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1920240"/>
            <a:ext cx="3273552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Hiện dùng strcmp() chuẩn ASCII (LC_ALL=C). Hướng mở rộng: tích hợp setlocale() + strcoll().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536192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1627632"/>
            <a:ext cx="3273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E40AF"/>
                </a:solidFill>
                <a:latin typeface="Segoe UI"/>
              </a:rPr>
              <a:t>Giới hạn 2 · POSIX ACL &amp; SELinux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1920240"/>
            <a:ext cx="3273552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Hiện giải mã 10 ký tự chuẩn POSIX. Hướng mở rộng: đọc getxattr() để hiển thị dấu '+' hoặc '.'.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536192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627632"/>
            <a:ext cx="3273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E40AF"/>
                </a:solidFill>
                <a:latin typeface="Segoe UI"/>
              </a:rPr>
              <a:t>Giới hạn 3 · Multi-Column &amp; ANSI Color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1920240"/>
            <a:ext cx="3273552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Hiện xuất 1 mục/dòng chuẩn pipe. Hướng mở rộng: dùng ioctl(TIOCGWINSZ) chia lưới cột &amp; tô màu.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816352"/>
            <a:ext cx="790956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926080"/>
            <a:ext cx="749807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E40AF"/>
                </a:solidFill>
                <a:latin typeface="Segoe UI"/>
              </a:rPr>
              <a:t>TÓM TẮT 3 CÂU HỎI VẤN ĐÁP TRỌNG TÂM KHI BẢO VỆ: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310128"/>
            <a:ext cx="7498079" cy="2834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Hỏi 1: Tại sao trong directory.c phải dùng lstat() mà không dùng stat()?
</a:t>
            </a:r>
            <a:r>
              <a:rPr sz="1150" b="0">
                <a:solidFill>
                  <a:srgbClr val="334155"/>
                </a:solidFill>
                <a:latin typeface="Segoe UI"/>
              </a:rPr>
              <a:t>Đáp: Vì stat() đi xuyên qua symlink khiến broken symlink báo lỗi ENOENT và làm cờ đệ quy -R bị lặp vô hạn nếu gặp symlink trỏ ngược lên thư mục cha.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Hỏi 2: Làm sao chương trình tránh bị tràn File Descriptor và lặp vô hạn khi chạy ./myls -aR?
</a:t>
            </a:r>
            <a:r>
              <a:rPr sz="1150" b="0">
                <a:solidFill>
                  <a:srgbClr val="334155"/>
                </a:solidFill>
                <a:latin typeface="Segoe UI"/>
              </a:rPr>
              <a:t>Đáp: Đọc hết tên tệp vào EntryList rồi gọi closedir() ngay lập tức trước khi đệ quy (chỉ tốn 1 FD). Khi đệ quy, hàm is_recursible_subdir() chặn chặt '.' và '..'.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Hỏi 3: Tại sao dòng total trong -l phải chia đôi st_blocks và hàm sort -S không dùng phép trừ?
</a:t>
            </a:r>
            <a:r>
              <a:rPr sz="1150" b="0">
                <a:solidFill>
                  <a:srgbClr val="334155"/>
                </a:solidFill>
                <a:latin typeface="Segoe UI"/>
              </a:rPr>
              <a:t>Đáp: st_blocks của Linux tính theo khối 512B còn GNU ls hiển thị khối 1024B nên phải chia 2. Hàm sort -S dùng '&gt;' và '&lt;' để không bị tràn số 64-bit off_t sang int 32-bit.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2816352"/>
            <a:ext cx="3017520" cy="34747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hero_inod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308" y="2944368"/>
            <a:ext cx="2311063" cy="21488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778240" y="5193792"/>
            <a:ext cx="2743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E40AF"/>
                </a:solidFill>
                <a:latin typeface="Segoe UI"/>
              </a:rPr>
              <a:t>Cảm ơn Thầy/Cô đã theo dõi!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650992"/>
            <a:ext cx="2743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SV: Nguyễn Xuân Lĩnh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0" i="0">
                <a:solidFill>
                  <a:srgbClr val="334155"/>
                </a:solidFill>
                <a:latin typeface="Segoe UI"/>
              </a:rPr>
              <a:t>Đề tài 17 · myls (-a, -l, -R, -S)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